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12192000"/>
  <p:notesSz cx="6858000" cy="9144000"/>
  <p:embeddedFontLst>
    <p:embeddedFont>
      <p:font typeface="Nuni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52" roundtripDataSignature="AMtx7mja2OcPE/abd3W8cuqCbNhjP64w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4E41A4-BEEF-4C6D-A361-E720088EE6CA}">
  <a:tblStyle styleId="{EB4E41A4-BEEF-4C6D-A361-E720088EE6C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0EC"/>
          </a:solidFill>
        </a:fill>
      </a:tcStyle>
    </a:wholeTbl>
    <a:band1H>
      <a:tcTxStyle b="off" i="off"/>
      <a:tcStyle>
        <a:fill>
          <a:solidFill>
            <a:srgbClr val="DEE0D8"/>
          </a:solidFill>
        </a:fill>
      </a:tcStyle>
    </a:band1H>
    <a:band2H>
      <a:tcTxStyle b="off" i="off"/>
    </a:band2H>
    <a:band1V>
      <a:tcTxStyle b="off" i="off"/>
      <a:tcStyle>
        <a:fill>
          <a:solidFill>
            <a:srgbClr val="DEE0D8"/>
          </a:solidFill>
        </a:fill>
      </a:tcStyle>
    </a:band1V>
    <a:band2V>
      <a:tcTxStyle b="off" i="off"/>
    </a:band2V>
    <a:lastCol>
      <a:tcTxStyle b="on" i="off">
        <a:font>
          <a:latin typeface="Arial"/>
          <a:ea typeface="Arial"/>
          <a:cs typeface="Arial"/>
        </a:font>
        <a:schemeClr val="lt1"/>
      </a:tcTxStyle>
      <a:tcStyle>
        <a:fill>
          <a:solidFill>
            <a:schemeClr val="accent4"/>
          </a:solidFill>
        </a:fill>
      </a:tcStyle>
    </a:lastCol>
    <a:firstCol>
      <a:tcTxStyle b="on" i="off">
        <a:font>
          <a:latin typeface="Arial"/>
          <a:ea typeface="Arial"/>
          <a:cs typeface="Arial"/>
        </a:font>
        <a:schemeClr val="lt1"/>
      </a:tcTxStyle>
      <a:tcStyle>
        <a:fill>
          <a:solidFill>
            <a:schemeClr val="accent4"/>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b="off" i="off"/>
    </a:neCell>
    <a:nwCell>
      <a:tcTxStyle b="off" i="off"/>
    </a:nwCell>
  </a:tblStyle>
  <a:tblStyle styleId="{1300285A-F221-4F35-BBC8-26BCBE2AD7F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51EE167-50CC-4844-95FF-6AC46D3FCCAD}"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Nunito-regular.fntdata"/><Relationship Id="rId47" Type="http://schemas.openxmlformats.org/officeDocument/2006/relationships/slide" Target="slides/slide40.xml"/><Relationship Id="rId49"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Nunito-boldItalic.fntdata"/><Relationship Id="rId50" Type="http://schemas.openxmlformats.org/officeDocument/2006/relationships/font" Target="fonts/Nunito-italic.fntdata"/><Relationship Id="rId52"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93fd6275f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g3f93fd6275f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93fd6275f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3f93fd6275f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93fd6275f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g3f93fd6275f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93fd6275f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3f93fd6275f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56c74d67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3f56c74d67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56c74d67c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3f56c74d67c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960928c2b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f960928c2b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960928c2b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3f960928c2b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99698171e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3f99698171e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72c8a0c45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f72c8a0c45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72c8a0c45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3f72c8a0c45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72c8a0c45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3f72c8a0c4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72c8a0c45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3f72c8a0c45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72c8a0c45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3f72c8a0c45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72c8a0c45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f72c8a0c45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56c74d67c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f56c74d67c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56c74d67c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f56c74d67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93fd6275f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f93fd6275f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960928c2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3f960928c2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ae0b7fedb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g3fae0b7fedb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ae0b7fedb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fae0b7fedb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ae0b7fedb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g3fae0b7fedb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ae0b7fedb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3fae0b7fedb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ae0b7fedb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3fae0b7fedb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ae0b7fedb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3fae0b7fedb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960928c2b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f960928c2b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72c8a0c45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f72c8a0c45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72c8a0c45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3f72c8a0c45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960928c2b_0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g3f960928c2b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72c8a0c45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3f72c8a0c45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960928c2b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g3f960928c2b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72c8a0c45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g3f72c8a0c45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ae0b7fedb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g3fae0b7fedb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ae0b7fedb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g3fae0b7fedb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960928c2b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f960928c2b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fae0b7fedb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g3fae0b7fedb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15" name="Shape 15"/>
        <p:cNvGrpSpPr/>
        <p:nvPr/>
      </p:nvGrpSpPr>
      <p:grpSpPr>
        <a:xfrm>
          <a:off x="0" y="0"/>
          <a:ext cx="0" cy="0"/>
          <a:chOff x="0" y="0"/>
          <a:chExt cx="0" cy="0"/>
        </a:xfrm>
      </p:grpSpPr>
      <p:sp>
        <p:nvSpPr>
          <p:cNvPr id="16" name="Google Shape;16;p9"/>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9"/>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8" name="Google Shape;18;p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9"/>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21" name="Google Shape;21;p9"/>
          <p:cNvPicPr preferRelativeResize="0"/>
          <p:nvPr/>
        </p:nvPicPr>
        <p:blipFill rotWithShape="1">
          <a:blip r:embed="rId2">
            <a:alphaModFix/>
          </a:blip>
          <a:srcRect b="0" l="0" r="0" t="0"/>
          <a:stretch/>
        </p:blipFill>
        <p:spPr>
          <a:xfrm>
            <a:off x="10226037" y="0"/>
            <a:ext cx="1965963" cy="5689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1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1" name="Google Shape;31;p1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34" name="Google Shape;34;p10"/>
          <p:cNvPicPr preferRelativeResize="0"/>
          <p:nvPr/>
        </p:nvPicPr>
        <p:blipFill rotWithShape="1">
          <a:blip r:embed="rId2">
            <a:alphaModFix/>
          </a:blip>
          <a:srcRect b="0" l="0" r="0" t="0"/>
          <a:stretch/>
        </p:blipFill>
        <p:spPr>
          <a:xfrm>
            <a:off x="10162288" y="0"/>
            <a:ext cx="1997850" cy="5782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12"/>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37" name="Google Shape;37;p12"/>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8" name="Google Shape;38;p12"/>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9" name="Google Shape;39;p12"/>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40" name="Google Shape;40;p1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2"/>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
        <p:nvSpPr>
          <p:cNvPr id="43" name="Google Shape;43;p1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4" name="Google Shape;44;p12"/>
          <p:cNvPicPr preferRelativeResize="0"/>
          <p:nvPr/>
        </p:nvPicPr>
        <p:blipFill rotWithShape="1">
          <a:blip r:embed="rId2">
            <a:alphaModFix/>
          </a:blip>
          <a:srcRect b="0" l="0" r="0" t="0"/>
          <a:stretch/>
        </p:blipFill>
        <p:spPr>
          <a:xfrm>
            <a:off x="10022907" y="1"/>
            <a:ext cx="2137230" cy="61856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8" name="Google Shape;48;p11"/>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9" name="Google Shape;49;p1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1"/>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52" name="Google Shape;52;p11"/>
          <p:cNvPicPr preferRelativeResize="0"/>
          <p:nvPr/>
        </p:nvPicPr>
        <p:blipFill rotWithShape="1">
          <a:blip r:embed="rId2">
            <a:alphaModFix/>
          </a:blip>
          <a:srcRect b="0" l="0" r="0" t="0"/>
          <a:stretch/>
        </p:blipFill>
        <p:spPr>
          <a:xfrm>
            <a:off x="10091217" y="0"/>
            <a:ext cx="2066929" cy="59821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13"/>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3"/>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57" name="Google Shape;57;p13"/>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58" name="Google Shape;58;p1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61" name="Google Shape;61;p13"/>
          <p:cNvPicPr preferRelativeResize="0"/>
          <p:nvPr/>
        </p:nvPicPr>
        <p:blipFill rotWithShape="1">
          <a:blip r:embed="rId2">
            <a:alphaModFix/>
          </a:blip>
          <a:srcRect b="0" l="0" r="0" t="0"/>
          <a:stretch/>
        </p:blipFill>
        <p:spPr>
          <a:xfrm>
            <a:off x="10020764" y="0"/>
            <a:ext cx="2139373" cy="61918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62" name="Shape 62"/>
        <p:cNvGrpSpPr/>
        <p:nvPr/>
      </p:nvGrpSpPr>
      <p:grpSpPr>
        <a:xfrm>
          <a:off x="0" y="0"/>
          <a:ext cx="0" cy="0"/>
          <a:chOff x="0" y="0"/>
          <a:chExt cx="0" cy="0"/>
        </a:xfrm>
      </p:grpSpPr>
      <p:sp>
        <p:nvSpPr>
          <p:cNvPr id="63" name="Google Shape;63;p8"/>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65" name="Google Shape;65;p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68" name="Google Shape;68;p8"/>
          <p:cNvPicPr preferRelativeResize="0"/>
          <p:nvPr/>
        </p:nvPicPr>
        <p:blipFill rotWithShape="1">
          <a:blip r:embed="rId2">
            <a:alphaModFix/>
          </a:blip>
          <a:srcRect b="0" l="0" r="0" t="0"/>
          <a:stretch/>
        </p:blipFill>
        <p:spPr>
          <a:xfrm>
            <a:off x="10226037" y="0"/>
            <a:ext cx="1965963" cy="56899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69" name="Shape 69"/>
        <p:cNvGrpSpPr/>
        <p:nvPr/>
      </p:nvGrpSpPr>
      <p:grpSpPr>
        <a:xfrm>
          <a:off x="0" y="0"/>
          <a:ext cx="0" cy="0"/>
          <a:chOff x="0" y="0"/>
          <a:chExt cx="0" cy="0"/>
        </a:xfrm>
      </p:grpSpPr>
      <p:sp>
        <p:nvSpPr>
          <p:cNvPr id="70" name="Google Shape;70;p14"/>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72" name="Google Shape;72;p1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5"/>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4" name="Shape 84"/>
        <p:cNvGrpSpPr/>
        <p:nvPr/>
      </p:nvGrpSpPr>
      <p:grpSpPr>
        <a:xfrm>
          <a:off x="0" y="0"/>
          <a:ext cx="0" cy="0"/>
          <a:chOff x="0" y="0"/>
          <a:chExt cx="0" cy="0"/>
        </a:xfrm>
      </p:grpSpPr>
      <p:sp>
        <p:nvSpPr>
          <p:cNvPr id="85" name="Google Shape;85;p17"/>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7"/>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7"/>
          <p:cNvSpPr/>
          <p:nvPr>
            <p:ph idx="2" type="pic"/>
          </p:nvPr>
        </p:nvSpPr>
        <p:spPr>
          <a:xfrm>
            <a:off x="6095999" y="0"/>
            <a:ext cx="6102097" cy="6858000"/>
          </a:xfrm>
          <a:prstGeom prst="rect">
            <a:avLst/>
          </a:prstGeom>
          <a:solidFill>
            <a:srgbClr val="BFBFBF"/>
          </a:solidFill>
          <a:ln>
            <a:noFill/>
          </a:ln>
        </p:spPr>
      </p:sp>
      <p:sp>
        <p:nvSpPr>
          <p:cNvPr id="88" name="Google Shape;88;p17"/>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89" name="Google Shape;89;p1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7"/>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18"/>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8"/>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5" name="Google Shape;95;p1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8"/>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9"/>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9"/>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01" name="Google Shape;101;p1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9"/>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Bookman Old Style"/>
              <a:buNone/>
              <a:defRPr b="0" i="0" sz="2800" u="none" cap="none" strike="noStrike">
                <a:solidFill>
                  <a:srgbClr val="262626"/>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Bookman Old Style"/>
                <a:ea typeface="Bookman Old Style"/>
                <a:cs typeface="Bookman Old Style"/>
                <a:sym typeface="Bookman Old Style"/>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9pPr>
          </a:lstStyle>
          <a:p/>
        </p:txBody>
      </p:sp>
      <p:sp>
        <p:nvSpPr>
          <p:cNvPr id="12" name="Google Shape;12;p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9pPr>
          </a:lstStyle>
          <a:p/>
        </p:txBody>
      </p:sp>
      <p:sp>
        <p:nvSpPr>
          <p:cNvPr id="13" name="Google Shape;13;p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9pPr>
          </a:lstStyle>
          <a:p/>
        </p:txBody>
      </p:sp>
      <p:sp>
        <p:nvSpPr>
          <p:cNvPr id="14" name="Google Shape;14;p7"/>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 name="Shape 22"/>
        <p:cNvGrpSpPr/>
        <p:nvPr/>
      </p:nvGrpSpPr>
      <p:grpSpPr>
        <a:xfrm>
          <a:off x="0" y="0"/>
          <a:ext cx="0" cy="0"/>
          <a:chOff x="0" y="0"/>
          <a:chExt cx="0" cy="0"/>
        </a:xfrm>
      </p:grpSpPr>
      <p:sp>
        <p:nvSpPr>
          <p:cNvPr id="23" name="Google Shape;23;p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Bookman Old Style"/>
              <a:buNone/>
              <a:defRPr b="0" i="0" sz="2800" u="none" cap="none" strike="noStrike">
                <a:solidFill>
                  <a:srgbClr val="262626"/>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p6"/>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Bookman Old Style"/>
                <a:ea typeface="Bookman Old Style"/>
                <a:cs typeface="Bookman Old Style"/>
                <a:sym typeface="Bookman Old Style"/>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9pPr>
          </a:lstStyle>
          <a:p/>
        </p:txBody>
      </p:sp>
      <p:sp>
        <p:nvSpPr>
          <p:cNvPr id="25" name="Google Shape;25;p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26" name="Google Shape;26;p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27" name="Google Shape;27;p6"/>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www.geeksforgeeks.org/dbms/difference-between-data-administrator-da-and-database-administrator-dba/" TargetMode="External"/><Relationship Id="rId4" Type="http://schemas.openxmlformats.org/officeDocument/2006/relationships/image" Target="../media/image8.png"/><Relationship Id="rId5"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8.pn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
          <p:cNvPicPr preferRelativeResize="0"/>
          <p:nvPr/>
        </p:nvPicPr>
        <p:blipFill rotWithShape="1">
          <a:blip r:embed="rId3">
            <a:alphaModFix/>
          </a:blip>
          <a:srcRect b="0" l="0" r="0" t="0"/>
          <a:stretch/>
        </p:blipFill>
        <p:spPr>
          <a:xfrm>
            <a:off x="9019732" y="0"/>
            <a:ext cx="3172268" cy="781159"/>
          </a:xfrm>
          <a:prstGeom prst="rect">
            <a:avLst/>
          </a:prstGeom>
          <a:noFill/>
          <a:ln>
            <a:noFill/>
          </a:ln>
        </p:spPr>
      </p:pic>
      <p:pic>
        <p:nvPicPr>
          <p:cNvPr id="109" name="Google Shape;109;p1"/>
          <p:cNvPicPr preferRelativeResize="0"/>
          <p:nvPr/>
        </p:nvPicPr>
        <p:blipFill rotWithShape="1">
          <a:blip r:embed="rId4">
            <a:alphaModFix/>
          </a:blip>
          <a:srcRect b="0" l="0" r="0" t="0"/>
          <a:stretch/>
        </p:blipFill>
        <p:spPr>
          <a:xfrm>
            <a:off x="2953061" y="89942"/>
            <a:ext cx="6276531" cy="1349114"/>
          </a:xfrm>
          <a:prstGeom prst="rect">
            <a:avLst/>
          </a:prstGeom>
          <a:noFill/>
          <a:ln>
            <a:noFill/>
          </a:ln>
        </p:spPr>
      </p:pic>
      <p:graphicFrame>
        <p:nvGraphicFramePr>
          <p:cNvPr id="110" name="Google Shape;110;p1"/>
          <p:cNvGraphicFramePr/>
          <p:nvPr/>
        </p:nvGraphicFramePr>
        <p:xfrm>
          <a:off x="792302" y="1948720"/>
          <a:ext cx="3000000" cy="3000000"/>
        </p:xfrm>
        <a:graphic>
          <a:graphicData uri="http://schemas.openxmlformats.org/drawingml/2006/table">
            <a:tbl>
              <a:tblPr bandRow="1">
                <a:noFill/>
                <a:tableStyleId>{EB4E41A4-BEEF-4C6D-A361-E720088EE6CA}</a:tableStyleId>
              </a:tblPr>
              <a:tblGrid>
                <a:gridCol w="1558975"/>
                <a:gridCol w="2788175"/>
                <a:gridCol w="1888750"/>
                <a:gridCol w="4362125"/>
              </a:tblGrid>
              <a:tr h="932750">
                <a:tc>
                  <a:txBody>
                    <a:bodyPr/>
                    <a:lstStyle/>
                    <a:p>
                      <a:pPr indent="0" lvl="0" marL="0" marR="0" rtl="0" algn="l">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Institute Name:</a:t>
                      </a:r>
                      <a:endParaRPr sz="1400" u="none" cap="none" strike="noStrike"/>
                    </a:p>
                  </a:txBody>
                  <a:tcPr marT="0" marB="0" marR="68575" marL="68575" anchor="ctr"/>
                </a:tc>
                <a:tc gridSpan="3">
                  <a:txBody>
                    <a:bodyPr/>
                    <a:lstStyle/>
                    <a:p>
                      <a:pPr indent="0" lvl="0" marL="0" marR="0" rtl="0" algn="just">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  Silver Oak College of Computer Application</a:t>
                      </a:r>
                      <a:endParaRPr sz="1400" u="none" cap="none" strike="noStrike"/>
                    </a:p>
                  </a:txBody>
                  <a:tcPr marT="0" marB="0" marR="68575" marL="68575" anchor="ctr"/>
                </a:tc>
                <a:tc hMerge="1"/>
                <a:tc hMerge="1"/>
              </a:tr>
              <a:tr h="932750">
                <a:tc>
                  <a:txBody>
                    <a:bodyPr/>
                    <a:lstStyle/>
                    <a:p>
                      <a:pPr indent="0" lvl="0" marL="0" marR="0" rtl="0" algn="l">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Programme Name:</a:t>
                      </a:r>
                      <a:endParaRPr sz="1400" u="none" cap="none" strike="noStrike"/>
                    </a:p>
                  </a:txBody>
                  <a:tcPr marT="0" marB="0" marR="68575" marL="68575" anchor="ctr"/>
                </a:tc>
                <a:tc>
                  <a:txBody>
                    <a:bodyPr/>
                    <a:lstStyle/>
                    <a:p>
                      <a:pPr indent="0" lvl="0" marL="0" marR="0" rtl="0" algn="just">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 </a:t>
                      </a:r>
                      <a:r>
                        <a:rPr b="1" lang="en-IN" sz="2000">
                          <a:latin typeface="Times New Roman"/>
                          <a:ea typeface="Times New Roman"/>
                          <a:cs typeface="Times New Roman"/>
                          <a:sym typeface="Times New Roman"/>
                        </a:rPr>
                        <a:t>Master</a:t>
                      </a:r>
                      <a:r>
                        <a:rPr b="1" lang="en-IN" sz="2000" u="none" cap="none" strike="noStrike">
                          <a:latin typeface="Times New Roman"/>
                          <a:ea typeface="Times New Roman"/>
                          <a:cs typeface="Times New Roman"/>
                          <a:sym typeface="Times New Roman"/>
                        </a:rPr>
                        <a:t> Of Computer </a:t>
                      </a:r>
                      <a:r>
                        <a:rPr b="1" lang="en-IN" sz="2000">
                          <a:latin typeface="Times New Roman"/>
                          <a:ea typeface="Times New Roman"/>
                          <a:cs typeface="Times New Roman"/>
                          <a:sym typeface="Times New Roman"/>
                        </a:rPr>
                        <a:t>Application</a:t>
                      </a:r>
                      <a:endParaRPr sz="2000" u="none" cap="none" strike="noStrike"/>
                    </a:p>
                  </a:txBody>
                  <a:tcPr marT="0" marB="0" marR="68575" marL="68575" anchor="ctr"/>
                </a:tc>
                <a:tc>
                  <a:txBody>
                    <a:bodyPr/>
                    <a:lstStyle/>
                    <a:p>
                      <a:pPr indent="0" lvl="0" marL="0" marR="0" rtl="0" algn="l">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Semester:</a:t>
                      </a:r>
                      <a:endParaRPr sz="1400" u="none" cap="none" strike="noStrike"/>
                    </a:p>
                  </a:txBody>
                  <a:tcPr marT="0" marB="0" marR="68575" marL="68575" anchor="ctr"/>
                </a:tc>
                <a:tc>
                  <a:txBody>
                    <a:bodyPr/>
                    <a:lstStyle/>
                    <a:p>
                      <a:pPr indent="0" lvl="0" marL="0" marR="0" rtl="0" algn="just">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  I</a:t>
                      </a:r>
                      <a:endParaRPr sz="1400" u="none" cap="none" strike="noStrike"/>
                    </a:p>
                  </a:txBody>
                  <a:tcPr marT="0" marB="0" marR="68575" marL="68575" anchor="ctr"/>
                </a:tc>
              </a:tr>
              <a:tr h="932750">
                <a:tc>
                  <a:txBody>
                    <a:bodyPr/>
                    <a:lstStyle/>
                    <a:p>
                      <a:pPr indent="0" lvl="0" marL="0" marR="0" rtl="0" algn="l">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Course Code:</a:t>
                      </a:r>
                      <a:endParaRPr sz="1400" u="none" cap="none" strike="noStrike"/>
                    </a:p>
                  </a:txBody>
                  <a:tcPr marT="0" marB="0" marR="68575" marL="68575" anchor="ctr"/>
                </a:tc>
                <a:tc>
                  <a:txBody>
                    <a:bodyPr/>
                    <a:lstStyle/>
                    <a:p>
                      <a:pPr indent="0" lvl="0" marL="0" marR="0" rtl="0" algn="just">
                        <a:lnSpc>
                          <a:spcPct val="107000"/>
                        </a:lnSpc>
                        <a:spcBef>
                          <a:spcPts val="0"/>
                        </a:spcBef>
                        <a:spcAft>
                          <a:spcPts val="0"/>
                        </a:spcAft>
                        <a:buClr>
                          <a:srgbClr val="000000"/>
                        </a:buClr>
                        <a:buSzPts val="2000"/>
                        <a:buFont typeface="Arial"/>
                        <a:buNone/>
                      </a:pPr>
                      <a:r>
                        <a:rPr b="1" lang="en-IN" sz="2000">
                          <a:latin typeface="Cambria"/>
                          <a:ea typeface="Cambria"/>
                          <a:cs typeface="Cambria"/>
                          <a:sym typeface="Cambria"/>
                        </a:rPr>
                        <a:t>CAM5011C </a:t>
                      </a:r>
                      <a:endParaRPr b="1" sz="2000" u="none" cap="none" strike="noStrike">
                        <a:latin typeface="Cambria"/>
                        <a:ea typeface="Cambria"/>
                        <a:cs typeface="Cambria"/>
                        <a:sym typeface="Cambria"/>
                      </a:endParaRPr>
                    </a:p>
                    <a:p>
                      <a:pPr indent="0" lvl="0" marL="0" marR="0" rtl="0" algn="just">
                        <a:lnSpc>
                          <a:spcPct val="107000"/>
                        </a:lnSpc>
                        <a:spcBef>
                          <a:spcPts val="0"/>
                        </a:spcBef>
                        <a:spcAft>
                          <a:spcPts val="0"/>
                        </a:spcAft>
                        <a:buClr>
                          <a:srgbClr val="000000"/>
                        </a:buClr>
                        <a:buSzPts val="2000"/>
                        <a:buFont typeface="Arial"/>
                        <a:buNone/>
                      </a:pPr>
                      <a:r>
                        <a:t/>
                      </a:r>
                      <a:endParaRPr b="1" sz="2000" u="none" cap="none" strike="noStrike">
                        <a:latin typeface="Cambria"/>
                        <a:ea typeface="Cambria"/>
                        <a:cs typeface="Cambria"/>
                        <a:sym typeface="Cambria"/>
                      </a:endParaRPr>
                    </a:p>
                  </a:txBody>
                  <a:tcPr marT="0" marB="0" marR="68575" marL="68575" anchor="ctr"/>
                </a:tc>
                <a:tc>
                  <a:txBody>
                    <a:bodyPr/>
                    <a:lstStyle/>
                    <a:p>
                      <a:pPr indent="0" lvl="0" marL="0" marR="0" rtl="0" algn="l">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Course Name:</a:t>
                      </a:r>
                      <a:endParaRPr sz="1400" u="none" cap="none" strike="noStrike"/>
                    </a:p>
                  </a:txBody>
                  <a:tcPr marT="0" marB="0" marR="68575" marL="68575" anchor="ctr"/>
                </a:tc>
                <a:tc>
                  <a:txBody>
                    <a:bodyPr/>
                    <a:lstStyle/>
                    <a:p>
                      <a:pPr indent="0" lvl="0" marL="0" marR="0" rtl="0" algn="just">
                        <a:lnSpc>
                          <a:spcPct val="107000"/>
                        </a:lnSpc>
                        <a:spcBef>
                          <a:spcPts val="0"/>
                        </a:spcBef>
                        <a:spcAft>
                          <a:spcPts val="0"/>
                        </a:spcAft>
                        <a:buClr>
                          <a:srgbClr val="000000"/>
                        </a:buClr>
                        <a:buSzPts val="2000"/>
                        <a:buFont typeface="Arial"/>
                        <a:buNone/>
                      </a:pPr>
                      <a:r>
                        <a:rPr b="1" lang="en-IN" sz="2000">
                          <a:latin typeface="Cambria"/>
                          <a:ea typeface="Cambria"/>
                          <a:cs typeface="Cambria"/>
                          <a:sym typeface="Cambria"/>
                        </a:rPr>
                        <a:t>Database Management System </a:t>
                      </a:r>
                      <a:endParaRPr b="1" sz="2000" u="none" cap="none" strike="noStrike">
                        <a:latin typeface="Cambria"/>
                        <a:ea typeface="Cambria"/>
                        <a:cs typeface="Cambria"/>
                        <a:sym typeface="Cambria"/>
                      </a:endParaRPr>
                    </a:p>
                  </a:txBody>
                  <a:tcPr marT="0" marB="0" marR="68575" marL="68575" anchor="ctr"/>
                </a:tc>
              </a:tr>
              <a:tr h="932750">
                <a:tc>
                  <a:txBody>
                    <a:bodyPr/>
                    <a:lstStyle/>
                    <a:p>
                      <a:pPr indent="0" lvl="0" marL="0" marR="0" rtl="0" algn="l">
                        <a:lnSpc>
                          <a:spcPct val="107000"/>
                        </a:lnSpc>
                        <a:spcBef>
                          <a:spcPts val="0"/>
                        </a:spcBef>
                        <a:spcAft>
                          <a:spcPts val="0"/>
                        </a:spcAft>
                        <a:buClr>
                          <a:srgbClr val="000000"/>
                        </a:buClr>
                        <a:buSzPts val="2000"/>
                        <a:buFont typeface="Arial"/>
                        <a:buNone/>
                      </a:pPr>
                      <a:r>
                        <a:rPr b="1" i="0" lang="en-IN" sz="2000" u="none" cap="none" strike="noStrike">
                          <a:solidFill>
                            <a:schemeClr val="dk1"/>
                          </a:solidFill>
                          <a:latin typeface="Cambria"/>
                          <a:ea typeface="Cambria"/>
                          <a:cs typeface="Cambria"/>
                          <a:sym typeface="Cambria"/>
                        </a:rPr>
                        <a:t>Unit No.:</a:t>
                      </a:r>
                      <a:endParaRPr sz="1400" u="none" cap="none" strike="noStrike"/>
                    </a:p>
                  </a:txBody>
                  <a:tcPr marT="0" marB="0" marR="68575" marL="68575" anchor="ctr"/>
                </a:tc>
                <a:tc>
                  <a:txBody>
                    <a:bodyPr/>
                    <a:lstStyle/>
                    <a:p>
                      <a:pPr indent="0" lvl="0" marL="0" marR="0" rtl="0" algn="just">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1</a:t>
                      </a:r>
                      <a:endParaRPr b="1" sz="2000" u="none" cap="none" strike="noStrike">
                        <a:latin typeface="Cambria"/>
                        <a:ea typeface="Cambria"/>
                        <a:cs typeface="Cambria"/>
                        <a:sym typeface="Cambria"/>
                      </a:endParaRPr>
                    </a:p>
                  </a:txBody>
                  <a:tcPr marT="0" marB="0" marR="68575" marL="68575" anchor="ctr"/>
                </a:tc>
                <a:tc>
                  <a:txBody>
                    <a:bodyPr/>
                    <a:lstStyle/>
                    <a:p>
                      <a:pPr indent="0" lvl="0" marL="0" marR="0" rtl="0" algn="l">
                        <a:lnSpc>
                          <a:spcPct val="107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Unit Name:</a:t>
                      </a:r>
                      <a:endParaRPr sz="2000" u="none" cap="none" strike="noStrike"/>
                    </a:p>
                  </a:txBody>
                  <a:tcPr marT="0" marB="0" marR="68575" marL="68575" anchor="ctr"/>
                </a:tc>
                <a:tc>
                  <a:txBody>
                    <a:bodyPr/>
                    <a:lstStyle/>
                    <a:p>
                      <a:pPr indent="0" lvl="0" marL="0" marR="66675" rtl="0" algn="just">
                        <a:lnSpc>
                          <a:spcPct val="100000"/>
                        </a:lnSpc>
                        <a:spcBef>
                          <a:spcPts val="0"/>
                        </a:spcBef>
                        <a:spcAft>
                          <a:spcPts val="0"/>
                        </a:spcAft>
                        <a:buClr>
                          <a:schemeClr val="dk1"/>
                        </a:buClr>
                        <a:buSzPts val="1100"/>
                        <a:buFont typeface="Arial"/>
                        <a:buNone/>
                      </a:pPr>
                      <a:r>
                        <a:rPr b="1" lang="en-IN" sz="2000" u="none" cap="none" strike="noStrike">
                          <a:latin typeface="Times New Roman"/>
                          <a:ea typeface="Times New Roman"/>
                          <a:cs typeface="Times New Roman"/>
                          <a:sym typeface="Times New Roman"/>
                        </a:rPr>
                        <a:t>Introduction to Database</a:t>
                      </a:r>
                      <a:endParaRPr b="1" sz="2000" u="none" cap="none" strike="noStrike">
                        <a:latin typeface="Cambria"/>
                        <a:ea typeface="Cambria"/>
                        <a:cs typeface="Cambria"/>
                        <a:sym typeface="Cambria"/>
                      </a:endParaRPr>
                    </a:p>
                  </a:txBody>
                  <a:tcPr marT="0" marB="0" marR="68575" marL="68575"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f93fd6275f_0_4"/>
          <p:cNvSpPr txBox="1"/>
          <p:nvPr>
            <p:ph type="title"/>
          </p:nvPr>
        </p:nvSpPr>
        <p:spPr>
          <a:xfrm>
            <a:off x="17664" y="5299"/>
            <a:ext cx="7522500" cy="9639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457200" rtl="0" algn="ctr">
              <a:lnSpc>
                <a:spcPct val="100000"/>
              </a:lnSpc>
              <a:spcBef>
                <a:spcPts val="0"/>
              </a:spcBef>
              <a:spcAft>
                <a:spcPts val="0"/>
              </a:spcAft>
              <a:buSzPts val="1800"/>
              <a:buNone/>
            </a:pPr>
            <a:r>
              <a:rPr b="1" lang="en-IN" sz="3000"/>
              <a:t>DATA </a:t>
            </a:r>
            <a:endParaRPr b="1" sz="3000"/>
          </a:p>
        </p:txBody>
      </p:sp>
      <p:sp>
        <p:nvSpPr>
          <p:cNvPr id="116" name="Google Shape;116;g3f93fd6275f_0_4"/>
          <p:cNvSpPr txBox="1"/>
          <p:nvPr>
            <p:ph idx="1" type="body"/>
          </p:nvPr>
        </p:nvSpPr>
        <p:spPr>
          <a:xfrm>
            <a:off x="226600" y="1579400"/>
            <a:ext cx="5987400" cy="38460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00000"/>
              </a:lnSpc>
              <a:spcBef>
                <a:spcPts val="0"/>
              </a:spcBef>
              <a:spcAft>
                <a:spcPts val="0"/>
              </a:spcAft>
              <a:buSzPts val="1800"/>
              <a:buFont typeface="Cambria"/>
              <a:buChar char="•"/>
            </a:pPr>
            <a:r>
              <a:rPr lang="en-IN">
                <a:latin typeface="Cambria"/>
                <a:ea typeface="Cambria"/>
                <a:cs typeface="Cambria"/>
                <a:sym typeface="Cambria"/>
              </a:rPr>
              <a:t>Data is a raw and unorganized fact that required to be </a:t>
            </a:r>
            <a:endParaRPr>
              <a:latin typeface="Cambria"/>
              <a:ea typeface="Cambria"/>
              <a:cs typeface="Cambria"/>
              <a:sym typeface="Cambria"/>
            </a:endParaRPr>
          </a:p>
          <a:p>
            <a:pPr indent="0" lvl="0" marL="0" rtl="0" algn="just">
              <a:lnSpc>
                <a:spcPct val="100000"/>
              </a:lnSpc>
              <a:spcBef>
                <a:spcPts val="0"/>
              </a:spcBef>
              <a:spcAft>
                <a:spcPts val="0"/>
              </a:spcAft>
              <a:buSzPts val="1800"/>
              <a:buNone/>
            </a:pPr>
            <a:r>
              <a:rPr lang="en-IN">
                <a:latin typeface="Cambria"/>
                <a:ea typeface="Cambria"/>
                <a:cs typeface="Cambria"/>
                <a:sym typeface="Cambria"/>
              </a:rPr>
              <a:t>         processed to make it meaningful. </a:t>
            </a:r>
            <a:endParaRPr>
              <a:latin typeface="Cambria"/>
              <a:ea typeface="Cambria"/>
              <a:cs typeface="Cambria"/>
              <a:sym typeface="Cambria"/>
            </a:endParaRPr>
          </a:p>
          <a:p>
            <a:pPr indent="-342900" lvl="0" marL="457200" rtl="0" algn="just">
              <a:lnSpc>
                <a:spcPct val="100000"/>
              </a:lnSpc>
              <a:spcBef>
                <a:spcPts val="0"/>
              </a:spcBef>
              <a:spcAft>
                <a:spcPts val="0"/>
              </a:spcAft>
              <a:buSzPts val="1800"/>
              <a:buFont typeface="Cambria"/>
              <a:buChar char="•"/>
            </a:pPr>
            <a:r>
              <a:rPr lang="en-IN">
                <a:latin typeface="Cambria"/>
                <a:ea typeface="Cambria"/>
                <a:cs typeface="Cambria"/>
                <a:sym typeface="Cambria"/>
              </a:rPr>
              <a:t>Facts, figures, statistics etc. having no particular meaning </a:t>
            </a:r>
            <a:endParaRPr>
              <a:latin typeface="Cambria"/>
              <a:ea typeface="Cambria"/>
              <a:cs typeface="Cambria"/>
              <a:sym typeface="Cambria"/>
            </a:endParaRPr>
          </a:p>
          <a:p>
            <a:pPr indent="-342900" lvl="0" marL="457200" rtl="0" algn="just">
              <a:lnSpc>
                <a:spcPct val="100000"/>
              </a:lnSpc>
              <a:spcBef>
                <a:spcPts val="0"/>
              </a:spcBef>
              <a:spcAft>
                <a:spcPts val="0"/>
              </a:spcAft>
              <a:buSzPts val="1800"/>
              <a:buFont typeface="Cambria"/>
              <a:buChar char="•"/>
            </a:pPr>
            <a:r>
              <a:rPr lang="en-IN">
                <a:latin typeface="Cambria"/>
                <a:ea typeface="Cambria"/>
                <a:cs typeface="Cambria"/>
                <a:sym typeface="Cambria"/>
              </a:rPr>
              <a:t>Data can be simple at the same time unorganized unless </a:t>
            </a:r>
            <a:endParaRPr>
              <a:latin typeface="Cambria"/>
              <a:ea typeface="Cambria"/>
              <a:cs typeface="Cambria"/>
              <a:sym typeface="Cambria"/>
            </a:endParaRPr>
          </a:p>
          <a:p>
            <a:pPr indent="0" lvl="0" marL="0" rtl="0" algn="just">
              <a:lnSpc>
                <a:spcPct val="100000"/>
              </a:lnSpc>
              <a:spcBef>
                <a:spcPts val="0"/>
              </a:spcBef>
              <a:spcAft>
                <a:spcPts val="0"/>
              </a:spcAft>
              <a:buSzPts val="1800"/>
              <a:buNone/>
            </a:pPr>
            <a:r>
              <a:rPr lang="en-IN">
                <a:latin typeface="Cambria"/>
                <a:ea typeface="Cambria"/>
                <a:cs typeface="Cambria"/>
                <a:sym typeface="Cambria"/>
              </a:rPr>
              <a:t>         it is organized. </a:t>
            </a:r>
            <a:endParaRPr>
              <a:latin typeface="Cambria"/>
              <a:ea typeface="Cambria"/>
              <a:cs typeface="Cambria"/>
              <a:sym typeface="Cambria"/>
            </a:endParaRPr>
          </a:p>
          <a:p>
            <a:pPr indent="-342900" lvl="0" marL="457200" rtl="0" algn="just">
              <a:lnSpc>
                <a:spcPct val="100000"/>
              </a:lnSpc>
              <a:spcBef>
                <a:spcPts val="0"/>
              </a:spcBef>
              <a:spcAft>
                <a:spcPts val="0"/>
              </a:spcAft>
              <a:buSzPts val="1800"/>
              <a:buFont typeface="Cambria"/>
              <a:buChar char="•"/>
            </a:pPr>
            <a:r>
              <a:rPr lang="en-IN">
                <a:latin typeface="Cambria"/>
                <a:ea typeface="Cambria"/>
                <a:cs typeface="Cambria"/>
                <a:sym typeface="Cambria"/>
              </a:rPr>
              <a:t>Generally, data comprises facts, observations, </a:t>
            </a:r>
            <a:endParaRPr>
              <a:latin typeface="Cambria"/>
              <a:ea typeface="Cambria"/>
              <a:cs typeface="Cambria"/>
              <a:sym typeface="Cambria"/>
            </a:endParaRPr>
          </a:p>
          <a:p>
            <a:pPr indent="-342900" lvl="1" marL="914400" rtl="0" algn="just">
              <a:lnSpc>
                <a:spcPct val="100000"/>
              </a:lnSpc>
              <a:spcBef>
                <a:spcPts val="0"/>
              </a:spcBef>
              <a:spcAft>
                <a:spcPts val="0"/>
              </a:spcAft>
              <a:buSzPts val="1800"/>
              <a:buFont typeface="Cambria"/>
              <a:buChar char="•"/>
            </a:pPr>
            <a:r>
              <a:rPr lang="en-IN">
                <a:latin typeface="Cambria"/>
                <a:ea typeface="Cambria"/>
                <a:cs typeface="Cambria"/>
                <a:sym typeface="Cambria"/>
              </a:rPr>
              <a:t>perceptions numbers, </a:t>
            </a:r>
            <a:endParaRPr>
              <a:latin typeface="Cambria"/>
              <a:ea typeface="Cambria"/>
              <a:cs typeface="Cambria"/>
              <a:sym typeface="Cambria"/>
            </a:endParaRPr>
          </a:p>
          <a:p>
            <a:pPr indent="-342900" lvl="1" marL="914400" rtl="0" algn="just">
              <a:lnSpc>
                <a:spcPct val="100000"/>
              </a:lnSpc>
              <a:spcBef>
                <a:spcPts val="0"/>
              </a:spcBef>
              <a:spcAft>
                <a:spcPts val="0"/>
              </a:spcAft>
              <a:buSzPts val="1800"/>
              <a:buFont typeface="Cambria"/>
              <a:buChar char="•"/>
            </a:pPr>
            <a:r>
              <a:rPr lang="en-IN">
                <a:latin typeface="Cambria"/>
                <a:ea typeface="Cambria"/>
                <a:cs typeface="Cambria"/>
                <a:sym typeface="Cambria"/>
              </a:rPr>
              <a:t>characters, symbols, image,etc. </a:t>
            </a:r>
            <a:endParaRPr>
              <a:latin typeface="Cambria"/>
              <a:ea typeface="Cambria"/>
              <a:cs typeface="Cambria"/>
              <a:sym typeface="Cambria"/>
            </a:endParaRPr>
          </a:p>
          <a:p>
            <a:pPr indent="0" lvl="0" marL="0" rtl="0" algn="just">
              <a:lnSpc>
                <a:spcPct val="100000"/>
              </a:lnSpc>
              <a:spcBef>
                <a:spcPts val="0"/>
              </a:spcBef>
              <a:spcAft>
                <a:spcPts val="0"/>
              </a:spcAft>
              <a:buSzPts val="1800"/>
              <a:buNone/>
            </a:pPr>
            <a:r>
              <a:rPr lang="en-IN">
                <a:latin typeface="Cambria"/>
                <a:ea typeface="Cambria"/>
                <a:cs typeface="Cambria"/>
                <a:sym typeface="Cambria"/>
              </a:rPr>
              <a:t>         </a:t>
            </a:r>
            <a:r>
              <a:rPr b="1" lang="en-IN">
                <a:latin typeface="Cambria"/>
                <a:ea typeface="Cambria"/>
                <a:cs typeface="Cambria"/>
                <a:sym typeface="Cambria"/>
              </a:rPr>
              <a:t> Ex:-</a:t>
            </a:r>
            <a:r>
              <a:rPr lang="en-IN">
                <a:latin typeface="Cambria"/>
                <a:ea typeface="Cambria"/>
                <a:cs typeface="Cambria"/>
                <a:sym typeface="Cambria"/>
              </a:rPr>
              <a:t>  </a:t>
            </a:r>
            <a:r>
              <a:rPr b="1" lang="en-IN">
                <a:latin typeface="Cambria"/>
                <a:ea typeface="Cambria"/>
                <a:cs typeface="Cambria"/>
                <a:sym typeface="Cambria"/>
              </a:rPr>
              <a:t>A  Student’s marks in different subject:</a:t>
            </a:r>
            <a:endParaRPr b="1">
              <a:latin typeface="Cambria"/>
              <a:ea typeface="Cambria"/>
              <a:cs typeface="Cambria"/>
              <a:sym typeface="Cambria"/>
            </a:endParaRPr>
          </a:p>
          <a:p>
            <a:pPr indent="-342900" lvl="1" marL="914400" rtl="0" algn="just">
              <a:lnSpc>
                <a:spcPct val="100000"/>
              </a:lnSpc>
              <a:spcBef>
                <a:spcPts val="0"/>
              </a:spcBef>
              <a:spcAft>
                <a:spcPts val="0"/>
              </a:spcAft>
              <a:buSzPts val="1800"/>
              <a:buFont typeface="Cambria"/>
              <a:buChar char="•"/>
            </a:pPr>
            <a:r>
              <a:rPr lang="en-IN">
                <a:latin typeface="Cambria"/>
                <a:ea typeface="Cambria"/>
                <a:cs typeface="Cambria"/>
                <a:sym typeface="Cambria"/>
              </a:rPr>
              <a:t> 85 , 68 , 90 ,85 ,75 ( these are raw data)</a:t>
            </a:r>
            <a:endParaRPr>
              <a:latin typeface="Cambria"/>
              <a:ea typeface="Cambria"/>
              <a:cs typeface="Cambria"/>
              <a:sym typeface="Cambria"/>
            </a:endParaRPr>
          </a:p>
          <a:p>
            <a:pPr indent="-342900" lvl="1" marL="914400" rtl="0" algn="just">
              <a:lnSpc>
                <a:spcPct val="100000"/>
              </a:lnSpc>
              <a:spcBef>
                <a:spcPts val="0"/>
              </a:spcBef>
              <a:spcAft>
                <a:spcPts val="0"/>
              </a:spcAft>
              <a:buSzPts val="1800"/>
              <a:buFont typeface="Cambria"/>
              <a:buChar char="•"/>
            </a:pPr>
            <a:r>
              <a:rPr lang="en-IN">
                <a:latin typeface="Cambria"/>
                <a:ea typeface="Cambria"/>
                <a:cs typeface="Cambria"/>
                <a:sym typeface="Cambria"/>
              </a:rPr>
              <a:t>(e.g. 1, ABC, 19 etc)</a:t>
            </a:r>
            <a:endParaRPr>
              <a:latin typeface="Cambria"/>
              <a:ea typeface="Cambria"/>
              <a:cs typeface="Cambria"/>
              <a:sym typeface="Cambria"/>
            </a:endParaRPr>
          </a:p>
        </p:txBody>
      </p:sp>
      <p:pic>
        <p:nvPicPr>
          <p:cNvPr id="117" name="Google Shape;117;g3f93fd6275f_0_4"/>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118" name="Google Shape;118;g3f93fd6275f_0_4"/>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119" name="Google Shape;119;g3f93fd6275f_0_4"/>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20" name="Google Shape;120;g3f93fd6275f_0_4"/>
          <p:cNvPicPr preferRelativeResize="0"/>
          <p:nvPr/>
        </p:nvPicPr>
        <p:blipFill rotWithShape="1">
          <a:blip r:embed="rId5">
            <a:alphaModFix/>
          </a:blip>
          <a:srcRect b="0" l="0" r="0" t="0"/>
          <a:stretch/>
        </p:blipFill>
        <p:spPr>
          <a:xfrm>
            <a:off x="6552975" y="1132825"/>
            <a:ext cx="5418951" cy="4739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f93fd6275f_0_14"/>
          <p:cNvSpPr txBox="1"/>
          <p:nvPr>
            <p:ph type="title"/>
          </p:nvPr>
        </p:nvSpPr>
        <p:spPr>
          <a:xfrm>
            <a:off x="17664" y="5299"/>
            <a:ext cx="7522500" cy="9639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457200" rtl="0" algn="ctr">
              <a:lnSpc>
                <a:spcPct val="100000"/>
              </a:lnSpc>
              <a:spcBef>
                <a:spcPts val="0"/>
              </a:spcBef>
              <a:spcAft>
                <a:spcPts val="0"/>
              </a:spcAft>
              <a:buSzPts val="1800"/>
              <a:buNone/>
            </a:pPr>
            <a:r>
              <a:rPr b="1" lang="en-IN" sz="3000"/>
              <a:t>INFORMATION</a:t>
            </a:r>
            <a:endParaRPr b="1" sz="2500"/>
          </a:p>
        </p:txBody>
      </p:sp>
      <p:sp>
        <p:nvSpPr>
          <p:cNvPr id="126" name="Google Shape;126;g3f93fd6275f_0_14"/>
          <p:cNvSpPr txBox="1"/>
          <p:nvPr>
            <p:ph idx="1" type="body"/>
          </p:nvPr>
        </p:nvSpPr>
        <p:spPr>
          <a:xfrm>
            <a:off x="6395550" y="1761225"/>
            <a:ext cx="5460900" cy="42111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800"/>
              <a:buNone/>
            </a:pPr>
            <a:r>
              <a:t/>
            </a:r>
            <a:endParaRPr b="1" sz="3100">
              <a:latin typeface="Cambria"/>
              <a:ea typeface="Cambria"/>
              <a:cs typeface="Cambria"/>
              <a:sym typeface="Cambria"/>
            </a:endParaRPr>
          </a:p>
          <a:p>
            <a:pPr indent="-342900" lvl="0" marL="457200" rtl="0" algn="just">
              <a:lnSpc>
                <a:spcPct val="100000"/>
              </a:lnSpc>
              <a:spcBef>
                <a:spcPts val="0"/>
              </a:spcBef>
              <a:spcAft>
                <a:spcPts val="0"/>
              </a:spcAft>
              <a:buSzPts val="1800"/>
              <a:buFont typeface="Bookman Old Style"/>
              <a:buChar char="•"/>
            </a:pPr>
            <a:r>
              <a:rPr lang="en-IN"/>
              <a:t>Information is a set of data which is processed in a meaningful way according to the given requirement. </a:t>
            </a:r>
            <a:endParaRPr/>
          </a:p>
          <a:p>
            <a:pPr indent="-342900" lvl="0" marL="457200" rtl="0" algn="just">
              <a:lnSpc>
                <a:spcPct val="100000"/>
              </a:lnSpc>
              <a:spcBef>
                <a:spcPts val="0"/>
              </a:spcBef>
              <a:spcAft>
                <a:spcPts val="0"/>
              </a:spcAft>
              <a:buSzPts val="1800"/>
              <a:buFont typeface="Bookman Old Style"/>
              <a:buChar char="•"/>
            </a:pPr>
            <a:r>
              <a:rPr lang="en-IN"/>
              <a:t>Information assigns meaning and improves the reliability of the data .</a:t>
            </a:r>
            <a:endParaRPr/>
          </a:p>
          <a:p>
            <a:pPr indent="-342900" lvl="0" marL="457200" rtl="0" algn="just">
              <a:lnSpc>
                <a:spcPct val="100000"/>
              </a:lnSpc>
              <a:spcBef>
                <a:spcPts val="0"/>
              </a:spcBef>
              <a:spcAft>
                <a:spcPts val="0"/>
              </a:spcAft>
              <a:buSzPts val="1800"/>
              <a:buFont typeface="Bookman Old Style"/>
              <a:buChar char="•"/>
            </a:pPr>
            <a:r>
              <a:rPr lang="en-IN"/>
              <a:t>Knowledge acquired through study or experience.</a:t>
            </a:r>
            <a:endParaRPr/>
          </a:p>
          <a:p>
            <a:pPr indent="-342900" lvl="0" marL="457200" rtl="0" algn="just">
              <a:lnSpc>
                <a:spcPct val="100000"/>
              </a:lnSpc>
              <a:spcBef>
                <a:spcPts val="0"/>
              </a:spcBef>
              <a:spcAft>
                <a:spcPts val="0"/>
              </a:spcAft>
              <a:buSzPts val="1800"/>
              <a:buFont typeface="Bookman Old Style"/>
              <a:buChar char="•"/>
            </a:pPr>
            <a:r>
              <a:rPr lang="en-IN"/>
              <a:t>Information helps human being in their decision making. </a:t>
            </a:r>
            <a:endParaRPr/>
          </a:p>
          <a:p>
            <a:pPr indent="0" lvl="0" marL="0" rtl="0" algn="just">
              <a:lnSpc>
                <a:spcPct val="100000"/>
              </a:lnSpc>
              <a:spcBef>
                <a:spcPts val="0"/>
              </a:spcBef>
              <a:spcAft>
                <a:spcPts val="0"/>
              </a:spcAft>
              <a:buSzPts val="1800"/>
              <a:buNone/>
            </a:pPr>
            <a:r>
              <a:t/>
            </a:r>
            <a:endParaRPr sz="2900">
              <a:latin typeface="Cambria"/>
              <a:ea typeface="Cambria"/>
              <a:cs typeface="Cambria"/>
              <a:sym typeface="Cambria"/>
            </a:endParaRPr>
          </a:p>
        </p:txBody>
      </p:sp>
      <p:pic>
        <p:nvPicPr>
          <p:cNvPr id="127" name="Google Shape;127;g3f93fd6275f_0_14"/>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128" name="Google Shape;128;g3f93fd6275f_0_14"/>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129" name="Google Shape;129;g3f93fd6275f_0_14"/>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30" name="Google Shape;130;g3f93fd6275f_0_14"/>
          <p:cNvPicPr preferRelativeResize="0"/>
          <p:nvPr/>
        </p:nvPicPr>
        <p:blipFill rotWithShape="1">
          <a:blip r:embed="rId5">
            <a:alphaModFix/>
          </a:blip>
          <a:srcRect b="0" l="0" r="0" t="0"/>
          <a:stretch/>
        </p:blipFill>
        <p:spPr>
          <a:xfrm>
            <a:off x="203200" y="1333500"/>
            <a:ext cx="609395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f93fd6275f_0_25"/>
          <p:cNvSpPr txBox="1"/>
          <p:nvPr>
            <p:ph type="title"/>
          </p:nvPr>
        </p:nvSpPr>
        <p:spPr>
          <a:xfrm>
            <a:off x="17664" y="5299"/>
            <a:ext cx="7522500" cy="9639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457200" rtl="0" algn="ctr">
              <a:lnSpc>
                <a:spcPct val="100000"/>
              </a:lnSpc>
              <a:spcBef>
                <a:spcPts val="0"/>
              </a:spcBef>
              <a:spcAft>
                <a:spcPts val="0"/>
              </a:spcAft>
              <a:buClr>
                <a:schemeClr val="dk1"/>
              </a:buClr>
              <a:buSzPts val="1100"/>
              <a:buFont typeface="Arial"/>
              <a:buNone/>
            </a:pPr>
            <a:r>
              <a:rPr b="1" lang="en-IN" sz="3000"/>
              <a:t>DATABASE</a:t>
            </a:r>
            <a:endParaRPr b="1" sz="2700"/>
          </a:p>
        </p:txBody>
      </p:sp>
      <p:sp>
        <p:nvSpPr>
          <p:cNvPr id="136" name="Google Shape;136;g3f93fd6275f_0_25"/>
          <p:cNvSpPr txBox="1"/>
          <p:nvPr>
            <p:ph idx="1" type="body"/>
          </p:nvPr>
        </p:nvSpPr>
        <p:spPr>
          <a:xfrm>
            <a:off x="293175" y="1423925"/>
            <a:ext cx="5910900" cy="47940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SzPct val="82949"/>
              <a:buNone/>
            </a:pPr>
            <a:r>
              <a:t/>
            </a:r>
            <a:endParaRPr b="1" sz="3100">
              <a:latin typeface="Cambria"/>
              <a:ea typeface="Cambria"/>
              <a:cs typeface="Cambria"/>
              <a:sym typeface="Cambria"/>
            </a:endParaRPr>
          </a:p>
          <a:p>
            <a:pPr indent="-216732" lvl="0" marL="228600" rtl="0" algn="just">
              <a:lnSpc>
                <a:spcPct val="100000"/>
              </a:lnSpc>
              <a:spcBef>
                <a:spcPts val="0"/>
              </a:spcBef>
              <a:spcAft>
                <a:spcPts val="0"/>
              </a:spcAft>
              <a:buSzPct val="100000"/>
              <a:buFont typeface="Bookman Old Style"/>
              <a:buChar char="●"/>
            </a:pPr>
            <a:r>
              <a:rPr lang="en-IN" sz="1992"/>
              <a:t>The database is a collection of inter-related data which is used to retrieve, insert and delete the data efficiently. </a:t>
            </a:r>
            <a:endParaRPr sz="1992"/>
          </a:p>
          <a:p>
            <a:pPr indent="0" lvl="0" marL="457200" rtl="0" algn="just">
              <a:lnSpc>
                <a:spcPct val="100000"/>
              </a:lnSpc>
              <a:spcBef>
                <a:spcPts val="0"/>
              </a:spcBef>
              <a:spcAft>
                <a:spcPts val="0"/>
              </a:spcAft>
              <a:buSzPct val="129095"/>
              <a:buNone/>
            </a:pPr>
            <a:r>
              <a:t/>
            </a:r>
            <a:endParaRPr sz="1992"/>
          </a:p>
          <a:p>
            <a:pPr indent="-216732" lvl="0" marL="228600" rtl="0" algn="just">
              <a:lnSpc>
                <a:spcPct val="100000"/>
              </a:lnSpc>
              <a:spcBef>
                <a:spcPts val="0"/>
              </a:spcBef>
              <a:spcAft>
                <a:spcPts val="0"/>
              </a:spcAft>
              <a:buSzPct val="100000"/>
              <a:buFont typeface="Bookman Old Style"/>
              <a:buChar char="●"/>
            </a:pPr>
            <a:r>
              <a:rPr lang="en-IN" sz="1992"/>
              <a:t>It is also used to organize the data in the form of a table, schema, views, and reports, etc.  </a:t>
            </a:r>
            <a:endParaRPr sz="1992"/>
          </a:p>
          <a:p>
            <a:pPr indent="0" lvl="0" marL="457200" rtl="0" algn="just">
              <a:lnSpc>
                <a:spcPct val="100000"/>
              </a:lnSpc>
              <a:spcBef>
                <a:spcPts val="0"/>
              </a:spcBef>
              <a:spcAft>
                <a:spcPts val="0"/>
              </a:spcAft>
              <a:buSzPct val="129095"/>
              <a:buNone/>
            </a:pPr>
            <a:r>
              <a:t/>
            </a:r>
            <a:endParaRPr sz="1992"/>
          </a:p>
          <a:p>
            <a:pPr indent="-216732" lvl="0" marL="228600" rtl="0" algn="just">
              <a:lnSpc>
                <a:spcPct val="100000"/>
              </a:lnSpc>
              <a:spcBef>
                <a:spcPts val="0"/>
              </a:spcBef>
              <a:spcAft>
                <a:spcPts val="0"/>
              </a:spcAft>
              <a:buSzPct val="100000"/>
              <a:buFont typeface="Bookman Old Style"/>
              <a:buChar char="●"/>
            </a:pPr>
            <a:r>
              <a:rPr lang="en-IN" sz="1992"/>
              <a:t>Basic Example:  Dictionary , Airline Database , Student Database , Library, Railway Timetable etc. </a:t>
            </a:r>
            <a:endParaRPr sz="1992"/>
          </a:p>
          <a:p>
            <a:pPr indent="0" lvl="0" marL="457200" rtl="0" algn="just">
              <a:lnSpc>
                <a:spcPct val="100000"/>
              </a:lnSpc>
              <a:spcBef>
                <a:spcPts val="0"/>
              </a:spcBef>
              <a:spcAft>
                <a:spcPts val="0"/>
              </a:spcAft>
              <a:buSzPct val="129095"/>
              <a:buNone/>
            </a:pPr>
            <a:r>
              <a:t/>
            </a:r>
            <a:endParaRPr sz="1992"/>
          </a:p>
          <a:p>
            <a:pPr indent="-216732" lvl="0" marL="228600" rtl="0" algn="just">
              <a:lnSpc>
                <a:spcPct val="100000"/>
              </a:lnSpc>
              <a:spcBef>
                <a:spcPts val="0"/>
              </a:spcBef>
              <a:spcAft>
                <a:spcPts val="0"/>
              </a:spcAft>
              <a:buSzPct val="100000"/>
              <a:buFont typeface="Bookman Old Style"/>
              <a:buChar char="●"/>
            </a:pPr>
            <a:r>
              <a:rPr lang="en-IN" sz="1992"/>
              <a:t>For example: The college Database organizes the data about the admin, staff, students and faculty etc.  Using the database, we can easily retrieve, insert, and delete the information </a:t>
            </a:r>
            <a:endParaRPr sz="1992"/>
          </a:p>
          <a:p>
            <a:pPr indent="0" lvl="0" marL="457200" rtl="0" algn="just">
              <a:lnSpc>
                <a:spcPct val="100000"/>
              </a:lnSpc>
              <a:spcBef>
                <a:spcPts val="0"/>
              </a:spcBef>
              <a:spcAft>
                <a:spcPts val="0"/>
              </a:spcAft>
              <a:buSzPct val="128571"/>
              <a:buNone/>
            </a:pPr>
            <a:r>
              <a:t/>
            </a:r>
            <a:endParaRPr b="1" sz="2000">
              <a:latin typeface="Cambria"/>
              <a:ea typeface="Cambria"/>
              <a:cs typeface="Cambria"/>
              <a:sym typeface="Cambria"/>
            </a:endParaRPr>
          </a:p>
        </p:txBody>
      </p:sp>
      <p:pic>
        <p:nvPicPr>
          <p:cNvPr id="137" name="Google Shape;137;g3f93fd6275f_0_25"/>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138" name="Google Shape;138;g3f93fd6275f_0_25"/>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139" name="Google Shape;139;g3f93fd6275f_0_25"/>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140" name="Google Shape;140;g3f93fd6275f_0_25"/>
          <p:cNvGraphicFramePr/>
          <p:nvPr/>
        </p:nvGraphicFramePr>
        <p:xfrm>
          <a:off x="6594450" y="2104325"/>
          <a:ext cx="3000000" cy="3000000"/>
        </p:xfrm>
        <a:graphic>
          <a:graphicData uri="http://schemas.openxmlformats.org/drawingml/2006/table">
            <a:tbl>
              <a:tblPr>
                <a:noFill/>
                <a:tableStyleId>{1300285A-F221-4F35-BBC8-26BCBE2AD7F8}</a:tableStyleId>
              </a:tblPr>
              <a:tblGrid>
                <a:gridCol w="1699225"/>
                <a:gridCol w="1699225"/>
                <a:gridCol w="1699225"/>
              </a:tblGrid>
              <a:tr h="747825">
                <a:tc>
                  <a:txBody>
                    <a:bodyPr/>
                    <a:lstStyle/>
                    <a:p>
                      <a:pPr indent="0" lvl="0" marL="0" marR="0" rtl="0" algn="ctr">
                        <a:lnSpc>
                          <a:spcPct val="100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Roll_Name</a:t>
                      </a:r>
                      <a:endParaRPr b="1"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Name</a:t>
                      </a:r>
                      <a:endParaRPr b="1"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b="1" lang="en-IN" sz="2000" u="none" cap="none" strike="noStrike">
                          <a:latin typeface="Cambria"/>
                          <a:ea typeface="Cambria"/>
                          <a:cs typeface="Cambria"/>
                          <a:sym typeface="Cambria"/>
                        </a:rPr>
                        <a:t>Age</a:t>
                      </a:r>
                      <a:endParaRPr b="1" sz="2000" u="none" cap="none" strike="noStrike">
                        <a:latin typeface="Cambria"/>
                        <a:ea typeface="Cambria"/>
                        <a:cs typeface="Cambria"/>
                        <a:sym typeface="Cambria"/>
                      </a:endParaRPr>
                    </a:p>
                  </a:txBody>
                  <a:tcPr marT="91425" marB="91425" marR="91425" marL="91425"/>
                </a:tc>
              </a:tr>
              <a:tr h="719100">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1</a:t>
                      </a:r>
                      <a:endParaRPr sz="2000" u="none" cap="none" strike="noStrike">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2000"/>
                        <a:buFont typeface="Arial"/>
                        <a:buNone/>
                      </a:pPr>
                      <a:r>
                        <a:t/>
                      </a:r>
                      <a:endParaRPr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ABC</a:t>
                      </a:r>
                      <a:endParaRPr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19</a:t>
                      </a:r>
                      <a:endParaRPr sz="2000" u="none" cap="none" strike="noStrike">
                        <a:latin typeface="Cambria"/>
                        <a:ea typeface="Cambria"/>
                        <a:cs typeface="Cambria"/>
                        <a:sym typeface="Cambria"/>
                      </a:endParaRPr>
                    </a:p>
                  </a:txBody>
                  <a:tcPr marT="91425" marB="91425" marR="91425" marL="91425"/>
                </a:tc>
              </a:tr>
              <a:tr h="719100">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2</a:t>
                      </a:r>
                      <a:endParaRPr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XYZ</a:t>
                      </a:r>
                      <a:endParaRPr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22</a:t>
                      </a:r>
                      <a:endParaRPr sz="2000" u="none" cap="none" strike="noStrike">
                        <a:latin typeface="Cambria"/>
                        <a:ea typeface="Cambria"/>
                        <a:cs typeface="Cambria"/>
                        <a:sym typeface="Cambria"/>
                      </a:endParaRPr>
                    </a:p>
                  </a:txBody>
                  <a:tcPr marT="91425" marB="91425" marR="91425" marL="91425"/>
                </a:tc>
              </a:tr>
              <a:tr h="719100">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3</a:t>
                      </a:r>
                      <a:endParaRPr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PQR</a:t>
                      </a:r>
                      <a:endParaRPr sz="2000" u="none" cap="none" strike="noStrike">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IN" sz="2000" u="none" cap="none" strike="noStrike">
                          <a:latin typeface="Cambria"/>
                          <a:ea typeface="Cambria"/>
                          <a:cs typeface="Cambria"/>
                          <a:sym typeface="Cambria"/>
                        </a:rPr>
                        <a:t>28</a:t>
                      </a:r>
                      <a:endParaRPr sz="20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
          <p:cNvSpPr txBox="1"/>
          <p:nvPr>
            <p:ph type="title"/>
          </p:nvPr>
        </p:nvSpPr>
        <p:spPr>
          <a:xfrm>
            <a:off x="17664" y="5299"/>
            <a:ext cx="7522388" cy="963764"/>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457200" rtl="0" algn="ctr">
              <a:lnSpc>
                <a:spcPct val="100000"/>
              </a:lnSpc>
              <a:spcBef>
                <a:spcPts val="0"/>
              </a:spcBef>
              <a:spcAft>
                <a:spcPts val="0"/>
              </a:spcAft>
              <a:buClr>
                <a:schemeClr val="dk1"/>
              </a:buClr>
              <a:buSzPts val="1100"/>
              <a:buFont typeface="Arial"/>
              <a:buNone/>
            </a:pPr>
            <a:r>
              <a:rPr b="1" lang="en-IN" sz="3100"/>
              <a:t>INTRODUCTION</a:t>
            </a:r>
            <a:endParaRPr b="1"/>
          </a:p>
        </p:txBody>
      </p:sp>
      <p:sp>
        <p:nvSpPr>
          <p:cNvPr id="146" name="Google Shape;146;p2"/>
          <p:cNvSpPr txBox="1"/>
          <p:nvPr>
            <p:ph idx="1" type="body"/>
          </p:nvPr>
        </p:nvSpPr>
        <p:spPr>
          <a:xfrm>
            <a:off x="17675" y="1423850"/>
            <a:ext cx="11809500" cy="4794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t/>
            </a:r>
            <a:endParaRPr/>
          </a:p>
          <a:p>
            <a:pPr indent="-342900" lvl="0" marL="457200" rtl="0" algn="just">
              <a:lnSpc>
                <a:spcPct val="100000"/>
              </a:lnSpc>
              <a:spcBef>
                <a:spcPts val="0"/>
              </a:spcBef>
              <a:spcAft>
                <a:spcPts val="0"/>
              </a:spcAft>
              <a:buSzPts val="1800"/>
              <a:buChar char="•"/>
            </a:pPr>
            <a:r>
              <a:rPr b="1" lang="en-IN"/>
              <a:t>DBMS : </a:t>
            </a:r>
            <a:r>
              <a:rPr lang="en-IN"/>
              <a:t>Database management System.</a:t>
            </a:r>
            <a:endParaRPr/>
          </a:p>
          <a:p>
            <a:pPr indent="0" lvl="0" marL="914400" rtl="0" algn="just">
              <a:lnSpc>
                <a:spcPct val="100000"/>
              </a:lnSpc>
              <a:spcBef>
                <a:spcPts val="0"/>
              </a:spcBef>
              <a:spcAft>
                <a:spcPts val="0"/>
              </a:spcAft>
              <a:buSzPts val="1800"/>
              <a:buNone/>
            </a:pPr>
            <a:r>
              <a:t/>
            </a:r>
            <a:endParaRPr/>
          </a:p>
          <a:p>
            <a:pPr indent="-342900" lvl="0" marL="457200" rtl="0" algn="just">
              <a:lnSpc>
                <a:spcPct val="100000"/>
              </a:lnSpc>
              <a:spcBef>
                <a:spcPts val="0"/>
              </a:spcBef>
              <a:spcAft>
                <a:spcPts val="0"/>
              </a:spcAft>
              <a:buSzPts val="1800"/>
              <a:buChar char="•"/>
            </a:pPr>
            <a:r>
              <a:rPr lang="en-IN"/>
              <a:t>DBMS is  a software system for creating , organizing  and managing the database.</a:t>
            </a:r>
            <a:endParaRPr/>
          </a:p>
          <a:p>
            <a:pPr indent="0" lvl="0" marL="914400" rtl="0" algn="just">
              <a:lnSpc>
                <a:spcPct val="100000"/>
              </a:lnSpc>
              <a:spcBef>
                <a:spcPts val="0"/>
              </a:spcBef>
              <a:spcAft>
                <a:spcPts val="0"/>
              </a:spcAft>
              <a:buSzPts val="1800"/>
              <a:buNone/>
            </a:pPr>
            <a:r>
              <a:t/>
            </a:r>
            <a:endParaRPr/>
          </a:p>
          <a:p>
            <a:pPr indent="-342900" lvl="0" marL="457200" rtl="0" algn="just">
              <a:lnSpc>
                <a:spcPct val="100000"/>
              </a:lnSpc>
              <a:spcBef>
                <a:spcPts val="0"/>
              </a:spcBef>
              <a:spcAft>
                <a:spcPts val="0"/>
              </a:spcAft>
              <a:buSzPts val="1800"/>
              <a:buChar char="•"/>
            </a:pPr>
            <a:r>
              <a:rPr lang="en-IN"/>
              <a:t>It provide an environment  to the user  to perform operation on the database  for creation, insertion, deletion, updating  and retrieval of data.</a:t>
            </a:r>
            <a:endParaRPr/>
          </a:p>
          <a:p>
            <a:pPr indent="0" lvl="0" marL="457200" rtl="0" algn="just">
              <a:lnSpc>
                <a:spcPct val="100000"/>
              </a:lnSpc>
              <a:spcBef>
                <a:spcPts val="0"/>
              </a:spcBef>
              <a:spcAft>
                <a:spcPts val="0"/>
              </a:spcAft>
              <a:buSzPts val="1800"/>
              <a:buNone/>
            </a:pPr>
            <a:r>
              <a:t/>
            </a:r>
            <a:endParaRPr/>
          </a:p>
          <a:p>
            <a:pPr indent="-342900" lvl="0" marL="457200" rtl="0" algn="just">
              <a:lnSpc>
                <a:spcPct val="100000"/>
              </a:lnSpc>
              <a:spcBef>
                <a:spcPts val="0"/>
              </a:spcBef>
              <a:spcAft>
                <a:spcPts val="0"/>
              </a:spcAft>
              <a:buSzPts val="1800"/>
              <a:buChar char="•"/>
            </a:pPr>
            <a:r>
              <a:rPr lang="en-IN">
                <a:solidFill>
                  <a:schemeClr val="dk1"/>
                </a:solidFill>
              </a:rPr>
              <a:t>A DBMS provides an interface between the </a:t>
            </a:r>
            <a:r>
              <a:rPr b="1" lang="en-IN">
                <a:solidFill>
                  <a:schemeClr val="dk1"/>
                </a:solidFill>
              </a:rPr>
              <a:t>user/application</a:t>
            </a:r>
            <a:r>
              <a:rPr lang="en-IN">
                <a:solidFill>
                  <a:schemeClr val="dk1"/>
                </a:solidFill>
              </a:rPr>
              <a:t> and the </a:t>
            </a:r>
            <a:r>
              <a:rPr b="1" lang="en-IN">
                <a:solidFill>
                  <a:schemeClr val="dk1"/>
                </a:solidFill>
              </a:rPr>
              <a:t>database</a:t>
            </a:r>
            <a:r>
              <a:rPr lang="en-IN">
                <a:solidFill>
                  <a:schemeClr val="dk1"/>
                </a:solidFill>
              </a:rPr>
              <a:t>. </a:t>
            </a:r>
            <a:endParaRPr>
              <a:solidFill>
                <a:schemeClr val="dk1"/>
              </a:solidFill>
            </a:endParaRPr>
          </a:p>
          <a:p>
            <a:pPr indent="0" lvl="0" marL="457200" rtl="0" algn="just">
              <a:lnSpc>
                <a:spcPct val="100000"/>
              </a:lnSpc>
              <a:spcBef>
                <a:spcPts val="0"/>
              </a:spcBef>
              <a:spcAft>
                <a:spcPts val="0"/>
              </a:spcAft>
              <a:buSzPts val="1800"/>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a:solidFill>
                  <a:schemeClr val="dk1"/>
                </a:solidFill>
              </a:rPr>
              <a:t>     Example:</a:t>
            </a:r>
            <a:r>
              <a:rPr lang="en-IN">
                <a:solidFill>
                  <a:schemeClr val="dk1"/>
                </a:solidFill>
              </a:rPr>
              <a:t> MySQL, Oracle, PostgreSQL, Microsoft SQL Server, and SQLite.</a:t>
            </a:r>
            <a:endParaRPr>
              <a:solidFill>
                <a:schemeClr val="dk1"/>
              </a:solidFill>
            </a:endParaRPr>
          </a:p>
          <a:p>
            <a:pPr indent="0" lvl="0" marL="457200" rtl="0" algn="just">
              <a:lnSpc>
                <a:spcPct val="100000"/>
              </a:lnSpc>
              <a:spcBef>
                <a:spcPts val="1200"/>
              </a:spcBef>
              <a:spcAft>
                <a:spcPts val="0"/>
              </a:spcAft>
              <a:buSzPts val="1800"/>
              <a:buNone/>
            </a:pPr>
            <a:r>
              <a:t/>
            </a:r>
            <a:endParaRPr sz="1100">
              <a:solidFill>
                <a:schemeClr val="dk1"/>
              </a:solidFill>
            </a:endParaRPr>
          </a:p>
          <a:p>
            <a:pPr indent="0" lvl="0" marL="457200" rtl="0" algn="just">
              <a:lnSpc>
                <a:spcPct val="100000"/>
              </a:lnSpc>
              <a:spcBef>
                <a:spcPts val="0"/>
              </a:spcBef>
              <a:spcAft>
                <a:spcPts val="0"/>
              </a:spcAft>
              <a:buSzPts val="1800"/>
              <a:buNone/>
            </a:pPr>
            <a:r>
              <a:t/>
            </a:r>
            <a:endParaRPr b="1" sz="2000">
              <a:latin typeface="Cambria"/>
              <a:ea typeface="Cambria"/>
              <a:cs typeface="Cambria"/>
              <a:sym typeface="Cambria"/>
            </a:endParaRPr>
          </a:p>
        </p:txBody>
      </p:sp>
      <p:pic>
        <p:nvPicPr>
          <p:cNvPr id="147" name="Google Shape;147;p2"/>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148" name="Google Shape;148;p2"/>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149" name="Google Shape;149;p2"/>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f93fd6275f_0_46"/>
          <p:cNvSpPr txBox="1"/>
          <p:nvPr>
            <p:ph type="title"/>
          </p:nvPr>
        </p:nvSpPr>
        <p:spPr>
          <a:xfrm>
            <a:off x="17664" y="5299"/>
            <a:ext cx="7522500" cy="9639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0" marR="66675" rtl="0" algn="ctr">
              <a:lnSpc>
                <a:spcPct val="100000"/>
              </a:lnSpc>
              <a:spcBef>
                <a:spcPts val="0"/>
              </a:spcBef>
              <a:spcAft>
                <a:spcPts val="0"/>
              </a:spcAft>
              <a:buClr>
                <a:schemeClr val="dk1"/>
              </a:buClr>
              <a:buSzPts val="1100"/>
              <a:buFont typeface="Arial"/>
              <a:buNone/>
            </a:pPr>
            <a:r>
              <a:rPr lang="en-IN" sz="1200">
                <a:solidFill>
                  <a:schemeClr val="dk1"/>
                </a:solidFill>
                <a:latin typeface="Times New Roman"/>
                <a:ea typeface="Times New Roman"/>
                <a:cs typeface="Times New Roman"/>
                <a:sym typeface="Times New Roman"/>
              </a:rPr>
              <a:t> </a:t>
            </a:r>
            <a:r>
              <a:rPr b="1" lang="en-IN" sz="3000">
                <a:solidFill>
                  <a:schemeClr val="dk1"/>
                </a:solidFill>
              </a:rPr>
              <a:t>Applications of DBMS</a:t>
            </a:r>
            <a:endParaRPr b="1" sz="3000"/>
          </a:p>
        </p:txBody>
      </p:sp>
      <p:sp>
        <p:nvSpPr>
          <p:cNvPr id="155" name="Google Shape;155;g3f93fd6275f_0_46"/>
          <p:cNvSpPr txBox="1"/>
          <p:nvPr>
            <p:ph idx="1" type="body"/>
          </p:nvPr>
        </p:nvSpPr>
        <p:spPr>
          <a:xfrm>
            <a:off x="17675" y="969200"/>
            <a:ext cx="6078300" cy="5888700"/>
          </a:xfrm>
          <a:prstGeom prst="rect">
            <a:avLst/>
          </a:prstGeom>
          <a:noFill/>
          <a:ln>
            <a:noFill/>
          </a:ln>
        </p:spPr>
        <p:txBody>
          <a:bodyPr anchorCtr="0" anchor="t" bIns="45700" lIns="91425" spcFirstLastPara="1" rIns="91425" wrap="square" tIns="45700">
            <a:noAutofit/>
          </a:bodyPr>
          <a:lstStyle/>
          <a:p>
            <a:pPr indent="-114300" lvl="0" marL="228600" rtl="0" algn="just">
              <a:lnSpc>
                <a:spcPct val="80000"/>
              </a:lnSpc>
              <a:spcBef>
                <a:spcPts val="0"/>
              </a:spcBef>
              <a:spcAft>
                <a:spcPts val="0"/>
              </a:spcAft>
              <a:buSzPts val="1800"/>
              <a:buNone/>
            </a:pPr>
            <a:r>
              <a:rPr b="1" lang="en-IN">
                <a:solidFill>
                  <a:schemeClr val="dk1"/>
                </a:solidFill>
              </a:rPr>
              <a:t>Banking- </a:t>
            </a:r>
            <a:r>
              <a:rPr lang="en-IN">
                <a:solidFill>
                  <a:schemeClr val="dk1"/>
                </a:solidFill>
              </a:rPr>
              <a:t>Stores customer accounts, transactions,          loans, and ATM records.</a:t>
            </a:r>
            <a:endParaRPr>
              <a:solidFill>
                <a:schemeClr val="dk1"/>
              </a:solidFill>
            </a:endParaRPr>
          </a:p>
          <a:p>
            <a:pPr indent="-342895" lvl="0" marL="457200" rtl="0" algn="l">
              <a:lnSpc>
                <a:spcPct val="95000"/>
              </a:lnSpc>
              <a:spcBef>
                <a:spcPts val="0"/>
              </a:spcBef>
              <a:spcAft>
                <a:spcPts val="0"/>
              </a:spcAft>
              <a:buClr>
                <a:schemeClr val="dk1"/>
              </a:buClr>
              <a:buSzPts val="1800"/>
              <a:buFont typeface="Bookman Old Style"/>
              <a:buChar char="●"/>
            </a:pPr>
            <a:r>
              <a:rPr lang="en-IN">
                <a:solidFill>
                  <a:schemeClr val="dk1"/>
                </a:solidFill>
              </a:rPr>
              <a:t>Ensures secure and accurate financial data management.</a:t>
            </a:r>
            <a:endParaRPr>
              <a:solidFill>
                <a:schemeClr val="dk1"/>
              </a:solidFill>
            </a:endParaRPr>
          </a:p>
          <a:p>
            <a:pPr indent="0" lvl="0" marL="0" rtl="0" algn="l">
              <a:lnSpc>
                <a:spcPct val="95000"/>
              </a:lnSpc>
              <a:spcBef>
                <a:spcPts val="1200"/>
              </a:spcBef>
              <a:spcAft>
                <a:spcPts val="0"/>
              </a:spcAft>
              <a:buSzPts val="1800"/>
              <a:buNone/>
            </a:pPr>
            <a:r>
              <a:rPr b="1" lang="en-IN">
                <a:solidFill>
                  <a:schemeClr val="dk1"/>
                </a:solidFill>
              </a:rPr>
              <a:t>Hospital Management-</a:t>
            </a:r>
            <a:r>
              <a:rPr lang="en-IN">
                <a:solidFill>
                  <a:schemeClr val="dk1"/>
                </a:solidFill>
              </a:rPr>
              <a:t>Maintains patient records, doctor details, appointments, and billing.</a:t>
            </a:r>
            <a:endParaRPr>
              <a:solidFill>
                <a:schemeClr val="dk1"/>
              </a:solidFill>
            </a:endParaRPr>
          </a:p>
          <a:p>
            <a:pPr indent="-342895" lvl="0" marL="457200" rtl="0" algn="l">
              <a:lnSpc>
                <a:spcPct val="95000"/>
              </a:lnSpc>
              <a:spcBef>
                <a:spcPts val="0"/>
              </a:spcBef>
              <a:spcAft>
                <a:spcPts val="0"/>
              </a:spcAft>
              <a:buClr>
                <a:schemeClr val="dk1"/>
              </a:buClr>
              <a:buSzPts val="1800"/>
              <a:buFont typeface="Bookman Old Style"/>
              <a:buChar char="●"/>
            </a:pPr>
            <a:r>
              <a:rPr lang="en-IN">
                <a:solidFill>
                  <a:schemeClr val="dk1"/>
                </a:solidFill>
              </a:rPr>
              <a:t>Helps improve healthcare services and data accessibility.</a:t>
            </a:r>
            <a:endParaRPr>
              <a:solidFill>
                <a:schemeClr val="dk1"/>
              </a:solidFill>
            </a:endParaRPr>
          </a:p>
          <a:p>
            <a:pPr indent="0" lvl="0" marL="0" rtl="0" algn="l">
              <a:lnSpc>
                <a:spcPct val="95000"/>
              </a:lnSpc>
              <a:spcBef>
                <a:spcPts val="1200"/>
              </a:spcBef>
              <a:spcAft>
                <a:spcPts val="0"/>
              </a:spcAft>
              <a:buSzPts val="1800"/>
              <a:buNone/>
            </a:pPr>
            <a:r>
              <a:rPr b="1" lang="en-IN">
                <a:solidFill>
                  <a:schemeClr val="dk1"/>
                </a:solidFill>
              </a:rPr>
              <a:t>Education-</a:t>
            </a:r>
            <a:r>
              <a:rPr lang="en-IN">
                <a:solidFill>
                  <a:schemeClr val="dk1"/>
                </a:solidFill>
              </a:rPr>
              <a:t>Manages student information, attendance, exams, grades, and fees.</a:t>
            </a:r>
            <a:endParaRPr>
              <a:solidFill>
                <a:schemeClr val="dk1"/>
              </a:solidFill>
            </a:endParaRPr>
          </a:p>
          <a:p>
            <a:pPr indent="-342895" lvl="0" marL="457200" rtl="0" algn="l">
              <a:lnSpc>
                <a:spcPct val="95000"/>
              </a:lnSpc>
              <a:spcBef>
                <a:spcPts val="0"/>
              </a:spcBef>
              <a:spcAft>
                <a:spcPts val="0"/>
              </a:spcAft>
              <a:buClr>
                <a:schemeClr val="dk1"/>
              </a:buClr>
              <a:buSzPts val="1800"/>
              <a:buFont typeface="Bookman Old Style"/>
              <a:buChar char="●"/>
            </a:pPr>
            <a:r>
              <a:rPr lang="en-IN">
                <a:solidFill>
                  <a:schemeClr val="dk1"/>
                </a:solidFill>
              </a:rPr>
              <a:t>Used by schools, colleges, and universities.</a:t>
            </a:r>
            <a:endParaRPr>
              <a:solidFill>
                <a:schemeClr val="dk1"/>
              </a:solidFill>
            </a:endParaRPr>
          </a:p>
          <a:p>
            <a:pPr indent="0" lvl="0" marL="0" rtl="0" algn="l">
              <a:lnSpc>
                <a:spcPct val="95000"/>
              </a:lnSpc>
              <a:spcBef>
                <a:spcPts val="1200"/>
              </a:spcBef>
              <a:spcAft>
                <a:spcPts val="0"/>
              </a:spcAft>
              <a:buSzPts val="1800"/>
              <a:buNone/>
            </a:pPr>
            <a:r>
              <a:rPr b="1" lang="en-IN">
                <a:solidFill>
                  <a:schemeClr val="dk1"/>
                </a:solidFill>
              </a:rPr>
              <a:t>Railway and Airline Reservation-</a:t>
            </a:r>
            <a:r>
              <a:rPr lang="en-IN">
                <a:solidFill>
                  <a:schemeClr val="dk1"/>
                </a:solidFill>
              </a:rPr>
              <a:t>Handles ticket booking, cancellations, schedules, and passenger details.</a:t>
            </a:r>
            <a:endParaRPr>
              <a:solidFill>
                <a:schemeClr val="dk1"/>
              </a:solidFill>
            </a:endParaRPr>
          </a:p>
          <a:p>
            <a:pPr indent="-342895" lvl="0" marL="457200" rtl="0" algn="l">
              <a:lnSpc>
                <a:spcPct val="95000"/>
              </a:lnSpc>
              <a:spcBef>
                <a:spcPts val="0"/>
              </a:spcBef>
              <a:spcAft>
                <a:spcPts val="0"/>
              </a:spcAft>
              <a:buClr>
                <a:schemeClr val="dk1"/>
              </a:buClr>
              <a:buSzPts val="1800"/>
              <a:buFont typeface="Bookman Old Style"/>
              <a:buChar char="●"/>
            </a:pPr>
            <a:r>
              <a:rPr lang="en-IN">
                <a:solidFill>
                  <a:schemeClr val="dk1"/>
                </a:solidFill>
              </a:rPr>
              <a:t>Supports real-time seat availability.</a:t>
            </a:r>
            <a:endParaRPr>
              <a:solidFill>
                <a:schemeClr val="dk1"/>
              </a:solidFill>
            </a:endParaRPr>
          </a:p>
          <a:p>
            <a:pPr indent="0" lvl="0" marL="0" rtl="0" algn="l">
              <a:lnSpc>
                <a:spcPct val="95000"/>
              </a:lnSpc>
              <a:spcBef>
                <a:spcPts val="1200"/>
              </a:spcBef>
              <a:spcAft>
                <a:spcPts val="0"/>
              </a:spcAft>
              <a:buSzPts val="1800"/>
              <a:buNone/>
            </a:pPr>
            <a:r>
              <a:rPr b="1" lang="en-IN">
                <a:solidFill>
                  <a:schemeClr val="dk1"/>
                </a:solidFill>
              </a:rPr>
              <a:t>E-commerce-</a:t>
            </a:r>
            <a:r>
              <a:rPr lang="en-IN">
                <a:solidFill>
                  <a:schemeClr val="dk1"/>
                </a:solidFill>
              </a:rPr>
              <a:t>Stores product details, customer information, orders, and payment records.</a:t>
            </a:r>
            <a:endParaRPr>
              <a:solidFill>
                <a:schemeClr val="dk1"/>
              </a:solidFill>
            </a:endParaRPr>
          </a:p>
          <a:p>
            <a:pPr indent="-342895" lvl="0" marL="457200" rtl="0" algn="l">
              <a:lnSpc>
                <a:spcPct val="95000"/>
              </a:lnSpc>
              <a:spcBef>
                <a:spcPts val="0"/>
              </a:spcBef>
              <a:spcAft>
                <a:spcPts val="0"/>
              </a:spcAft>
              <a:buClr>
                <a:schemeClr val="dk1"/>
              </a:buClr>
              <a:buSzPts val="1800"/>
              <a:buFont typeface="Bookman Old Style"/>
              <a:buChar char="●"/>
            </a:pPr>
            <a:r>
              <a:rPr lang="en-IN">
                <a:solidFill>
                  <a:schemeClr val="dk1"/>
                </a:solidFill>
              </a:rPr>
              <a:t>Enables efficient online shopping and inventory management.</a:t>
            </a:r>
            <a:endParaRPr>
              <a:solidFill>
                <a:schemeClr val="dk1"/>
              </a:solidFill>
            </a:endParaRPr>
          </a:p>
          <a:p>
            <a:pPr indent="0" lvl="0" marL="457200" rtl="0" algn="just">
              <a:lnSpc>
                <a:spcPct val="80000"/>
              </a:lnSpc>
              <a:spcBef>
                <a:spcPts val="1200"/>
              </a:spcBef>
              <a:spcAft>
                <a:spcPts val="0"/>
              </a:spcAft>
              <a:buSzPts val="1800"/>
              <a:buNone/>
            </a:pPr>
            <a:r>
              <a:t/>
            </a:r>
            <a:endParaRPr b="1" sz="500">
              <a:latin typeface="Cambria"/>
              <a:ea typeface="Cambria"/>
              <a:cs typeface="Cambria"/>
              <a:sym typeface="Cambria"/>
            </a:endParaRPr>
          </a:p>
        </p:txBody>
      </p:sp>
      <p:pic>
        <p:nvPicPr>
          <p:cNvPr id="156" name="Google Shape;156;g3f93fd6275f_0_46"/>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157" name="Google Shape;157;g3f93fd6275f_0_46"/>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158" name="Google Shape;158;g3f93fd6275f_0_46"/>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159" name="Google Shape;159;g3f93fd6275f_0_46"/>
          <p:cNvSpPr txBox="1"/>
          <p:nvPr>
            <p:ph idx="1" type="body"/>
          </p:nvPr>
        </p:nvSpPr>
        <p:spPr>
          <a:xfrm>
            <a:off x="6096000" y="969200"/>
            <a:ext cx="5784900" cy="58887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SzPct val="100000"/>
              <a:buNone/>
            </a:pPr>
            <a:r>
              <a:rPr b="1" lang="en-IN" sz="7200">
                <a:solidFill>
                  <a:schemeClr val="dk1"/>
                </a:solidFill>
              </a:rPr>
              <a:t>Library Management-</a:t>
            </a:r>
            <a:r>
              <a:rPr lang="en-IN" sz="7200">
                <a:solidFill>
                  <a:schemeClr val="dk1"/>
                </a:solidFill>
              </a:rPr>
              <a:t>Keeps records of books, members, borrowing, and returns.</a:t>
            </a:r>
            <a:endParaRPr sz="7200">
              <a:solidFill>
                <a:schemeClr val="dk1"/>
              </a:solidFill>
            </a:endParaRPr>
          </a:p>
          <a:p>
            <a:pPr indent="-342895" lvl="0" marL="457200" rtl="0" algn="l">
              <a:lnSpc>
                <a:spcPct val="115000"/>
              </a:lnSpc>
              <a:spcBef>
                <a:spcPts val="0"/>
              </a:spcBef>
              <a:spcAft>
                <a:spcPts val="0"/>
              </a:spcAft>
              <a:buClr>
                <a:schemeClr val="dk1"/>
              </a:buClr>
              <a:buSzPct val="100000"/>
              <a:buFont typeface="Bookman Old Style"/>
              <a:buChar char="●"/>
            </a:pPr>
            <a:r>
              <a:rPr lang="en-IN" sz="7200">
                <a:solidFill>
                  <a:schemeClr val="dk1"/>
                </a:solidFill>
              </a:rPr>
              <a:t>Reduces manual work and improves tracking.</a:t>
            </a:r>
            <a:endParaRPr sz="7200">
              <a:solidFill>
                <a:schemeClr val="dk1"/>
              </a:solidFill>
            </a:endParaRPr>
          </a:p>
          <a:p>
            <a:pPr indent="0" lvl="0" marL="0" rtl="0" algn="l">
              <a:lnSpc>
                <a:spcPct val="115000"/>
              </a:lnSpc>
              <a:spcBef>
                <a:spcPts val="1200"/>
              </a:spcBef>
              <a:spcAft>
                <a:spcPts val="0"/>
              </a:spcAft>
              <a:buSzPct val="100000"/>
              <a:buNone/>
            </a:pPr>
            <a:r>
              <a:rPr b="1" lang="en-IN" sz="7200">
                <a:solidFill>
                  <a:schemeClr val="dk1"/>
                </a:solidFill>
              </a:rPr>
              <a:t>Telecommunication-</a:t>
            </a:r>
            <a:r>
              <a:rPr lang="en-IN" sz="7200">
                <a:solidFill>
                  <a:schemeClr val="dk1"/>
                </a:solidFill>
              </a:rPr>
              <a:t>Manages customer data, call records, billing, and recharge information.</a:t>
            </a:r>
            <a:endParaRPr sz="7200">
              <a:solidFill>
                <a:schemeClr val="dk1"/>
              </a:solidFill>
            </a:endParaRPr>
          </a:p>
          <a:p>
            <a:pPr indent="-342895" lvl="0" marL="457200" rtl="0" algn="l">
              <a:lnSpc>
                <a:spcPct val="115000"/>
              </a:lnSpc>
              <a:spcBef>
                <a:spcPts val="0"/>
              </a:spcBef>
              <a:spcAft>
                <a:spcPts val="0"/>
              </a:spcAft>
              <a:buClr>
                <a:schemeClr val="dk1"/>
              </a:buClr>
              <a:buSzPct val="100000"/>
              <a:buFont typeface="Bookman Old Style"/>
              <a:buChar char="●"/>
            </a:pPr>
            <a:r>
              <a:rPr lang="en-IN" sz="7200">
                <a:solidFill>
                  <a:schemeClr val="dk1"/>
                </a:solidFill>
              </a:rPr>
              <a:t>Supports millions of users efficiently.</a:t>
            </a:r>
            <a:endParaRPr sz="7200">
              <a:solidFill>
                <a:schemeClr val="dk1"/>
              </a:solidFill>
            </a:endParaRPr>
          </a:p>
          <a:p>
            <a:pPr indent="0" lvl="0" marL="0" rtl="0" algn="l">
              <a:lnSpc>
                <a:spcPct val="115000"/>
              </a:lnSpc>
              <a:spcBef>
                <a:spcPts val="1200"/>
              </a:spcBef>
              <a:spcAft>
                <a:spcPts val="0"/>
              </a:spcAft>
              <a:buSzPct val="100000"/>
              <a:buNone/>
            </a:pPr>
            <a:r>
              <a:rPr b="1" lang="en-IN" sz="7200">
                <a:solidFill>
                  <a:schemeClr val="dk1"/>
                </a:solidFill>
              </a:rPr>
              <a:t>Retail and Inventory Management-</a:t>
            </a:r>
            <a:r>
              <a:rPr lang="en-IN" sz="7200">
                <a:solidFill>
                  <a:schemeClr val="dk1"/>
                </a:solidFill>
              </a:rPr>
              <a:t>Tracks products, stock levels, sales, and supplier information.</a:t>
            </a:r>
            <a:endParaRPr sz="7200">
              <a:solidFill>
                <a:schemeClr val="dk1"/>
              </a:solidFill>
            </a:endParaRPr>
          </a:p>
          <a:p>
            <a:pPr indent="-342895" lvl="0" marL="457200" rtl="0" algn="l">
              <a:lnSpc>
                <a:spcPct val="115000"/>
              </a:lnSpc>
              <a:spcBef>
                <a:spcPts val="0"/>
              </a:spcBef>
              <a:spcAft>
                <a:spcPts val="0"/>
              </a:spcAft>
              <a:buClr>
                <a:schemeClr val="dk1"/>
              </a:buClr>
              <a:buSzPct val="100000"/>
              <a:buFont typeface="Bookman Old Style"/>
              <a:buChar char="●"/>
            </a:pPr>
            <a:r>
              <a:rPr lang="en-IN" sz="7200">
                <a:solidFill>
                  <a:schemeClr val="dk1"/>
                </a:solidFill>
              </a:rPr>
              <a:t>Helps prevent overstocking or stock shortages.</a:t>
            </a:r>
            <a:endParaRPr sz="7200">
              <a:solidFill>
                <a:schemeClr val="dk1"/>
              </a:solidFill>
            </a:endParaRPr>
          </a:p>
          <a:p>
            <a:pPr indent="0" lvl="0" marL="0" rtl="0" algn="l">
              <a:lnSpc>
                <a:spcPct val="115000"/>
              </a:lnSpc>
              <a:spcBef>
                <a:spcPts val="1200"/>
              </a:spcBef>
              <a:spcAft>
                <a:spcPts val="0"/>
              </a:spcAft>
              <a:buSzPct val="100000"/>
              <a:buNone/>
            </a:pPr>
            <a:r>
              <a:rPr b="1" lang="en-IN" sz="7200">
                <a:solidFill>
                  <a:schemeClr val="dk1"/>
                </a:solidFill>
              </a:rPr>
              <a:t>Human Resource Management (HRM)-</a:t>
            </a:r>
            <a:r>
              <a:rPr lang="en-IN" sz="7200">
                <a:solidFill>
                  <a:schemeClr val="dk1"/>
                </a:solidFill>
              </a:rPr>
              <a:t>Stores employee details, payroll, attendance, and performance records.</a:t>
            </a:r>
            <a:endParaRPr sz="7200">
              <a:solidFill>
                <a:schemeClr val="dk1"/>
              </a:solidFill>
            </a:endParaRPr>
          </a:p>
          <a:p>
            <a:pPr indent="-342895" lvl="0" marL="457200" rtl="0" algn="l">
              <a:lnSpc>
                <a:spcPct val="115000"/>
              </a:lnSpc>
              <a:spcBef>
                <a:spcPts val="0"/>
              </a:spcBef>
              <a:spcAft>
                <a:spcPts val="0"/>
              </a:spcAft>
              <a:buClr>
                <a:schemeClr val="dk1"/>
              </a:buClr>
              <a:buSzPct val="100000"/>
              <a:buFont typeface="Bookman Old Style"/>
              <a:buChar char="●"/>
            </a:pPr>
            <a:r>
              <a:rPr lang="en-IN" sz="7200">
                <a:solidFill>
                  <a:schemeClr val="dk1"/>
                </a:solidFill>
              </a:rPr>
              <a:t>Simplifies workforce management.</a:t>
            </a:r>
            <a:endParaRPr sz="7200">
              <a:solidFill>
                <a:schemeClr val="dk1"/>
              </a:solidFill>
            </a:endParaRPr>
          </a:p>
          <a:p>
            <a:pPr indent="0" lvl="0" marL="0" rtl="0" algn="l">
              <a:lnSpc>
                <a:spcPct val="115000"/>
              </a:lnSpc>
              <a:spcBef>
                <a:spcPts val="1200"/>
              </a:spcBef>
              <a:spcAft>
                <a:spcPts val="0"/>
              </a:spcAft>
              <a:buSzPct val="100000"/>
              <a:buNone/>
            </a:pPr>
            <a:r>
              <a:rPr b="1" lang="en-IN" sz="7200">
                <a:solidFill>
                  <a:schemeClr val="dk1"/>
                </a:solidFill>
              </a:rPr>
              <a:t>Government Organizations-</a:t>
            </a:r>
            <a:r>
              <a:rPr lang="en-IN" sz="7200">
                <a:solidFill>
                  <a:schemeClr val="dk1"/>
                </a:solidFill>
              </a:rPr>
              <a:t>Maintains records such as voter IDs, passports, tax information, and census data.</a:t>
            </a:r>
            <a:endParaRPr sz="7200">
              <a:solidFill>
                <a:schemeClr val="dk1"/>
              </a:solidFill>
            </a:endParaRPr>
          </a:p>
          <a:p>
            <a:pPr indent="-342895" lvl="0" marL="457200" rtl="0" algn="l">
              <a:lnSpc>
                <a:spcPct val="115000"/>
              </a:lnSpc>
              <a:spcBef>
                <a:spcPts val="0"/>
              </a:spcBef>
              <a:spcAft>
                <a:spcPts val="0"/>
              </a:spcAft>
              <a:buClr>
                <a:schemeClr val="dk1"/>
              </a:buClr>
              <a:buSzPct val="100000"/>
              <a:buFont typeface="Bookman Old Style"/>
              <a:buChar char="●"/>
            </a:pPr>
            <a:r>
              <a:rPr lang="en-IN" sz="7200">
                <a:solidFill>
                  <a:schemeClr val="dk1"/>
                </a:solidFill>
              </a:rPr>
              <a:t>Improves public service efficiency and data security.</a:t>
            </a:r>
            <a:endParaRPr sz="7200">
              <a:solidFill>
                <a:schemeClr val="dk1"/>
              </a:solidFill>
            </a:endParaRPr>
          </a:p>
          <a:p>
            <a:pPr indent="-168397" lvl="0" marL="228600" rtl="0" algn="just">
              <a:lnSpc>
                <a:spcPct val="100000"/>
              </a:lnSpc>
              <a:spcBef>
                <a:spcPts val="0"/>
              </a:spcBef>
              <a:spcAft>
                <a:spcPts val="0"/>
              </a:spcAft>
              <a:buSzPct val="100000"/>
              <a:buFont typeface="Cambria"/>
              <a:buChar char="●"/>
            </a:pPr>
            <a:r>
              <a:t/>
            </a:r>
            <a:endParaRPr b="1" sz="3408">
              <a:latin typeface="Cambria"/>
              <a:ea typeface="Cambria"/>
              <a:cs typeface="Cambria"/>
              <a:sym typeface="Cambria"/>
            </a:endParaRPr>
          </a:p>
          <a:p>
            <a:pPr indent="0" lvl="0" marL="457200" rtl="0" algn="just">
              <a:lnSpc>
                <a:spcPct val="100000"/>
              </a:lnSpc>
              <a:spcBef>
                <a:spcPts val="0"/>
              </a:spcBef>
              <a:spcAft>
                <a:spcPts val="0"/>
              </a:spcAft>
              <a:buSzPct val="360000"/>
              <a:buNone/>
            </a:pPr>
            <a:r>
              <a:t/>
            </a:r>
            <a:endParaRPr b="1" sz="2000">
              <a:latin typeface="Cambria"/>
              <a:ea typeface="Cambria"/>
              <a:cs typeface="Cambria"/>
              <a:sym typeface="Cambria"/>
            </a:endParaRPr>
          </a:p>
          <a:p>
            <a:pPr indent="0" lvl="0" marL="457200" rtl="0" algn="just">
              <a:lnSpc>
                <a:spcPct val="100000"/>
              </a:lnSpc>
              <a:spcBef>
                <a:spcPts val="0"/>
              </a:spcBef>
              <a:spcAft>
                <a:spcPts val="0"/>
              </a:spcAft>
              <a:buSzPct val="360000"/>
              <a:buNone/>
            </a:pPr>
            <a:r>
              <a:t/>
            </a:r>
            <a:endParaRPr b="1" sz="20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txBox="1"/>
          <p:nvPr>
            <p:ph idx="1" type="body"/>
          </p:nvPr>
        </p:nvSpPr>
        <p:spPr>
          <a:xfrm>
            <a:off x="644575" y="1198274"/>
            <a:ext cx="5141700" cy="704100"/>
          </a:xfrm>
          <a:prstGeom prst="rect">
            <a:avLst/>
          </a:prstGeom>
          <a:noFill/>
          <a:ln>
            <a:noFill/>
          </a:ln>
        </p:spPr>
        <p:txBody>
          <a:bodyPr anchorCtr="1" anchor="b" bIns="45700" lIns="91425" spcFirstLastPara="1" rIns="91425" wrap="square" tIns="45700">
            <a:normAutofit/>
          </a:bodyPr>
          <a:lstStyle/>
          <a:p>
            <a:pPr indent="0" lvl="0" marL="0" rtl="0" algn="ctr">
              <a:lnSpc>
                <a:spcPct val="100000"/>
              </a:lnSpc>
              <a:spcBef>
                <a:spcPts val="0"/>
              </a:spcBef>
              <a:spcAft>
                <a:spcPts val="0"/>
              </a:spcAft>
              <a:buSzPts val="1900"/>
              <a:buNone/>
            </a:pPr>
            <a:r>
              <a:rPr b="1" lang="en-IN" sz="2000">
                <a:solidFill>
                  <a:schemeClr val="dk1"/>
                </a:solidFill>
                <a:latin typeface="Cambria"/>
                <a:ea typeface="Cambria"/>
                <a:cs typeface="Cambria"/>
                <a:sym typeface="Cambria"/>
              </a:rPr>
              <a:t>FILE SYSTEM</a:t>
            </a:r>
            <a:endParaRPr b="1" sz="2000">
              <a:solidFill>
                <a:schemeClr val="dk1"/>
              </a:solidFill>
              <a:latin typeface="Cambria"/>
              <a:ea typeface="Cambria"/>
              <a:cs typeface="Cambria"/>
              <a:sym typeface="Cambria"/>
            </a:endParaRPr>
          </a:p>
        </p:txBody>
      </p:sp>
      <p:sp>
        <p:nvSpPr>
          <p:cNvPr id="165" name="Google Shape;165;p4"/>
          <p:cNvSpPr txBox="1"/>
          <p:nvPr>
            <p:ph idx="2" type="body"/>
          </p:nvPr>
        </p:nvSpPr>
        <p:spPr>
          <a:xfrm>
            <a:off x="206625" y="1902450"/>
            <a:ext cx="5579700" cy="48474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0"/>
              </a:spcBef>
              <a:spcAft>
                <a:spcPts val="0"/>
              </a:spcAft>
              <a:buSzPts val="1800"/>
              <a:buChar char="•"/>
            </a:pPr>
            <a:r>
              <a:rPr lang="en-IN"/>
              <a:t>File system is a collection of data. In this system, the user has to write the procedures for managing the database. </a:t>
            </a:r>
            <a:endParaRPr/>
          </a:p>
          <a:p>
            <a:pPr indent="-342900" lvl="0" marL="457200" rtl="0" algn="just">
              <a:lnSpc>
                <a:spcPct val="100000"/>
              </a:lnSpc>
              <a:spcBef>
                <a:spcPts val="0"/>
              </a:spcBef>
              <a:spcAft>
                <a:spcPts val="0"/>
              </a:spcAft>
              <a:buSzPts val="1800"/>
              <a:buChar char="•"/>
            </a:pPr>
            <a:r>
              <a:rPr lang="en-IN"/>
              <a:t>File system provides the detail of the data representation and storage of data. </a:t>
            </a:r>
            <a:endParaRPr/>
          </a:p>
          <a:p>
            <a:pPr indent="-342900" lvl="0" marL="457200" rtl="0" algn="just">
              <a:lnSpc>
                <a:spcPct val="100000"/>
              </a:lnSpc>
              <a:spcBef>
                <a:spcPts val="0"/>
              </a:spcBef>
              <a:spcAft>
                <a:spcPts val="0"/>
              </a:spcAft>
              <a:buSzPts val="1800"/>
              <a:buChar char="•"/>
            </a:pPr>
            <a:r>
              <a:rPr lang="en-IN"/>
              <a:t>File system doesn't have a crash mechanism, i.e., if the system crashes while entering some data, then the content of the file will lost. </a:t>
            </a:r>
            <a:endParaRPr/>
          </a:p>
          <a:p>
            <a:pPr indent="-342900" lvl="0" marL="457200" rtl="0" algn="just">
              <a:lnSpc>
                <a:spcPct val="100000"/>
              </a:lnSpc>
              <a:spcBef>
                <a:spcPts val="0"/>
              </a:spcBef>
              <a:spcAft>
                <a:spcPts val="0"/>
              </a:spcAft>
              <a:buSzPts val="1800"/>
              <a:buChar char="•"/>
            </a:pPr>
            <a:r>
              <a:rPr lang="en-IN"/>
              <a:t>It is very difficult to protect a file under the file system. </a:t>
            </a:r>
            <a:endParaRPr/>
          </a:p>
          <a:p>
            <a:pPr indent="-342900" lvl="0" marL="457200" rtl="0" algn="just">
              <a:lnSpc>
                <a:spcPct val="100000"/>
              </a:lnSpc>
              <a:spcBef>
                <a:spcPts val="0"/>
              </a:spcBef>
              <a:spcAft>
                <a:spcPts val="0"/>
              </a:spcAft>
              <a:buSzPts val="1800"/>
              <a:buChar char="•"/>
            </a:pPr>
            <a:r>
              <a:rPr lang="en-IN"/>
              <a:t>File system can't efficiently store and retrieve the data. </a:t>
            </a:r>
            <a:endParaRPr/>
          </a:p>
          <a:p>
            <a:pPr indent="-342900" lvl="0" marL="457200" rtl="0" algn="just">
              <a:lnSpc>
                <a:spcPct val="100000"/>
              </a:lnSpc>
              <a:spcBef>
                <a:spcPts val="0"/>
              </a:spcBef>
              <a:spcAft>
                <a:spcPts val="0"/>
              </a:spcAft>
              <a:buSzPts val="1800"/>
              <a:buChar char="•"/>
            </a:pPr>
            <a:r>
              <a:rPr lang="en-IN"/>
              <a:t>In the File system, concurrent access has many problems like redirecting the file while other deleting some information or updating some information. </a:t>
            </a:r>
            <a:endParaRPr/>
          </a:p>
        </p:txBody>
      </p:sp>
      <p:sp>
        <p:nvSpPr>
          <p:cNvPr id="166" name="Google Shape;166;p4"/>
          <p:cNvSpPr txBox="1"/>
          <p:nvPr>
            <p:ph idx="3" type="body"/>
          </p:nvPr>
        </p:nvSpPr>
        <p:spPr>
          <a:xfrm>
            <a:off x="6405800" y="1957712"/>
            <a:ext cx="5016600" cy="4260300"/>
          </a:xfrm>
          <a:prstGeom prst="rect">
            <a:avLst/>
          </a:prstGeom>
          <a:noFill/>
          <a:ln>
            <a:noFill/>
          </a:ln>
        </p:spPr>
        <p:txBody>
          <a:bodyPr anchorCtr="0" anchor="t" bIns="45700" lIns="91425" spcFirstLastPara="1" rIns="91425" wrap="square" tIns="45700">
            <a:normAutofit lnSpcReduction="10000"/>
          </a:bodyPr>
          <a:lstStyle/>
          <a:p>
            <a:pPr indent="-342900" lvl="0" marL="457200" rtl="0" algn="just">
              <a:lnSpc>
                <a:spcPct val="100000"/>
              </a:lnSpc>
              <a:spcBef>
                <a:spcPts val="0"/>
              </a:spcBef>
              <a:spcAft>
                <a:spcPts val="0"/>
              </a:spcAft>
              <a:buSzPts val="1800"/>
              <a:buFont typeface="Bookman Old Style"/>
              <a:buChar char="•"/>
            </a:pPr>
            <a:r>
              <a:rPr lang="en-IN"/>
              <a:t>DBMS is a collection of data. In DBMS, the user is not required to write the procedures. </a:t>
            </a:r>
            <a:endParaRPr/>
          </a:p>
          <a:p>
            <a:pPr indent="-342900" lvl="0" marL="457200" rtl="0" algn="just">
              <a:lnSpc>
                <a:spcPct val="100000"/>
              </a:lnSpc>
              <a:spcBef>
                <a:spcPts val="0"/>
              </a:spcBef>
              <a:spcAft>
                <a:spcPts val="0"/>
              </a:spcAft>
              <a:buSzPts val="1800"/>
              <a:buFont typeface="Bookman Old Style"/>
              <a:buChar char="•"/>
            </a:pPr>
            <a:r>
              <a:rPr lang="en-IN"/>
              <a:t>DBMS gives an abstract view of data that hides the details. </a:t>
            </a:r>
            <a:endParaRPr/>
          </a:p>
          <a:p>
            <a:pPr indent="-342900" lvl="0" marL="457200" rtl="0" algn="just">
              <a:lnSpc>
                <a:spcPct val="100000"/>
              </a:lnSpc>
              <a:spcBef>
                <a:spcPts val="0"/>
              </a:spcBef>
              <a:spcAft>
                <a:spcPts val="0"/>
              </a:spcAft>
              <a:buSzPts val="1800"/>
              <a:buFont typeface="Bookman Old Style"/>
              <a:buChar char="•"/>
            </a:pPr>
            <a:r>
              <a:rPr lang="en-IN"/>
              <a:t>DBMS provides a crash recovery mechanism, i.e., DBMS protects the user from the system failure. </a:t>
            </a:r>
            <a:endParaRPr/>
          </a:p>
          <a:p>
            <a:pPr indent="-342900" lvl="0" marL="457200" rtl="0" algn="just">
              <a:lnSpc>
                <a:spcPct val="100000"/>
              </a:lnSpc>
              <a:spcBef>
                <a:spcPts val="0"/>
              </a:spcBef>
              <a:spcAft>
                <a:spcPts val="0"/>
              </a:spcAft>
              <a:buSzPts val="1800"/>
              <a:buFont typeface="Bookman Old Style"/>
              <a:buChar char="•"/>
            </a:pPr>
            <a:r>
              <a:rPr lang="en-IN"/>
              <a:t>DBMS provides a good protection mechanism. </a:t>
            </a:r>
            <a:endParaRPr/>
          </a:p>
          <a:p>
            <a:pPr indent="-342900" lvl="0" marL="457200" rtl="0" algn="just">
              <a:lnSpc>
                <a:spcPct val="100000"/>
              </a:lnSpc>
              <a:spcBef>
                <a:spcPts val="0"/>
              </a:spcBef>
              <a:spcAft>
                <a:spcPts val="0"/>
              </a:spcAft>
              <a:buSzPts val="1800"/>
              <a:buFont typeface="Bookman Old Style"/>
              <a:buChar char="•"/>
            </a:pPr>
            <a:r>
              <a:rPr lang="en-IN"/>
              <a:t>DBMS contains a wide variety of sophisticated techniques to store and retrieve the data. </a:t>
            </a:r>
            <a:endParaRPr/>
          </a:p>
          <a:p>
            <a:pPr indent="-355600" lvl="0" marL="457200" rtl="0" algn="just">
              <a:lnSpc>
                <a:spcPct val="100000"/>
              </a:lnSpc>
              <a:spcBef>
                <a:spcPts val="0"/>
              </a:spcBef>
              <a:spcAft>
                <a:spcPts val="0"/>
              </a:spcAft>
              <a:buSzPts val="2000"/>
              <a:buFont typeface="Cambria"/>
              <a:buChar char="•"/>
            </a:pPr>
            <a:r>
              <a:rPr lang="en-IN"/>
              <a:t>DBMS takes care of Concurrent access of data using some form of locking.</a:t>
            </a:r>
            <a:r>
              <a:rPr lang="en-IN" sz="2000">
                <a:latin typeface="Cambria"/>
                <a:ea typeface="Cambria"/>
                <a:cs typeface="Cambria"/>
                <a:sym typeface="Cambria"/>
              </a:rPr>
              <a:t> </a:t>
            </a:r>
            <a:endParaRPr sz="2000">
              <a:latin typeface="Cambria"/>
              <a:ea typeface="Cambria"/>
              <a:cs typeface="Cambria"/>
              <a:sym typeface="Cambria"/>
            </a:endParaRPr>
          </a:p>
        </p:txBody>
      </p:sp>
      <p:sp>
        <p:nvSpPr>
          <p:cNvPr id="167" name="Google Shape;167;p4"/>
          <p:cNvSpPr txBox="1"/>
          <p:nvPr>
            <p:ph idx="4" type="body"/>
          </p:nvPr>
        </p:nvSpPr>
        <p:spPr>
          <a:xfrm>
            <a:off x="6390800" y="1213951"/>
            <a:ext cx="5031600" cy="688500"/>
          </a:xfrm>
          <a:prstGeom prst="rect">
            <a:avLst/>
          </a:prstGeom>
          <a:noFill/>
          <a:ln>
            <a:noFill/>
          </a:ln>
        </p:spPr>
        <p:txBody>
          <a:bodyPr anchorCtr="1" anchor="b" bIns="45700" lIns="91425" spcFirstLastPara="1" rIns="91425" wrap="square" tIns="45700">
            <a:normAutofit/>
          </a:bodyPr>
          <a:lstStyle/>
          <a:p>
            <a:pPr indent="0" lvl="0" marL="0" rtl="0" algn="ctr">
              <a:lnSpc>
                <a:spcPct val="100000"/>
              </a:lnSpc>
              <a:spcBef>
                <a:spcPts val="0"/>
              </a:spcBef>
              <a:spcAft>
                <a:spcPts val="0"/>
              </a:spcAft>
              <a:buSzPts val="1900"/>
              <a:buNone/>
            </a:pPr>
            <a:r>
              <a:rPr b="1" lang="en-IN" sz="2000">
                <a:solidFill>
                  <a:schemeClr val="dk1"/>
                </a:solidFill>
                <a:latin typeface="Cambria"/>
                <a:ea typeface="Cambria"/>
                <a:cs typeface="Cambria"/>
                <a:sym typeface="Cambria"/>
              </a:rPr>
              <a:t>DBMS</a:t>
            </a:r>
            <a:endParaRPr b="1" sz="2000">
              <a:solidFill>
                <a:schemeClr val="dk1"/>
              </a:solidFill>
              <a:latin typeface="Cambria"/>
              <a:ea typeface="Cambria"/>
              <a:cs typeface="Cambria"/>
              <a:sym typeface="Cambria"/>
            </a:endParaRPr>
          </a:p>
        </p:txBody>
      </p:sp>
      <p:sp>
        <p:nvSpPr>
          <p:cNvPr id="168" name="Google Shape;168;p4"/>
          <p:cNvSpPr txBox="1"/>
          <p:nvPr>
            <p:ph type="title"/>
          </p:nvPr>
        </p:nvSpPr>
        <p:spPr>
          <a:xfrm>
            <a:off x="0" y="0"/>
            <a:ext cx="7540052"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2800"/>
              <a:buNone/>
            </a:pPr>
            <a:r>
              <a:rPr b="1" lang="en-IN" sz="3100">
                <a:latin typeface="Cambria"/>
                <a:ea typeface="Cambria"/>
                <a:cs typeface="Cambria"/>
                <a:sym typeface="Cambria"/>
              </a:rPr>
              <a:t>FILE SYSTEM V/S DBMS </a:t>
            </a:r>
            <a:endParaRPr sz="3100"/>
          </a:p>
        </p:txBody>
      </p:sp>
      <p:sp>
        <p:nvSpPr>
          <p:cNvPr id="169" name="Google Shape;169;p4"/>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70" name="Google Shape;170;p4"/>
          <p:cNvPicPr preferRelativeResize="0"/>
          <p:nvPr/>
        </p:nvPicPr>
        <p:blipFill rotWithShape="1">
          <a:blip r:embed="rId3">
            <a:alphaModFix/>
          </a:blip>
          <a:srcRect b="0" l="0" r="0" t="0"/>
          <a:stretch/>
        </p:blipFill>
        <p:spPr>
          <a:xfrm>
            <a:off x="9248931" y="0"/>
            <a:ext cx="2943069" cy="704087"/>
          </a:xfrm>
          <a:prstGeom prst="rect">
            <a:avLst/>
          </a:prstGeom>
          <a:noFill/>
          <a:ln>
            <a:noFill/>
          </a:ln>
        </p:spPr>
      </p:pic>
      <p:pic>
        <p:nvPicPr>
          <p:cNvPr id="171" name="Google Shape;171;p4"/>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f56c74d67c_0_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l">
              <a:lnSpc>
                <a:spcPct val="125000"/>
              </a:lnSpc>
              <a:spcBef>
                <a:spcPts val="0"/>
              </a:spcBef>
              <a:spcAft>
                <a:spcPts val="0"/>
              </a:spcAft>
              <a:buClr>
                <a:schemeClr val="dk1"/>
              </a:buClr>
              <a:buSzPct val="35484"/>
              <a:buFont typeface="Arial"/>
              <a:buNone/>
            </a:pPr>
            <a:r>
              <a:rPr b="1" lang="en-IN" sz="3100">
                <a:solidFill>
                  <a:srgbClr val="273239"/>
                </a:solidFill>
                <a:highlight>
                  <a:srgbClr val="FFFFFF"/>
                </a:highlight>
                <a:latin typeface="Arial"/>
                <a:ea typeface="Arial"/>
                <a:cs typeface="Arial"/>
                <a:sym typeface="Arial"/>
              </a:rPr>
              <a:t> </a:t>
            </a:r>
            <a:r>
              <a:rPr b="1" lang="en-IN" sz="3300">
                <a:solidFill>
                  <a:srgbClr val="273239"/>
                </a:solidFill>
                <a:highlight>
                  <a:srgbClr val="FFFFFF"/>
                </a:highlight>
              </a:rPr>
              <a:t>Data Independence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177" name="Google Shape;177;g3f56c74d67c_0_8"/>
          <p:cNvSpPr txBox="1"/>
          <p:nvPr>
            <p:ph idx="1" type="body"/>
          </p:nvPr>
        </p:nvSpPr>
        <p:spPr>
          <a:xfrm>
            <a:off x="196850" y="1346200"/>
            <a:ext cx="11043300" cy="3453300"/>
          </a:xfrm>
          <a:prstGeom prst="rect">
            <a:avLst/>
          </a:prstGeom>
          <a:noFill/>
          <a:ln>
            <a:noFill/>
          </a:ln>
        </p:spPr>
        <p:txBody>
          <a:bodyPr anchorCtr="0" anchor="t" bIns="45700" lIns="91425" spcFirstLastPara="1" rIns="91425" wrap="square" tIns="45700">
            <a:normAutofit/>
          </a:bodyPr>
          <a:lstStyle/>
          <a:p>
            <a:pPr indent="-342900" lvl="0" marL="457200" rtl="0" algn="l">
              <a:lnSpc>
                <a:spcPct val="158000"/>
              </a:lnSpc>
              <a:spcBef>
                <a:spcPts val="0"/>
              </a:spcBef>
              <a:spcAft>
                <a:spcPts val="0"/>
              </a:spcAft>
              <a:buClr>
                <a:srgbClr val="273239"/>
              </a:buClr>
              <a:buSzPts val="1800"/>
              <a:buFont typeface="Bookman Old Style"/>
              <a:buChar char="●"/>
            </a:pPr>
            <a:r>
              <a:rPr lang="en-IN">
                <a:solidFill>
                  <a:srgbClr val="273239"/>
                </a:solidFill>
              </a:rPr>
              <a:t>Data Independence is a fundamental concept in Database Management Systems (DBMS) that refers to the ability to modify the schema at one level of the database without affecting the schema at the next higher level.</a:t>
            </a:r>
            <a:endParaRPr>
              <a:solidFill>
                <a:srgbClr val="273239"/>
              </a:solidFill>
            </a:endParaRPr>
          </a:p>
          <a:p>
            <a:pPr indent="-342900" lvl="0" marL="457200" rtl="0" algn="l">
              <a:lnSpc>
                <a:spcPct val="158000"/>
              </a:lnSpc>
              <a:spcBef>
                <a:spcPts val="0"/>
              </a:spcBef>
              <a:spcAft>
                <a:spcPts val="0"/>
              </a:spcAft>
              <a:buClr>
                <a:srgbClr val="273239"/>
              </a:buClr>
              <a:buSzPts val="1800"/>
              <a:buFont typeface="Nunito"/>
              <a:buChar char="●"/>
            </a:pPr>
            <a:r>
              <a:rPr lang="en-IN">
                <a:solidFill>
                  <a:srgbClr val="273239"/>
                </a:solidFill>
              </a:rPr>
              <a:t> This concept ensures that changes in how data is stored or structured internally do not impact how users or applications access and interact with the data.</a:t>
            </a:r>
            <a:r>
              <a:rPr lang="en-IN">
                <a:solidFill>
                  <a:schemeClr val="dk1"/>
                </a:solidFill>
              </a:rPr>
              <a:t> </a:t>
            </a:r>
            <a:endParaRPr>
              <a:solidFill>
                <a:srgbClr val="273239"/>
              </a:solidFill>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ts val="1800"/>
              <a:buNone/>
            </a:pPr>
            <a:r>
              <a:t/>
            </a:r>
            <a:endParaRPr sz="2000">
              <a:latin typeface="Cambria"/>
              <a:ea typeface="Cambria"/>
              <a:cs typeface="Cambria"/>
              <a:sym typeface="Cambria"/>
            </a:endParaRPr>
          </a:p>
        </p:txBody>
      </p:sp>
      <p:pic>
        <p:nvPicPr>
          <p:cNvPr id="178" name="Google Shape;178;g3f56c74d67c_0_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179" name="Google Shape;179;g3f56c74d67c_0_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180" name="Google Shape;180;g3f56c74d67c_0_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81" name="Google Shape;181;g3f56c74d67c_0_8"/>
          <p:cNvPicPr preferRelativeResize="0"/>
          <p:nvPr/>
        </p:nvPicPr>
        <p:blipFill rotWithShape="1">
          <a:blip r:embed="rId5">
            <a:alphaModFix/>
          </a:blip>
          <a:srcRect b="0" l="0" r="0" t="0"/>
          <a:stretch/>
        </p:blipFill>
        <p:spPr>
          <a:xfrm>
            <a:off x="706175" y="3758325"/>
            <a:ext cx="9535050" cy="2681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f56c74d67c_0_20"/>
          <p:cNvSpPr txBox="1"/>
          <p:nvPr>
            <p:ph idx="1" type="body"/>
          </p:nvPr>
        </p:nvSpPr>
        <p:spPr>
          <a:xfrm>
            <a:off x="644575" y="1198275"/>
            <a:ext cx="5141700" cy="365700"/>
          </a:xfrm>
          <a:prstGeom prst="rect">
            <a:avLst/>
          </a:prstGeom>
          <a:noFill/>
          <a:ln>
            <a:noFill/>
          </a:ln>
        </p:spPr>
        <p:txBody>
          <a:bodyPr anchorCtr="1" anchor="b" bIns="45700" lIns="91425" spcFirstLastPara="1" rIns="91425" wrap="square" tIns="45700">
            <a:normAutofit/>
          </a:bodyPr>
          <a:lstStyle/>
          <a:p>
            <a:pPr indent="0" lvl="0" marL="0" rtl="0" algn="ctr">
              <a:lnSpc>
                <a:spcPct val="80000"/>
              </a:lnSpc>
              <a:spcBef>
                <a:spcPts val="1000"/>
              </a:spcBef>
              <a:spcAft>
                <a:spcPts val="0"/>
              </a:spcAft>
              <a:buSzPts val="1900"/>
              <a:buNone/>
            </a:pPr>
            <a:r>
              <a:rPr b="1" lang="en-IN" sz="1800">
                <a:solidFill>
                  <a:srgbClr val="273239"/>
                </a:solidFill>
              </a:rPr>
              <a:t>Physical Data Independence</a:t>
            </a:r>
            <a:r>
              <a:rPr lang="en-IN" sz="1800">
                <a:solidFill>
                  <a:schemeClr val="dk1"/>
                </a:solidFill>
              </a:rPr>
              <a:t> </a:t>
            </a:r>
            <a:endParaRPr sz="1800"/>
          </a:p>
        </p:txBody>
      </p:sp>
      <p:sp>
        <p:nvSpPr>
          <p:cNvPr id="187" name="Google Shape;187;g3f56c74d67c_0_20"/>
          <p:cNvSpPr txBox="1"/>
          <p:nvPr>
            <p:ph idx="2" type="body"/>
          </p:nvPr>
        </p:nvSpPr>
        <p:spPr>
          <a:xfrm>
            <a:off x="533825" y="1957700"/>
            <a:ext cx="5141700" cy="468120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0"/>
              </a:spcBef>
              <a:spcAft>
                <a:spcPts val="0"/>
              </a:spcAft>
              <a:buSzPts val="1800"/>
              <a:buChar char="•"/>
            </a:pPr>
            <a:r>
              <a:rPr lang="en-IN">
                <a:solidFill>
                  <a:srgbClr val="273239"/>
                </a:solidFill>
              </a:rPr>
              <a:t>Focuses on how data is stored physically</a:t>
            </a:r>
            <a:r>
              <a:rPr lang="en-IN">
                <a:solidFill>
                  <a:schemeClr val="dk1"/>
                </a:solidFill>
              </a:rPr>
              <a:t> </a:t>
            </a:r>
            <a:endParaRPr/>
          </a:p>
          <a:p>
            <a:pPr indent="-342900" lvl="0" marL="457200" rtl="0" algn="just">
              <a:lnSpc>
                <a:spcPct val="90000"/>
              </a:lnSpc>
              <a:spcBef>
                <a:spcPts val="0"/>
              </a:spcBef>
              <a:spcAft>
                <a:spcPts val="0"/>
              </a:spcAft>
              <a:buSzPts val="1800"/>
              <a:buChar char="•"/>
            </a:pPr>
            <a:r>
              <a:rPr lang="en-IN">
                <a:solidFill>
                  <a:srgbClr val="273239"/>
                </a:solidFill>
              </a:rPr>
              <a:t>Deals with the internal schema</a:t>
            </a:r>
            <a:r>
              <a:rPr lang="en-IN">
                <a:solidFill>
                  <a:schemeClr val="dk1"/>
                </a:solidFill>
              </a:rPr>
              <a:t> </a:t>
            </a:r>
            <a:r>
              <a:rPr lang="en-IN"/>
              <a:t> </a:t>
            </a:r>
            <a:endParaRPr/>
          </a:p>
          <a:p>
            <a:pPr indent="-342900" lvl="0" marL="457200" rtl="0" algn="just">
              <a:lnSpc>
                <a:spcPct val="90000"/>
              </a:lnSpc>
              <a:spcBef>
                <a:spcPts val="0"/>
              </a:spcBef>
              <a:spcAft>
                <a:spcPts val="0"/>
              </a:spcAft>
              <a:buSzPts val="1800"/>
              <a:buChar char="•"/>
            </a:pPr>
            <a:r>
              <a:rPr lang="en-IN">
                <a:solidFill>
                  <a:srgbClr val="273239"/>
                </a:solidFill>
              </a:rPr>
              <a:t>Changes don’t affect application programs</a:t>
            </a:r>
            <a:r>
              <a:rPr lang="en-IN">
                <a:solidFill>
                  <a:schemeClr val="dk1"/>
                </a:solidFill>
              </a:rPr>
              <a:t> </a:t>
            </a:r>
            <a:endParaRPr/>
          </a:p>
          <a:p>
            <a:pPr indent="-342900" lvl="0" marL="457200" rtl="0" algn="just">
              <a:lnSpc>
                <a:spcPct val="90000"/>
              </a:lnSpc>
              <a:spcBef>
                <a:spcPts val="0"/>
              </a:spcBef>
              <a:spcAft>
                <a:spcPts val="0"/>
              </a:spcAft>
              <a:buSzPts val="1800"/>
              <a:buChar char="•"/>
            </a:pPr>
            <a:r>
              <a:rPr lang="en-IN">
                <a:solidFill>
                  <a:srgbClr val="273239"/>
                </a:solidFill>
              </a:rPr>
              <a:t>It tells about the internal schema.</a:t>
            </a:r>
            <a:r>
              <a:rPr lang="en-IN">
                <a:solidFill>
                  <a:schemeClr val="dk1"/>
                </a:solidFill>
              </a:rPr>
              <a:t> </a:t>
            </a:r>
            <a:endParaRPr/>
          </a:p>
          <a:p>
            <a:pPr indent="-342900" lvl="0" marL="457200" rtl="0" algn="just">
              <a:lnSpc>
                <a:spcPct val="90000"/>
              </a:lnSpc>
              <a:spcBef>
                <a:spcPts val="0"/>
              </a:spcBef>
              <a:spcAft>
                <a:spcPts val="0"/>
              </a:spcAft>
              <a:buSzPts val="1800"/>
              <a:buChar char="•"/>
            </a:pPr>
            <a:r>
              <a:rPr lang="en-IN">
                <a:solidFill>
                  <a:srgbClr val="273239"/>
                </a:solidFill>
              </a:rPr>
              <a:t>Easier to achieve</a:t>
            </a:r>
            <a:r>
              <a:rPr lang="en-IN">
                <a:solidFill>
                  <a:schemeClr val="dk1"/>
                </a:solidFill>
              </a:rPr>
              <a:t> </a:t>
            </a:r>
            <a:endParaRPr/>
          </a:p>
          <a:p>
            <a:pPr indent="-342900" lvl="0" marL="457200" rtl="0" algn="just">
              <a:lnSpc>
                <a:spcPct val="90000"/>
              </a:lnSpc>
              <a:spcBef>
                <a:spcPts val="0"/>
              </a:spcBef>
              <a:spcAft>
                <a:spcPts val="0"/>
              </a:spcAft>
              <a:buSzPts val="1800"/>
              <a:buChar char="•"/>
            </a:pPr>
            <a:r>
              <a:rPr lang="en-IN">
                <a:solidFill>
                  <a:srgbClr val="273239"/>
                </a:solidFill>
              </a:rPr>
              <a:t>Used for performance and storage optimization</a:t>
            </a:r>
            <a:r>
              <a:rPr lang="en-IN">
                <a:solidFill>
                  <a:schemeClr val="dk1"/>
                </a:solidFill>
              </a:rPr>
              <a:t> </a:t>
            </a:r>
            <a:endParaRPr>
              <a:solidFill>
                <a:schemeClr val="dk1"/>
              </a:solidFill>
            </a:endParaRPr>
          </a:p>
          <a:p>
            <a:pPr indent="-342900" lvl="0" marL="457200" rtl="0" algn="just">
              <a:lnSpc>
                <a:spcPct val="90000"/>
              </a:lnSpc>
              <a:spcBef>
                <a:spcPts val="0"/>
              </a:spcBef>
              <a:spcAft>
                <a:spcPts val="0"/>
              </a:spcAft>
              <a:buSzPts val="1800"/>
              <a:buChar char="•"/>
            </a:pPr>
            <a:r>
              <a:rPr lang="en-IN">
                <a:solidFill>
                  <a:srgbClr val="273239"/>
                </a:solidFill>
              </a:rPr>
              <a:t>Example: Moving data files or adding indexes.</a:t>
            </a:r>
            <a:r>
              <a:rPr lang="en-IN">
                <a:solidFill>
                  <a:schemeClr val="dk1"/>
                </a:solidFill>
              </a:rPr>
              <a:t> </a:t>
            </a:r>
            <a:endParaRPr>
              <a:solidFill>
                <a:schemeClr val="dk1"/>
              </a:solidFill>
            </a:endParaRPr>
          </a:p>
        </p:txBody>
      </p:sp>
      <p:sp>
        <p:nvSpPr>
          <p:cNvPr id="188" name="Google Shape;188;g3f56c74d67c_0_20"/>
          <p:cNvSpPr txBox="1"/>
          <p:nvPr>
            <p:ph idx="3" type="body"/>
          </p:nvPr>
        </p:nvSpPr>
        <p:spPr>
          <a:xfrm>
            <a:off x="6096000" y="1957700"/>
            <a:ext cx="5326500" cy="46812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0"/>
              </a:spcBef>
              <a:spcAft>
                <a:spcPts val="0"/>
              </a:spcAft>
              <a:buSzPts val="1800"/>
              <a:buFont typeface="Cambria"/>
              <a:buChar char="•"/>
            </a:pPr>
            <a:r>
              <a:rPr lang="en-IN">
                <a:solidFill>
                  <a:srgbClr val="273239"/>
                </a:solidFill>
              </a:rPr>
              <a:t>Focuses on structure and organization of data.</a:t>
            </a:r>
            <a:r>
              <a:rPr lang="en-IN">
                <a:solidFill>
                  <a:schemeClr val="dk1"/>
                </a:solidFill>
              </a:rPr>
              <a:t> </a:t>
            </a:r>
            <a:endParaRPr/>
          </a:p>
          <a:p>
            <a:pPr indent="-342900" lvl="0" marL="457200" rtl="0" algn="just">
              <a:lnSpc>
                <a:spcPct val="100000"/>
              </a:lnSpc>
              <a:spcBef>
                <a:spcPts val="0"/>
              </a:spcBef>
              <a:spcAft>
                <a:spcPts val="0"/>
              </a:spcAft>
              <a:buSzPts val="1800"/>
              <a:buFont typeface="Cambria"/>
              <a:buChar char="•"/>
            </a:pPr>
            <a:r>
              <a:rPr lang="en-IN">
                <a:solidFill>
                  <a:srgbClr val="273239"/>
                </a:solidFill>
              </a:rPr>
              <a:t>Deals with the conceptual schema</a:t>
            </a:r>
            <a:r>
              <a:rPr lang="en-IN">
                <a:solidFill>
                  <a:schemeClr val="dk1"/>
                </a:solidFill>
              </a:rPr>
              <a:t> </a:t>
            </a:r>
            <a:endParaRPr/>
          </a:p>
          <a:p>
            <a:pPr indent="-342900" lvl="0" marL="457200" rtl="0" algn="just">
              <a:lnSpc>
                <a:spcPct val="100000"/>
              </a:lnSpc>
              <a:spcBef>
                <a:spcPts val="0"/>
              </a:spcBef>
              <a:spcAft>
                <a:spcPts val="0"/>
              </a:spcAft>
              <a:buSzPts val="1800"/>
              <a:buFont typeface="Cambria"/>
              <a:buChar char="•"/>
            </a:pPr>
            <a:r>
              <a:rPr lang="en-IN">
                <a:solidFill>
                  <a:srgbClr val="273239"/>
                </a:solidFill>
              </a:rPr>
              <a:t>Changes may require updates in application programs</a:t>
            </a:r>
            <a:r>
              <a:rPr lang="en-IN">
                <a:solidFill>
                  <a:schemeClr val="dk1"/>
                </a:solidFill>
              </a:rPr>
              <a:t> </a:t>
            </a:r>
            <a:r>
              <a:rPr lang="en-IN"/>
              <a:t> </a:t>
            </a:r>
            <a:endParaRPr/>
          </a:p>
          <a:p>
            <a:pPr indent="-342900" lvl="0" marL="457200" rtl="0" algn="just">
              <a:lnSpc>
                <a:spcPct val="100000"/>
              </a:lnSpc>
              <a:spcBef>
                <a:spcPts val="0"/>
              </a:spcBef>
              <a:spcAft>
                <a:spcPts val="0"/>
              </a:spcAft>
              <a:buSzPts val="1800"/>
              <a:buFont typeface="Cambria"/>
              <a:buChar char="•"/>
            </a:pPr>
            <a:r>
              <a:rPr lang="en-IN">
                <a:solidFill>
                  <a:srgbClr val="273239"/>
                </a:solidFill>
              </a:rPr>
              <a:t>It tells about the conceptual schema.</a:t>
            </a:r>
            <a:r>
              <a:rPr lang="en-IN">
                <a:solidFill>
                  <a:schemeClr val="dk1"/>
                </a:solidFill>
              </a:rPr>
              <a:t> </a:t>
            </a:r>
            <a:endParaRPr/>
          </a:p>
          <a:p>
            <a:pPr indent="-342900" lvl="0" marL="457200" rtl="0" algn="just">
              <a:lnSpc>
                <a:spcPct val="100000"/>
              </a:lnSpc>
              <a:spcBef>
                <a:spcPts val="0"/>
              </a:spcBef>
              <a:spcAft>
                <a:spcPts val="0"/>
              </a:spcAft>
              <a:buSzPts val="1800"/>
              <a:buFont typeface="Cambria"/>
              <a:buChar char="•"/>
            </a:pPr>
            <a:r>
              <a:rPr lang="en-IN">
                <a:solidFill>
                  <a:srgbClr val="273239"/>
                </a:solidFill>
              </a:rPr>
              <a:t>More difficult to achieve</a:t>
            </a:r>
            <a:r>
              <a:rPr lang="en-IN">
                <a:solidFill>
                  <a:schemeClr val="dk1"/>
                </a:solidFill>
              </a:rPr>
              <a:t> </a:t>
            </a:r>
            <a:endParaRPr/>
          </a:p>
          <a:p>
            <a:pPr indent="-342900" lvl="0" marL="457200" rtl="0" algn="just">
              <a:lnSpc>
                <a:spcPct val="100000"/>
              </a:lnSpc>
              <a:spcBef>
                <a:spcPts val="0"/>
              </a:spcBef>
              <a:spcAft>
                <a:spcPts val="0"/>
              </a:spcAft>
              <a:buSzPts val="1800"/>
              <a:buFont typeface="Cambria"/>
              <a:buChar char="•"/>
            </a:pPr>
            <a:r>
              <a:rPr lang="en-IN">
                <a:solidFill>
                  <a:srgbClr val="273239"/>
                </a:solidFill>
              </a:rPr>
              <a:t>Used for evolving database design</a:t>
            </a:r>
            <a:r>
              <a:rPr lang="en-IN">
                <a:solidFill>
                  <a:schemeClr val="dk1"/>
                </a:solidFill>
              </a:rPr>
              <a:t> </a:t>
            </a:r>
            <a:r>
              <a:rPr lang="en-IN"/>
              <a:t>.</a:t>
            </a:r>
            <a:endParaRPr/>
          </a:p>
          <a:p>
            <a:pPr indent="-342900" lvl="0" marL="457200" rtl="0" algn="just">
              <a:lnSpc>
                <a:spcPct val="100000"/>
              </a:lnSpc>
              <a:spcBef>
                <a:spcPts val="0"/>
              </a:spcBef>
              <a:spcAft>
                <a:spcPts val="0"/>
              </a:spcAft>
              <a:buSzPts val="1800"/>
              <a:buFont typeface="Cambria"/>
              <a:buChar char="•"/>
            </a:pPr>
            <a:r>
              <a:rPr lang="en-IN">
                <a:solidFill>
                  <a:srgbClr val="273239"/>
                </a:solidFill>
              </a:rPr>
              <a:t>Example: Adding or removing a column in a table</a:t>
            </a:r>
            <a:r>
              <a:rPr lang="en-IN">
                <a:solidFill>
                  <a:schemeClr val="dk1"/>
                </a:solidFill>
              </a:rPr>
              <a:t> </a:t>
            </a:r>
            <a:endParaRPr/>
          </a:p>
        </p:txBody>
      </p:sp>
      <p:sp>
        <p:nvSpPr>
          <p:cNvPr id="189" name="Google Shape;189;g3f56c74d67c_0_20"/>
          <p:cNvSpPr txBox="1"/>
          <p:nvPr>
            <p:ph idx="4" type="body"/>
          </p:nvPr>
        </p:nvSpPr>
        <p:spPr>
          <a:xfrm>
            <a:off x="6390800" y="1213950"/>
            <a:ext cx="5031600" cy="365700"/>
          </a:xfrm>
          <a:prstGeom prst="rect">
            <a:avLst/>
          </a:prstGeom>
          <a:noFill/>
          <a:ln>
            <a:noFill/>
          </a:ln>
        </p:spPr>
        <p:txBody>
          <a:bodyPr anchorCtr="1" anchor="b" bIns="45700" lIns="91425" spcFirstLastPara="1" rIns="91425" wrap="square" tIns="45700">
            <a:normAutofit/>
          </a:bodyPr>
          <a:lstStyle/>
          <a:p>
            <a:pPr indent="0" lvl="0" marL="0" rtl="0" algn="ctr">
              <a:lnSpc>
                <a:spcPct val="80000"/>
              </a:lnSpc>
              <a:spcBef>
                <a:spcPts val="0"/>
              </a:spcBef>
              <a:spcAft>
                <a:spcPts val="0"/>
              </a:spcAft>
              <a:buSzPts val="1900"/>
              <a:buNone/>
            </a:pPr>
            <a:r>
              <a:rPr b="1" lang="en-IN" sz="1800">
                <a:solidFill>
                  <a:srgbClr val="273239"/>
                </a:solidFill>
                <a:highlight>
                  <a:srgbClr val="F9F9F9"/>
                </a:highlight>
              </a:rPr>
              <a:t>Logical Data Independence</a:t>
            </a:r>
            <a:r>
              <a:rPr lang="en-IN" sz="1800">
                <a:solidFill>
                  <a:schemeClr val="dk1"/>
                </a:solidFill>
              </a:rPr>
              <a:t> </a:t>
            </a:r>
            <a:endParaRPr b="1" sz="1800">
              <a:solidFill>
                <a:schemeClr val="dk1"/>
              </a:solidFill>
            </a:endParaRPr>
          </a:p>
        </p:txBody>
      </p:sp>
      <p:sp>
        <p:nvSpPr>
          <p:cNvPr id="190" name="Google Shape;190;g3f56c74d67c_0_20"/>
          <p:cNvSpPr txBox="1"/>
          <p:nvPr>
            <p:ph type="title"/>
          </p:nvPr>
        </p:nvSpPr>
        <p:spPr>
          <a:xfrm>
            <a:off x="0" y="0"/>
            <a:ext cx="75402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l">
              <a:lnSpc>
                <a:spcPct val="116666"/>
              </a:lnSpc>
              <a:spcBef>
                <a:spcPts val="0"/>
              </a:spcBef>
              <a:spcAft>
                <a:spcPts val="0"/>
              </a:spcAft>
              <a:buClr>
                <a:schemeClr val="dk1"/>
              </a:buClr>
              <a:buSzPct val="32781"/>
              <a:buFont typeface="Arial"/>
              <a:buNone/>
            </a:pPr>
            <a:r>
              <a:rPr b="1" lang="en-IN" sz="3355">
                <a:solidFill>
                  <a:srgbClr val="273239"/>
                </a:solidFill>
                <a:highlight>
                  <a:srgbClr val="FFFFFF"/>
                </a:highlight>
              </a:rPr>
              <a:t>Types of Data Independence</a:t>
            </a:r>
            <a:endParaRPr b="1" sz="3355">
              <a:solidFill>
                <a:srgbClr val="273239"/>
              </a:solidFill>
              <a:highlight>
                <a:srgbClr val="FFFFFF"/>
              </a:highlight>
            </a:endParaRPr>
          </a:p>
          <a:p>
            <a:pPr indent="0" lvl="0" marL="0" rtl="0" algn="ctr">
              <a:lnSpc>
                <a:spcPct val="90000"/>
              </a:lnSpc>
              <a:spcBef>
                <a:spcPts val="0"/>
              </a:spcBef>
              <a:spcAft>
                <a:spcPts val="0"/>
              </a:spcAft>
              <a:buSzPct val="90323"/>
              <a:buNone/>
            </a:pPr>
            <a:r>
              <a:t/>
            </a:r>
            <a:endParaRPr b="1" sz="3100">
              <a:latin typeface="Cambria"/>
              <a:ea typeface="Cambria"/>
              <a:cs typeface="Cambria"/>
              <a:sym typeface="Cambria"/>
            </a:endParaRPr>
          </a:p>
        </p:txBody>
      </p:sp>
      <p:sp>
        <p:nvSpPr>
          <p:cNvPr id="191" name="Google Shape;191;g3f56c74d67c_0_20"/>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92" name="Google Shape;192;g3f56c74d67c_0_20"/>
          <p:cNvPicPr preferRelativeResize="0"/>
          <p:nvPr/>
        </p:nvPicPr>
        <p:blipFill rotWithShape="1">
          <a:blip r:embed="rId3">
            <a:alphaModFix/>
          </a:blip>
          <a:srcRect b="0" l="0" r="0" t="0"/>
          <a:stretch/>
        </p:blipFill>
        <p:spPr>
          <a:xfrm>
            <a:off x="9248931" y="0"/>
            <a:ext cx="2943069" cy="704087"/>
          </a:xfrm>
          <a:prstGeom prst="rect">
            <a:avLst/>
          </a:prstGeom>
          <a:noFill/>
          <a:ln>
            <a:noFill/>
          </a:ln>
        </p:spPr>
      </p:pic>
      <p:pic>
        <p:nvPicPr>
          <p:cNvPr id="193" name="Google Shape;193;g3f56c74d67c_0_20"/>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f960928c2b_0_107"/>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3333"/>
              <a:buNone/>
            </a:pPr>
            <a:r>
              <a:rPr b="1" lang="en-IN" sz="3300">
                <a:solidFill>
                  <a:schemeClr val="dk1"/>
                </a:solidFill>
              </a:rPr>
              <a:t>Architecture in DBMS</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199" name="Google Shape;199;g3f960928c2b_0_107"/>
          <p:cNvSpPr txBox="1"/>
          <p:nvPr>
            <p:ph idx="1" type="body"/>
          </p:nvPr>
        </p:nvSpPr>
        <p:spPr>
          <a:xfrm>
            <a:off x="196850" y="1346200"/>
            <a:ext cx="11405700" cy="5806200"/>
          </a:xfrm>
          <a:prstGeom prst="rect">
            <a:avLst/>
          </a:prstGeom>
          <a:noFill/>
          <a:ln>
            <a:noFill/>
          </a:ln>
        </p:spPr>
        <p:txBody>
          <a:bodyPr anchorCtr="0" anchor="t" bIns="45700" lIns="91425" spcFirstLastPara="1" rIns="91425" wrap="square" tIns="45700">
            <a:normAutofit fontScale="25000"/>
          </a:bodyPr>
          <a:lstStyle/>
          <a:p>
            <a:pPr indent="0" lvl="0" marL="0" rtl="0" algn="l">
              <a:lnSpc>
                <a:spcPct val="116666"/>
              </a:lnSpc>
              <a:spcBef>
                <a:spcPts val="0"/>
              </a:spcBef>
              <a:spcAft>
                <a:spcPts val="0"/>
              </a:spcAft>
              <a:buClr>
                <a:schemeClr val="dk1"/>
              </a:buClr>
              <a:buSzPts val="275"/>
              <a:buFont typeface="Arial"/>
              <a:buNone/>
            </a:pPr>
            <a:r>
              <a:rPr lang="en-IN" sz="7200">
                <a:solidFill>
                  <a:srgbClr val="273239"/>
                </a:solidFill>
              </a:rPr>
              <a:t>In a Database Management System (DBMS), the architecture defines how the database and its components interact with the end users or applications. The Two-Tier and Three-Tier architectures are commonly used in modern database applications. These architectures determine how the data, user interface, and businesslogic are separated and interact with each other.</a:t>
            </a:r>
            <a:endParaRPr sz="7200">
              <a:solidFill>
                <a:srgbClr val="273239"/>
              </a:solidFill>
            </a:endParaRPr>
          </a:p>
          <a:p>
            <a:pPr indent="0" lvl="0" marL="0" rtl="0" algn="l">
              <a:lnSpc>
                <a:spcPct val="116666"/>
              </a:lnSpc>
              <a:spcBef>
                <a:spcPts val="0"/>
              </a:spcBef>
              <a:spcAft>
                <a:spcPts val="0"/>
              </a:spcAft>
              <a:buClr>
                <a:schemeClr val="dk1"/>
              </a:buClr>
              <a:buSzPts val="275"/>
              <a:buFont typeface="Arial"/>
              <a:buNone/>
            </a:pPr>
            <a:r>
              <a:t/>
            </a:r>
            <a:endParaRPr b="1" sz="7200">
              <a:solidFill>
                <a:srgbClr val="273239"/>
              </a:solidFill>
            </a:endParaRPr>
          </a:p>
          <a:p>
            <a:pPr indent="0" lvl="0" marL="0" rtl="0" algn="l">
              <a:lnSpc>
                <a:spcPct val="116666"/>
              </a:lnSpc>
              <a:spcBef>
                <a:spcPts val="0"/>
              </a:spcBef>
              <a:spcAft>
                <a:spcPts val="0"/>
              </a:spcAft>
              <a:buClr>
                <a:schemeClr val="dk1"/>
              </a:buClr>
              <a:buSzPts val="275"/>
              <a:buFont typeface="Arial"/>
              <a:buNone/>
            </a:pPr>
            <a:r>
              <a:rPr b="1" lang="en-IN" sz="7200">
                <a:solidFill>
                  <a:srgbClr val="273239"/>
                </a:solidFill>
              </a:rPr>
              <a:t>1-Tier Architecture</a:t>
            </a:r>
            <a:endParaRPr b="1" sz="7200">
              <a:solidFill>
                <a:srgbClr val="273239"/>
              </a:solidFill>
            </a:endParaRPr>
          </a:p>
          <a:p>
            <a:pPr indent="0" lvl="0" marL="0" rtl="0" algn="l">
              <a:lnSpc>
                <a:spcPct val="116666"/>
              </a:lnSpc>
              <a:spcBef>
                <a:spcPts val="0"/>
              </a:spcBef>
              <a:spcAft>
                <a:spcPts val="0"/>
              </a:spcAft>
              <a:buClr>
                <a:schemeClr val="dk1"/>
              </a:buClr>
              <a:buSzPts val="275"/>
              <a:buFont typeface="Arial"/>
              <a:buNone/>
            </a:pPr>
            <a:r>
              <a:rPr lang="en-IN" sz="7200">
                <a:solidFill>
                  <a:srgbClr val="273239"/>
                </a:solidFill>
              </a:rPr>
              <a:t>In 1-Tier Architecture, the user works directly with the database on the same system. This means the client, server and database are all in one application. The user can open the application, interact with the data and perform tasks without needing a separate server or network connection.</a:t>
            </a:r>
            <a:endParaRPr sz="7200">
              <a:solidFill>
                <a:srgbClr val="273239"/>
              </a:solidFill>
            </a:endParaRPr>
          </a:p>
          <a:p>
            <a:pPr indent="0" lvl="0" marL="0" rtl="0" algn="l">
              <a:lnSpc>
                <a:spcPct val="116666"/>
              </a:lnSpc>
              <a:spcBef>
                <a:spcPts val="0"/>
              </a:spcBef>
              <a:spcAft>
                <a:spcPts val="0"/>
              </a:spcAft>
              <a:buClr>
                <a:schemeClr val="dk1"/>
              </a:buClr>
              <a:buSzPts val="275"/>
              <a:buFont typeface="Arial"/>
              <a:buNone/>
            </a:pPr>
            <a:r>
              <a:t/>
            </a:r>
            <a:endParaRPr b="1" sz="7200">
              <a:solidFill>
                <a:srgbClr val="273239"/>
              </a:solidFill>
            </a:endParaRPr>
          </a:p>
          <a:p>
            <a:pPr indent="0" lvl="0" marL="0" rtl="0" algn="l">
              <a:lnSpc>
                <a:spcPct val="150000"/>
              </a:lnSpc>
              <a:spcBef>
                <a:spcPts val="0"/>
              </a:spcBef>
              <a:spcAft>
                <a:spcPts val="0"/>
              </a:spcAft>
              <a:buSzPts val="275"/>
              <a:buNone/>
            </a:pPr>
            <a:r>
              <a:rPr lang="en-IN" sz="7200">
                <a:solidFill>
                  <a:schemeClr val="dk1"/>
                </a:solidFill>
              </a:rPr>
              <a:t>• A common example is Microsoft Excel. Everything from the user interface to the logic and data storage happens on the same device. The user enters data, performs calculations and</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Saves files directly on their computer.</a:t>
            </a:r>
            <a:endParaRPr sz="7200">
              <a:solidFill>
                <a:schemeClr val="dk1"/>
              </a:solidFill>
            </a:endParaRPr>
          </a:p>
          <a:p>
            <a:pPr indent="0" lvl="0" marL="0" rtl="0" algn="l">
              <a:lnSpc>
                <a:spcPct val="150000"/>
              </a:lnSpc>
              <a:spcBef>
                <a:spcPts val="0"/>
              </a:spcBef>
              <a:spcAft>
                <a:spcPts val="0"/>
              </a:spcAft>
              <a:buSzPct val="55000"/>
              <a:buNone/>
            </a:pPr>
            <a:r>
              <a:t/>
            </a:r>
            <a:endParaRPr sz="2000">
              <a:latin typeface="Cambria"/>
              <a:ea typeface="Cambria"/>
              <a:cs typeface="Cambria"/>
              <a:sym typeface="Cambria"/>
            </a:endParaRPr>
          </a:p>
        </p:txBody>
      </p:sp>
      <p:pic>
        <p:nvPicPr>
          <p:cNvPr id="200" name="Google Shape;200;g3f960928c2b_0_107"/>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01" name="Google Shape;201;g3f960928c2b_0_107"/>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02" name="Google Shape;202;g3f960928c2b_0_107"/>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f960928c2b_0_121"/>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3333"/>
              <a:buNone/>
            </a:pPr>
            <a:r>
              <a:rPr b="1" lang="en-IN" sz="3300">
                <a:solidFill>
                  <a:schemeClr val="dk1"/>
                </a:solidFill>
              </a:rPr>
              <a:t> 1-Tier Architecture</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08" name="Google Shape;208;g3f960928c2b_0_121"/>
          <p:cNvSpPr txBox="1"/>
          <p:nvPr>
            <p:ph idx="1" type="body"/>
          </p:nvPr>
        </p:nvSpPr>
        <p:spPr>
          <a:xfrm>
            <a:off x="196850" y="1346200"/>
            <a:ext cx="6667800" cy="551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565">
                <a:solidFill>
                  <a:schemeClr val="dk1"/>
                </a:solidFill>
              </a:rPr>
              <a:t>•</a:t>
            </a:r>
            <a:r>
              <a:rPr lang="en-IN" sz="7200">
                <a:solidFill>
                  <a:schemeClr val="dk1"/>
                </a:solidFill>
              </a:rPr>
              <a:t> This setup is simple and easy to use, making it ideal for</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personal or standalone applications. It does not require a</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network or complex setup, which is why it's often used in</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small-scale or individual use cases.</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 This architecture is simple and works well for personal,</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standalone applications where no external server or network connection is needed.</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ct val="100000"/>
              <a:buFont typeface="Arial"/>
              <a:buNone/>
            </a:pPr>
            <a:r>
              <a:t/>
            </a:r>
            <a:endParaRPr>
              <a:solidFill>
                <a:schemeClr val="dk1"/>
              </a:solidFill>
            </a:endParaRPr>
          </a:p>
          <a:p>
            <a:pPr indent="0" lvl="0" marL="0" rtl="0" algn="l">
              <a:lnSpc>
                <a:spcPct val="165000"/>
              </a:lnSpc>
              <a:spcBef>
                <a:spcPts val="0"/>
              </a:spcBef>
              <a:spcAft>
                <a:spcPts val="0"/>
              </a:spcAft>
              <a:buSzPct val="88009"/>
              <a:buNone/>
            </a:pPr>
            <a:r>
              <a:t/>
            </a:r>
            <a:endParaRPr b="1" sz="8181">
              <a:solidFill>
                <a:srgbClr val="273239"/>
              </a:solidFill>
              <a:latin typeface="Nunito"/>
              <a:ea typeface="Nunito"/>
              <a:cs typeface="Nunito"/>
              <a:sym typeface="Nunito"/>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209" name="Google Shape;209;g3f960928c2b_0_121"/>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10" name="Google Shape;210;g3f960928c2b_0_121"/>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11" name="Google Shape;211;g3f960928c2b_0_121"/>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12" name="Google Shape;212;g3f960928c2b_0_121"/>
          <p:cNvPicPr preferRelativeResize="0"/>
          <p:nvPr/>
        </p:nvPicPr>
        <p:blipFill rotWithShape="1">
          <a:blip r:embed="rId5">
            <a:alphaModFix/>
          </a:blip>
          <a:srcRect b="0" l="0" r="0" t="0"/>
          <a:stretch/>
        </p:blipFill>
        <p:spPr>
          <a:xfrm>
            <a:off x="6864650" y="1891650"/>
            <a:ext cx="5172700" cy="3714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f99698171e_0_9"/>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5484"/>
              <a:buNone/>
            </a:pPr>
            <a:r>
              <a:rPr b="1" lang="en-IN" sz="3100">
                <a:solidFill>
                  <a:schemeClr val="dk1"/>
                </a:solidFill>
              </a:rPr>
              <a:t>Advantage &amp; Disadvantage of 1 Tier Architecture</a:t>
            </a:r>
            <a:r>
              <a:rPr lang="en-IN" sz="3100">
                <a:solidFill>
                  <a:schemeClr val="dk1"/>
                </a:solidFill>
              </a:rPr>
              <a:t> </a:t>
            </a:r>
            <a:endParaRPr b="1" sz="31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18" name="Google Shape;218;g3f99698171e_0_9"/>
          <p:cNvSpPr txBox="1"/>
          <p:nvPr>
            <p:ph idx="1" type="body"/>
          </p:nvPr>
        </p:nvSpPr>
        <p:spPr>
          <a:xfrm>
            <a:off x="304900" y="2202300"/>
            <a:ext cx="5657700" cy="4655700"/>
          </a:xfrm>
          <a:prstGeom prst="rect">
            <a:avLst/>
          </a:prstGeom>
          <a:noFill/>
          <a:ln>
            <a:noFill/>
          </a:ln>
        </p:spPr>
        <p:txBody>
          <a:bodyPr anchorCtr="0" anchor="t" bIns="45700" lIns="91425" spcFirstLastPara="1" rIns="91425" wrap="square" tIns="45700">
            <a:normAutofit/>
          </a:bodyPr>
          <a:lstStyle/>
          <a:p>
            <a:pPr indent="-374650" lvl="0" marL="457200" rtl="0" algn="l">
              <a:lnSpc>
                <a:spcPct val="100000"/>
              </a:lnSpc>
              <a:spcBef>
                <a:spcPts val="1000"/>
              </a:spcBef>
              <a:spcAft>
                <a:spcPts val="0"/>
              </a:spcAft>
              <a:buClr>
                <a:schemeClr val="dk1"/>
              </a:buClr>
              <a:buSzPts val="2300"/>
              <a:buFont typeface="Bookman Old Style"/>
              <a:buChar char="•"/>
            </a:pPr>
            <a:r>
              <a:rPr b="1" lang="en-IN">
                <a:solidFill>
                  <a:schemeClr val="dk1"/>
                </a:solidFill>
              </a:rPr>
              <a:t>Simple Architecture: </a:t>
            </a:r>
            <a:r>
              <a:rPr lang="en-IN">
                <a:solidFill>
                  <a:schemeClr val="dk1"/>
                </a:solidFill>
              </a:rPr>
              <a:t>1-Tier Architecture is the most simple architecture to set up, as only a single machine is required to maintain it.</a:t>
            </a:r>
            <a:endParaRPr>
              <a:solidFill>
                <a:schemeClr val="dk1"/>
              </a:solidFill>
            </a:endParaRPr>
          </a:p>
          <a:p>
            <a:pPr indent="-374650" lvl="0" marL="457200" rtl="0" algn="l">
              <a:lnSpc>
                <a:spcPct val="100000"/>
              </a:lnSpc>
              <a:spcBef>
                <a:spcPts val="0"/>
              </a:spcBef>
              <a:spcAft>
                <a:spcPts val="0"/>
              </a:spcAft>
              <a:buClr>
                <a:schemeClr val="dk1"/>
              </a:buClr>
              <a:buSzPts val="2300"/>
              <a:buFont typeface="Bookman Old Style"/>
              <a:buChar char="•"/>
            </a:pPr>
            <a:r>
              <a:rPr b="1" lang="en-IN">
                <a:solidFill>
                  <a:schemeClr val="dk1"/>
                </a:solidFill>
              </a:rPr>
              <a:t>Cost-Effective:</a:t>
            </a:r>
            <a:r>
              <a:rPr lang="en-IN">
                <a:solidFill>
                  <a:schemeClr val="dk1"/>
                </a:solidFill>
              </a:rPr>
              <a:t> No additional hardware is required for implementing 1-Tier Architecture, which makes it cost-effective.</a:t>
            </a:r>
            <a:endParaRPr b="1">
              <a:solidFill>
                <a:schemeClr val="dk1"/>
              </a:solidFill>
            </a:endParaRPr>
          </a:p>
          <a:p>
            <a:pPr indent="-374650" lvl="0" marL="457200" rtl="0" algn="l">
              <a:lnSpc>
                <a:spcPct val="100000"/>
              </a:lnSpc>
              <a:spcBef>
                <a:spcPts val="0"/>
              </a:spcBef>
              <a:spcAft>
                <a:spcPts val="0"/>
              </a:spcAft>
              <a:buClr>
                <a:schemeClr val="dk1"/>
              </a:buClr>
              <a:buSzPts val="2300"/>
              <a:buFont typeface="Bookman Old Style"/>
              <a:buChar char="•"/>
            </a:pPr>
            <a:r>
              <a:rPr b="1" lang="en-IN">
                <a:solidFill>
                  <a:schemeClr val="dk1"/>
                </a:solidFill>
              </a:rPr>
              <a:t> Easy to Implement: </a:t>
            </a:r>
            <a:r>
              <a:rPr lang="en-IN">
                <a:solidFill>
                  <a:schemeClr val="dk1"/>
                </a:solidFill>
              </a:rPr>
              <a:t>1-Tier Architecture can be easily deployed and hence it is mostly used in small projects.Architecture is the most simple architecture to set up, as only a single machine is required to</a:t>
            </a:r>
            <a:endParaRPr>
              <a:solidFill>
                <a:schemeClr val="dk1"/>
              </a:solidFill>
            </a:endParaRPr>
          </a:p>
          <a:p>
            <a:pPr indent="0" lvl="0" marL="0" rtl="0" algn="l">
              <a:lnSpc>
                <a:spcPct val="100000"/>
              </a:lnSpc>
              <a:spcBef>
                <a:spcPts val="1000"/>
              </a:spcBef>
              <a:spcAft>
                <a:spcPts val="0"/>
              </a:spcAft>
              <a:buClr>
                <a:schemeClr val="dk1"/>
              </a:buClr>
              <a:buSzPts val="1100"/>
              <a:buFont typeface="Arial"/>
              <a:buNone/>
            </a:pPr>
            <a:r>
              <a:t/>
            </a:r>
            <a:endParaRPr sz="3100">
              <a:solidFill>
                <a:schemeClr val="dk1"/>
              </a:solidFill>
              <a:latin typeface="Arial"/>
              <a:ea typeface="Arial"/>
              <a:cs typeface="Arial"/>
              <a:sym typeface="Arial"/>
            </a:endParaRPr>
          </a:p>
        </p:txBody>
      </p:sp>
      <p:pic>
        <p:nvPicPr>
          <p:cNvPr id="219" name="Google Shape;219;g3f99698171e_0_9"/>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20" name="Google Shape;220;g3f99698171e_0_9"/>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21" name="Google Shape;221;g3f99698171e_0_9"/>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22" name="Google Shape;222;g3f99698171e_0_9"/>
          <p:cNvSpPr txBox="1"/>
          <p:nvPr/>
        </p:nvSpPr>
        <p:spPr>
          <a:xfrm>
            <a:off x="6336500" y="2105550"/>
            <a:ext cx="5274000" cy="5313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262626"/>
              </a:buClr>
              <a:buSzPts val="18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Limited to Single User: </a:t>
            </a:r>
            <a:r>
              <a:rPr b="0" i="0" lang="en-IN" sz="1800" u="none" cap="none" strike="noStrike">
                <a:solidFill>
                  <a:srgbClr val="262626"/>
                </a:solidFill>
                <a:latin typeface="Bookman Old Style"/>
                <a:ea typeface="Bookman Old Style"/>
                <a:cs typeface="Bookman Old Style"/>
                <a:sym typeface="Bookman Old Style"/>
              </a:rPr>
              <a:t>Only one person can use the application at a time. It’s not designed for multiple users or teamwork.</a:t>
            </a:r>
            <a:endParaRPr b="0" i="0" sz="1800" u="none" cap="none" strike="noStrike">
              <a:solidFill>
                <a:srgbClr val="262626"/>
              </a:solidFill>
              <a:latin typeface="Bookman Old Style"/>
              <a:ea typeface="Bookman Old Style"/>
              <a:cs typeface="Bookman Old Style"/>
              <a:sym typeface="Bookman Old Style"/>
            </a:endParaRPr>
          </a:p>
          <a:p>
            <a:pPr indent="-342900" lvl="0" marL="457200" marR="0" rtl="0" algn="l">
              <a:lnSpc>
                <a:spcPct val="100000"/>
              </a:lnSpc>
              <a:spcBef>
                <a:spcPts val="0"/>
              </a:spcBef>
              <a:spcAft>
                <a:spcPts val="0"/>
              </a:spcAft>
              <a:buClr>
                <a:srgbClr val="262626"/>
              </a:buClr>
              <a:buSzPts val="18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Poor Security:</a:t>
            </a:r>
            <a:r>
              <a:rPr b="0" i="0" lang="en-IN" sz="1800" u="none" cap="none" strike="noStrike">
                <a:solidFill>
                  <a:srgbClr val="262626"/>
                </a:solidFill>
                <a:latin typeface="Bookman Old Style"/>
                <a:ea typeface="Bookman Old Style"/>
                <a:cs typeface="Bookman Old Style"/>
                <a:sym typeface="Bookman Old Style"/>
              </a:rPr>
              <a:t> Since everything is on the same machine, if someone gets access to the system, they can access both the data and the application easily.</a:t>
            </a:r>
            <a:endParaRPr b="0" i="0" sz="1800" u="none" cap="none" strike="noStrike">
              <a:solidFill>
                <a:srgbClr val="262626"/>
              </a:solidFill>
              <a:latin typeface="Bookman Old Style"/>
              <a:ea typeface="Bookman Old Style"/>
              <a:cs typeface="Bookman Old Style"/>
              <a:sym typeface="Bookman Old Style"/>
            </a:endParaRPr>
          </a:p>
          <a:p>
            <a:pPr indent="-342900" lvl="0" marL="457200" marR="0" rtl="0" algn="l">
              <a:lnSpc>
                <a:spcPct val="100000"/>
              </a:lnSpc>
              <a:spcBef>
                <a:spcPts val="0"/>
              </a:spcBef>
              <a:spcAft>
                <a:spcPts val="0"/>
              </a:spcAft>
              <a:buClr>
                <a:srgbClr val="262626"/>
              </a:buClr>
              <a:buSzPts val="18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No Centralized Control:</a:t>
            </a:r>
            <a:r>
              <a:rPr b="0" i="0" lang="en-IN" sz="1800" u="none" cap="none" strike="noStrike">
                <a:solidFill>
                  <a:srgbClr val="262626"/>
                </a:solidFill>
                <a:latin typeface="Bookman Old Style"/>
                <a:ea typeface="Bookman Old Style"/>
                <a:cs typeface="Bookman Old Style"/>
                <a:sym typeface="Bookman Old Style"/>
              </a:rPr>
              <a:t> Data is stored locally, so there's no central database. This makes it hard to manage or back up data across multiple devices.</a:t>
            </a:r>
            <a:endParaRPr b="0" i="0" sz="1800" u="none" cap="none" strike="noStrike">
              <a:solidFill>
                <a:srgbClr val="262626"/>
              </a:solidFill>
              <a:latin typeface="Bookman Old Style"/>
              <a:ea typeface="Bookman Old Style"/>
              <a:cs typeface="Bookman Old Style"/>
              <a:sym typeface="Bookman Old Style"/>
            </a:endParaRPr>
          </a:p>
          <a:p>
            <a:pPr indent="-342900" lvl="0" marL="457200" marR="0" rtl="0" algn="l">
              <a:lnSpc>
                <a:spcPct val="100000"/>
              </a:lnSpc>
              <a:spcBef>
                <a:spcPts val="0"/>
              </a:spcBef>
              <a:spcAft>
                <a:spcPts val="0"/>
              </a:spcAft>
              <a:buClr>
                <a:srgbClr val="262626"/>
              </a:buClr>
              <a:buSzPts val="18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Hard to Share Data:</a:t>
            </a:r>
            <a:r>
              <a:rPr b="0" i="0" lang="en-IN" sz="1800" u="none" cap="none" strike="noStrike">
                <a:solidFill>
                  <a:srgbClr val="262626"/>
                </a:solidFill>
                <a:latin typeface="Bookman Old Style"/>
                <a:ea typeface="Bookman Old Style"/>
                <a:cs typeface="Bookman Old Style"/>
                <a:sym typeface="Bookman Old Style"/>
              </a:rPr>
              <a:t> Sharing data between users is difficult because everything is stored on one computer.</a:t>
            </a:r>
            <a:endParaRPr b="0" i="0" sz="1800" u="none" cap="none" strike="noStrike">
              <a:solidFill>
                <a:srgbClr val="262626"/>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Bookman Old Style"/>
              <a:ea typeface="Bookman Old Style"/>
              <a:cs typeface="Bookman Old Style"/>
              <a:sym typeface="Bookman Old Style"/>
            </a:endParaRPr>
          </a:p>
        </p:txBody>
      </p:sp>
      <p:sp>
        <p:nvSpPr>
          <p:cNvPr id="223" name="Google Shape;223;g3f99698171e_0_9"/>
          <p:cNvSpPr txBox="1"/>
          <p:nvPr/>
        </p:nvSpPr>
        <p:spPr>
          <a:xfrm>
            <a:off x="733000" y="1416875"/>
            <a:ext cx="48015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262626"/>
                </a:solidFill>
                <a:latin typeface="Bookman Old Style"/>
                <a:ea typeface="Bookman Old Style"/>
                <a:cs typeface="Bookman Old Style"/>
                <a:sym typeface="Bookman Old Style"/>
              </a:rPr>
              <a:t>Advantage</a:t>
            </a:r>
            <a:endParaRPr b="1" i="0" sz="1800" u="none" cap="none" strike="noStrike">
              <a:solidFill>
                <a:srgbClr val="262626"/>
              </a:solidFill>
              <a:latin typeface="Bookman Old Style"/>
              <a:ea typeface="Bookman Old Style"/>
              <a:cs typeface="Bookman Old Style"/>
              <a:sym typeface="Bookman Old Style"/>
            </a:endParaRPr>
          </a:p>
        </p:txBody>
      </p:sp>
      <p:sp>
        <p:nvSpPr>
          <p:cNvPr id="224" name="Google Shape;224;g3f99698171e_0_9"/>
          <p:cNvSpPr txBox="1"/>
          <p:nvPr/>
        </p:nvSpPr>
        <p:spPr>
          <a:xfrm>
            <a:off x="6336500" y="1416875"/>
            <a:ext cx="48015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262626"/>
                </a:solidFill>
                <a:latin typeface="Bookman Old Style"/>
                <a:ea typeface="Bookman Old Style"/>
                <a:cs typeface="Bookman Old Style"/>
                <a:sym typeface="Bookman Old Style"/>
              </a:rPr>
              <a:t>Disadvantage</a:t>
            </a:r>
            <a:endParaRPr b="1" i="0" sz="1800" u="none" cap="none" strike="noStrike">
              <a:solidFill>
                <a:srgbClr val="262626"/>
              </a:solidFill>
              <a:latin typeface="Bookman Old Style"/>
              <a:ea typeface="Bookman Old Style"/>
              <a:cs typeface="Bookman Old Style"/>
              <a:sym typeface="Bookman Old Styl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f72c8a0c45_0_16"/>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3333"/>
              <a:buNone/>
            </a:pPr>
            <a:r>
              <a:rPr b="1" lang="en-IN" sz="3300">
                <a:solidFill>
                  <a:schemeClr val="dk1"/>
                </a:solidFill>
              </a:rPr>
              <a:t> 2-Tier Architecture</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30" name="Google Shape;230;g3f72c8a0c45_0_16"/>
          <p:cNvSpPr txBox="1"/>
          <p:nvPr>
            <p:ph idx="1" type="body"/>
          </p:nvPr>
        </p:nvSpPr>
        <p:spPr>
          <a:xfrm>
            <a:off x="196850" y="1346200"/>
            <a:ext cx="7483200" cy="551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The 2-tier architecture is similar to a basic client-server model. The application at the client end directly communicates with the</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database on the server side. APIs like ODBC and JDBC are used</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for this interaction. The server side is responsible for providing</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query processing and transaction management functionalities.</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On the client side, the user interfaces and application programs are run. The application on the client side establishes a connection with the server side to communicate with the DBMS.</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rPr lang="en-IN" sz="7200">
                <a:solidFill>
                  <a:schemeClr val="dk1"/>
                </a:solidFill>
              </a:rPr>
              <a:t> For Example: A Library Management System used in schools or small organizations is a classic example of two-tier architecture.</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ct val="100000"/>
              <a:buFont typeface="Arial"/>
              <a:buNone/>
            </a:pPr>
            <a:r>
              <a:t/>
            </a:r>
            <a:endParaRPr>
              <a:solidFill>
                <a:schemeClr val="dk1"/>
              </a:solidFill>
            </a:endParaRPr>
          </a:p>
          <a:p>
            <a:pPr indent="0" lvl="0" marL="0" rtl="0" algn="l">
              <a:lnSpc>
                <a:spcPct val="165000"/>
              </a:lnSpc>
              <a:spcBef>
                <a:spcPts val="0"/>
              </a:spcBef>
              <a:spcAft>
                <a:spcPts val="0"/>
              </a:spcAft>
              <a:buSzPct val="88009"/>
              <a:buNone/>
            </a:pPr>
            <a:r>
              <a:t/>
            </a:r>
            <a:endParaRPr b="1" sz="8181">
              <a:solidFill>
                <a:srgbClr val="273239"/>
              </a:solidFill>
              <a:latin typeface="Nunito"/>
              <a:ea typeface="Nunito"/>
              <a:cs typeface="Nunito"/>
              <a:sym typeface="Nunito"/>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231" name="Google Shape;231;g3f72c8a0c45_0_16"/>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32" name="Google Shape;232;g3f72c8a0c45_0_16"/>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33" name="Google Shape;233;g3f72c8a0c45_0_16"/>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34" name="Google Shape;234;g3f72c8a0c45_0_16"/>
          <p:cNvPicPr preferRelativeResize="0"/>
          <p:nvPr/>
        </p:nvPicPr>
        <p:blipFill rotWithShape="1">
          <a:blip r:embed="rId5">
            <a:alphaModFix/>
          </a:blip>
          <a:srcRect b="0" l="0" r="0" t="0"/>
          <a:stretch/>
        </p:blipFill>
        <p:spPr>
          <a:xfrm>
            <a:off x="7680125" y="1591438"/>
            <a:ext cx="3810000" cy="381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f72c8a0c45_0_2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3333"/>
              <a:buNone/>
            </a:pPr>
            <a:r>
              <a:rPr b="1" lang="en-IN" sz="3300">
                <a:solidFill>
                  <a:schemeClr val="dk1"/>
                </a:solidFill>
              </a:rPr>
              <a:t> 2-Tier Architecture</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40" name="Google Shape;240;g3f72c8a0c45_0_28"/>
          <p:cNvSpPr txBox="1"/>
          <p:nvPr>
            <p:ph idx="1" type="body"/>
          </p:nvPr>
        </p:nvSpPr>
        <p:spPr>
          <a:xfrm>
            <a:off x="196850" y="1346200"/>
            <a:ext cx="7483200" cy="551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Client Layer (Tier 1): This is the user interface that library staff or users interact with. For example they might use a desktop</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application to search for books, issue them, or check due dates.</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 Database Layer (Tier 2): The database server stores all the library records such as book details, user information and transaction logs.</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 The client layer sends a request (like searching for a book) to the database layer which processes it and sends back the result. This separation allows the client to focus on the user</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ct val="100000"/>
              <a:buFont typeface="Arial"/>
              <a:buNone/>
            </a:pPr>
            <a:r>
              <a:t/>
            </a:r>
            <a:endParaRPr>
              <a:solidFill>
                <a:schemeClr val="dk1"/>
              </a:solidFill>
            </a:endParaRPr>
          </a:p>
          <a:p>
            <a:pPr indent="0" lvl="0" marL="0" rtl="0" algn="l">
              <a:lnSpc>
                <a:spcPct val="165000"/>
              </a:lnSpc>
              <a:spcBef>
                <a:spcPts val="0"/>
              </a:spcBef>
              <a:spcAft>
                <a:spcPts val="0"/>
              </a:spcAft>
              <a:buSzPct val="88009"/>
              <a:buNone/>
            </a:pPr>
            <a:r>
              <a:t/>
            </a:r>
            <a:endParaRPr b="1" sz="8181">
              <a:solidFill>
                <a:srgbClr val="273239"/>
              </a:solidFill>
              <a:latin typeface="Nunito"/>
              <a:ea typeface="Nunito"/>
              <a:cs typeface="Nunito"/>
              <a:sym typeface="Nunito"/>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241" name="Google Shape;241;g3f72c8a0c45_0_2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42" name="Google Shape;242;g3f72c8a0c45_0_2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43" name="Google Shape;243;g3f72c8a0c45_0_2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44" name="Google Shape;244;g3f72c8a0c45_0_28"/>
          <p:cNvPicPr preferRelativeResize="0"/>
          <p:nvPr/>
        </p:nvPicPr>
        <p:blipFill rotWithShape="1">
          <a:blip r:embed="rId5">
            <a:alphaModFix/>
          </a:blip>
          <a:srcRect b="0" l="0" r="0" t="0"/>
          <a:stretch/>
        </p:blipFill>
        <p:spPr>
          <a:xfrm>
            <a:off x="7680125" y="1591438"/>
            <a:ext cx="3810000" cy="381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f72c8a0c45_0_3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5484"/>
              <a:buNone/>
            </a:pPr>
            <a:r>
              <a:rPr b="1" lang="en-IN" sz="3100">
                <a:solidFill>
                  <a:schemeClr val="dk1"/>
                </a:solidFill>
              </a:rPr>
              <a:t>Advantage &amp; Disadvantage of 2 Tier Architecture</a:t>
            </a:r>
            <a:r>
              <a:rPr lang="en-IN" sz="3100">
                <a:solidFill>
                  <a:schemeClr val="dk1"/>
                </a:solidFill>
              </a:rPr>
              <a:t> </a:t>
            </a:r>
            <a:endParaRPr b="1" sz="31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50" name="Google Shape;250;g3f72c8a0c45_0_38"/>
          <p:cNvSpPr txBox="1"/>
          <p:nvPr>
            <p:ph idx="1" type="body"/>
          </p:nvPr>
        </p:nvSpPr>
        <p:spPr>
          <a:xfrm>
            <a:off x="6096000" y="2076075"/>
            <a:ext cx="6090600" cy="46557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100000"/>
              </a:lnSpc>
              <a:spcBef>
                <a:spcPts val="1000"/>
              </a:spcBef>
              <a:spcAft>
                <a:spcPts val="0"/>
              </a:spcAft>
              <a:buClr>
                <a:schemeClr val="dk1"/>
              </a:buClr>
              <a:buSzPts val="1800"/>
              <a:buChar char="•"/>
            </a:pPr>
            <a:r>
              <a:rPr b="1" lang="en-IN">
                <a:solidFill>
                  <a:schemeClr val="dk1"/>
                </a:solidFill>
              </a:rPr>
              <a:t>Limited Scalability:</a:t>
            </a:r>
            <a:r>
              <a:rPr lang="en-IN">
                <a:solidFill>
                  <a:schemeClr val="dk1"/>
                </a:solidFill>
              </a:rPr>
              <a:t> As the number of users increases, the system performance can slow down because the server gets overloaded with too many requests.</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b="1" lang="en-IN">
                <a:solidFill>
                  <a:schemeClr val="dk1"/>
                </a:solidFill>
              </a:rPr>
              <a:t> Security Issues:</a:t>
            </a:r>
            <a:r>
              <a:rPr lang="en-IN">
                <a:solidFill>
                  <a:schemeClr val="dk1"/>
                </a:solidFill>
              </a:rPr>
              <a:t> Clients connect directly to the database,which can make the system more vulnerable to attacks or data leaks.</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b="1" lang="en-IN">
                <a:solidFill>
                  <a:schemeClr val="dk1"/>
                </a:solidFill>
              </a:rPr>
              <a:t>Tight Coupling:</a:t>
            </a:r>
            <a:r>
              <a:rPr lang="en-IN">
                <a:solidFill>
                  <a:schemeClr val="dk1"/>
                </a:solidFill>
              </a:rPr>
              <a:t> The client and the server are closely linked. If the database changes, the client application often needs to be updated too.</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b="1" lang="en-IN">
                <a:solidFill>
                  <a:schemeClr val="dk1"/>
                </a:solidFill>
              </a:rPr>
              <a:t>Difficult Maintenance: </a:t>
            </a:r>
            <a:r>
              <a:rPr lang="en-IN">
                <a:solidFill>
                  <a:schemeClr val="dk1"/>
                </a:solidFill>
              </a:rPr>
              <a:t>Managing updates, fixing bugs, oradding features becomes harder when the number of users or systems increases.</a:t>
            </a:r>
            <a:endParaRPr>
              <a:solidFill>
                <a:schemeClr val="dk1"/>
              </a:solidFill>
            </a:endParaRPr>
          </a:p>
          <a:p>
            <a:pPr indent="0" lvl="0" marL="457200" rtl="0" algn="l">
              <a:lnSpc>
                <a:spcPct val="100000"/>
              </a:lnSpc>
              <a:spcBef>
                <a:spcPts val="1000"/>
              </a:spcBef>
              <a:spcAft>
                <a:spcPts val="0"/>
              </a:spcAft>
              <a:buSzPts val="1800"/>
              <a:buNone/>
            </a:pPr>
            <a:r>
              <a:t/>
            </a:r>
            <a:endParaRPr b="1">
              <a:solidFill>
                <a:schemeClr val="dk1"/>
              </a:solidFill>
              <a:latin typeface="Arial"/>
              <a:ea typeface="Arial"/>
              <a:cs typeface="Arial"/>
              <a:sym typeface="Arial"/>
            </a:endParaRPr>
          </a:p>
          <a:p>
            <a:pPr indent="0" lvl="0" marL="0" rtl="0" algn="l">
              <a:lnSpc>
                <a:spcPct val="100000"/>
              </a:lnSpc>
              <a:spcBef>
                <a:spcPts val="1000"/>
              </a:spcBef>
              <a:spcAft>
                <a:spcPts val="0"/>
              </a:spcAft>
              <a:buSzPts val="1800"/>
              <a:buNone/>
            </a:pPr>
            <a:r>
              <a:t/>
            </a:r>
            <a:endParaRPr sz="3100">
              <a:solidFill>
                <a:schemeClr val="dk1"/>
              </a:solidFill>
              <a:latin typeface="Arial"/>
              <a:ea typeface="Arial"/>
              <a:cs typeface="Arial"/>
              <a:sym typeface="Arial"/>
            </a:endParaRPr>
          </a:p>
        </p:txBody>
      </p:sp>
      <p:pic>
        <p:nvPicPr>
          <p:cNvPr id="251" name="Google Shape;251;g3f72c8a0c45_0_3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52" name="Google Shape;252;g3f72c8a0c45_0_3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53" name="Google Shape;253;g3f72c8a0c45_0_3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54" name="Google Shape;254;g3f72c8a0c45_0_38"/>
          <p:cNvSpPr txBox="1"/>
          <p:nvPr/>
        </p:nvSpPr>
        <p:spPr>
          <a:xfrm>
            <a:off x="236150" y="2076075"/>
            <a:ext cx="5918400" cy="40539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Easy to Access:</a:t>
            </a:r>
            <a:r>
              <a:rPr b="0" i="0" lang="en-IN" sz="1800" u="none" cap="none" strike="noStrike">
                <a:solidFill>
                  <a:srgbClr val="262626"/>
                </a:solidFill>
                <a:latin typeface="Bookman Old Style"/>
                <a:ea typeface="Bookman Old Style"/>
                <a:cs typeface="Bookman Old Style"/>
                <a:sym typeface="Bookman Old Style"/>
              </a:rPr>
              <a:t> 2-Tier Architecture makes easy access to the database, which makes fast retrieval.</a:t>
            </a:r>
            <a:endParaRPr b="0" i="0" sz="1800" u="none" cap="none" strike="noStrike">
              <a:solidFill>
                <a:srgbClr val="262626"/>
              </a:solidFill>
              <a:latin typeface="Bookman Old Style"/>
              <a:ea typeface="Bookman Old Style"/>
              <a:cs typeface="Bookman Old Style"/>
              <a:sym typeface="Bookman Old Style"/>
            </a:endParaRPr>
          </a:p>
          <a:p>
            <a:pPr indent="-298450" lvl="0" marL="457200" marR="0" rtl="0" algn="l">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Scalable: </a:t>
            </a:r>
            <a:r>
              <a:rPr b="0" i="0" lang="en-IN" sz="1800" u="none" cap="none" strike="noStrike">
                <a:solidFill>
                  <a:srgbClr val="262626"/>
                </a:solidFill>
                <a:latin typeface="Bookman Old Style"/>
                <a:ea typeface="Bookman Old Style"/>
                <a:cs typeface="Bookman Old Style"/>
                <a:sym typeface="Bookman Old Style"/>
              </a:rPr>
              <a:t>We can scale the database easily, by adding clients or upgrading hardware.</a:t>
            </a:r>
            <a:endParaRPr b="0" i="0" sz="1800" u="none" cap="none" strike="noStrike">
              <a:solidFill>
                <a:srgbClr val="262626"/>
              </a:solidFill>
              <a:latin typeface="Bookman Old Style"/>
              <a:ea typeface="Bookman Old Style"/>
              <a:cs typeface="Bookman Old Style"/>
              <a:sym typeface="Bookman Old Style"/>
            </a:endParaRPr>
          </a:p>
          <a:p>
            <a:pPr indent="-298450" lvl="0" marL="457200" marR="0" rtl="0" algn="l">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Low Cost:</a:t>
            </a:r>
            <a:r>
              <a:rPr b="0" i="0" lang="en-IN" sz="1800" u="none" cap="none" strike="noStrike">
                <a:solidFill>
                  <a:srgbClr val="262626"/>
                </a:solidFill>
                <a:latin typeface="Bookman Old Style"/>
                <a:ea typeface="Bookman Old Style"/>
                <a:cs typeface="Bookman Old Style"/>
                <a:sym typeface="Bookman Old Style"/>
              </a:rPr>
              <a:t> 2-Tier Architecture is cheaper than 3-Tier Architecture and Multi-Tier Architecture. </a:t>
            </a:r>
            <a:endParaRPr b="0" i="0" sz="1800" u="none" cap="none" strike="noStrike">
              <a:solidFill>
                <a:srgbClr val="262626"/>
              </a:solidFill>
              <a:latin typeface="Bookman Old Style"/>
              <a:ea typeface="Bookman Old Style"/>
              <a:cs typeface="Bookman Old Style"/>
              <a:sym typeface="Bookman Old Style"/>
            </a:endParaRPr>
          </a:p>
          <a:p>
            <a:pPr indent="-298450" lvl="0" marL="457200" marR="0" rtl="0" algn="l">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Easy Deployment:</a:t>
            </a:r>
            <a:r>
              <a:rPr b="0" i="0" lang="en-IN" sz="1800" u="none" cap="none" strike="noStrike">
                <a:solidFill>
                  <a:srgbClr val="262626"/>
                </a:solidFill>
                <a:latin typeface="Bookman Old Style"/>
                <a:ea typeface="Bookman Old Style"/>
                <a:cs typeface="Bookman Old Style"/>
                <a:sym typeface="Bookman Old Style"/>
              </a:rPr>
              <a:t> 2-Tier Architecture is easier to deploy than 3-Tier Architecture.</a:t>
            </a:r>
            <a:endParaRPr b="0" i="0" sz="1800" u="none" cap="none" strike="noStrike">
              <a:solidFill>
                <a:srgbClr val="262626"/>
              </a:solidFill>
              <a:latin typeface="Bookman Old Style"/>
              <a:ea typeface="Bookman Old Style"/>
              <a:cs typeface="Bookman Old Style"/>
              <a:sym typeface="Bookman Old Style"/>
            </a:endParaRPr>
          </a:p>
          <a:p>
            <a:pPr indent="-298450" lvl="0" marL="457200" marR="0" rtl="0" algn="l">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Simple:</a:t>
            </a:r>
            <a:r>
              <a:rPr b="0" i="0" lang="en-IN" sz="1800" u="none" cap="none" strike="noStrike">
                <a:solidFill>
                  <a:srgbClr val="262626"/>
                </a:solidFill>
                <a:latin typeface="Bookman Old Style"/>
                <a:ea typeface="Bookman Old Style"/>
                <a:cs typeface="Bookman Old Style"/>
                <a:sym typeface="Bookman Old Style"/>
              </a:rPr>
              <a:t> 2-Tier Architecture is easily understandable as well as simple because of only two components.</a:t>
            </a:r>
            <a:endParaRPr b="0" i="0" sz="1800" u="none" cap="none" strike="noStrike">
              <a:solidFill>
                <a:srgbClr val="262626"/>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262626"/>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Bookman Old Style"/>
              <a:ea typeface="Bookman Old Style"/>
              <a:cs typeface="Bookman Old Style"/>
              <a:sym typeface="Bookman Old Style"/>
            </a:endParaRPr>
          </a:p>
        </p:txBody>
      </p:sp>
      <p:sp>
        <p:nvSpPr>
          <p:cNvPr id="255" name="Google Shape;255;g3f72c8a0c45_0_38"/>
          <p:cNvSpPr txBox="1"/>
          <p:nvPr/>
        </p:nvSpPr>
        <p:spPr>
          <a:xfrm>
            <a:off x="733000" y="1416875"/>
            <a:ext cx="48015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262626"/>
                </a:solidFill>
                <a:latin typeface="Bookman Old Style"/>
                <a:ea typeface="Bookman Old Style"/>
                <a:cs typeface="Bookman Old Style"/>
                <a:sym typeface="Bookman Old Style"/>
              </a:rPr>
              <a:t>Advantage</a:t>
            </a:r>
            <a:endParaRPr b="1" i="0" sz="1800" u="none" cap="none" strike="noStrike">
              <a:solidFill>
                <a:srgbClr val="262626"/>
              </a:solidFill>
              <a:latin typeface="Bookman Old Style"/>
              <a:ea typeface="Bookman Old Style"/>
              <a:cs typeface="Bookman Old Style"/>
              <a:sym typeface="Bookman Old Style"/>
            </a:endParaRPr>
          </a:p>
        </p:txBody>
      </p:sp>
      <p:sp>
        <p:nvSpPr>
          <p:cNvPr id="256" name="Google Shape;256;g3f72c8a0c45_0_38"/>
          <p:cNvSpPr txBox="1"/>
          <p:nvPr/>
        </p:nvSpPr>
        <p:spPr>
          <a:xfrm>
            <a:off x="6336500" y="1416875"/>
            <a:ext cx="48015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262626"/>
                </a:solidFill>
                <a:latin typeface="Bookman Old Style"/>
                <a:ea typeface="Bookman Old Style"/>
                <a:cs typeface="Bookman Old Style"/>
                <a:sym typeface="Bookman Old Style"/>
              </a:rPr>
              <a:t>Disadvantage</a:t>
            </a:r>
            <a:endParaRPr b="1" i="0" sz="1800" u="none" cap="none" strike="noStrike">
              <a:solidFill>
                <a:srgbClr val="262626"/>
              </a:solidFill>
              <a:latin typeface="Bookman Old Style"/>
              <a:ea typeface="Bookman Old Style"/>
              <a:cs typeface="Bookman Old Style"/>
              <a:sym typeface="Bookman Old Styl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f72c8a0c45_0_52"/>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3333"/>
              <a:buNone/>
            </a:pPr>
            <a:r>
              <a:rPr b="1" lang="en-IN" sz="3300">
                <a:solidFill>
                  <a:schemeClr val="dk1"/>
                </a:solidFill>
              </a:rPr>
              <a:t> 3-Tier Architecture</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62" name="Google Shape;262;g3f72c8a0c45_0_52"/>
          <p:cNvSpPr txBox="1"/>
          <p:nvPr>
            <p:ph idx="1" type="body"/>
          </p:nvPr>
        </p:nvSpPr>
        <p:spPr>
          <a:xfrm>
            <a:off x="196850" y="1346200"/>
            <a:ext cx="6897300" cy="551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50000"/>
              </a:lnSpc>
              <a:spcBef>
                <a:spcPts val="0"/>
              </a:spcBef>
              <a:spcAft>
                <a:spcPts val="0"/>
              </a:spcAft>
              <a:buClr>
                <a:schemeClr val="dk1"/>
              </a:buClr>
              <a:buSzPts val="275"/>
              <a:buFont typeface="Arial"/>
              <a:buNone/>
            </a:pPr>
            <a:r>
              <a:rPr lang="en-IN" sz="7565">
                <a:solidFill>
                  <a:schemeClr val="dk1"/>
                </a:solidFill>
              </a:rPr>
              <a:t>In 3-Tier Architecture, there is another layer between the client and the server. The client does not directly communicate with the server. Instead, it interacts with an application server which further communicates with the database system and then the query processing and transaction management takes place. </a:t>
            </a:r>
            <a:endParaRPr sz="7565">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565">
                <a:solidFill>
                  <a:schemeClr val="dk1"/>
                </a:solidFill>
              </a:rPr>
              <a:t>This intermediate layer acts as a medium for the exchange of partially processed data between the server and the client. This type of architecture is used in the case of large web applications.</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ct val="100000"/>
              <a:buFont typeface="Arial"/>
              <a:buNone/>
            </a:pPr>
            <a:r>
              <a:t/>
            </a:r>
            <a:endParaRPr>
              <a:solidFill>
                <a:schemeClr val="dk1"/>
              </a:solidFill>
            </a:endParaRPr>
          </a:p>
          <a:p>
            <a:pPr indent="0" lvl="0" marL="0" rtl="0" algn="l">
              <a:lnSpc>
                <a:spcPct val="165000"/>
              </a:lnSpc>
              <a:spcBef>
                <a:spcPts val="0"/>
              </a:spcBef>
              <a:spcAft>
                <a:spcPts val="0"/>
              </a:spcAft>
              <a:buSzPct val="88009"/>
              <a:buNone/>
            </a:pPr>
            <a:r>
              <a:t/>
            </a:r>
            <a:endParaRPr b="1" sz="8181">
              <a:solidFill>
                <a:srgbClr val="273239"/>
              </a:solidFill>
              <a:latin typeface="Nunito"/>
              <a:ea typeface="Nunito"/>
              <a:cs typeface="Nunito"/>
              <a:sym typeface="Nunito"/>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263" name="Google Shape;263;g3f72c8a0c45_0_52"/>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64" name="Google Shape;264;g3f72c8a0c45_0_52"/>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65" name="Google Shape;265;g3f72c8a0c45_0_52"/>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66" name="Google Shape;266;g3f72c8a0c45_0_52"/>
          <p:cNvPicPr preferRelativeResize="0"/>
          <p:nvPr/>
        </p:nvPicPr>
        <p:blipFill rotWithShape="1">
          <a:blip r:embed="rId5">
            <a:alphaModFix/>
          </a:blip>
          <a:srcRect b="0" l="0" r="0" t="0"/>
          <a:stretch/>
        </p:blipFill>
        <p:spPr>
          <a:xfrm>
            <a:off x="7409000" y="1454450"/>
            <a:ext cx="5214850" cy="4460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f72c8a0c45_0_63"/>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3333"/>
              <a:buNone/>
            </a:pPr>
            <a:r>
              <a:rPr b="1" lang="en-IN" sz="3300">
                <a:solidFill>
                  <a:schemeClr val="dk1"/>
                </a:solidFill>
              </a:rPr>
              <a:t> 3-Tier Architecture</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72" name="Google Shape;272;g3f72c8a0c45_0_63"/>
          <p:cNvSpPr txBox="1"/>
          <p:nvPr>
            <p:ph idx="1" type="body"/>
          </p:nvPr>
        </p:nvSpPr>
        <p:spPr>
          <a:xfrm>
            <a:off x="216550" y="1680725"/>
            <a:ext cx="5628000" cy="42720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Example: E-commerce Store</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 User: You visit an online store, search for a product and add it to your cart.</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 Processing: The system checks if the product is in stock,calculates the total price and applies any discounts.</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rPr lang="en-IN" sz="7200">
                <a:solidFill>
                  <a:schemeClr val="dk1"/>
                </a:solidFill>
              </a:rPr>
              <a:t>• Database: The product details, your cart and order history are stored in the database for future reference.</a:t>
            </a:r>
            <a:endParaRPr sz="7200">
              <a:solidFill>
                <a:schemeClr val="dk1"/>
              </a:solidFill>
            </a:endParaRPr>
          </a:p>
          <a:p>
            <a:pPr indent="0" lvl="0" marL="0" rtl="0" algn="just">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just">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565">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ts val="275"/>
              <a:buFont typeface="Arial"/>
              <a:buNone/>
            </a:pPr>
            <a:r>
              <a:t/>
            </a:r>
            <a:endParaRPr sz="7200">
              <a:solidFill>
                <a:schemeClr val="dk1"/>
              </a:solidFill>
            </a:endParaRPr>
          </a:p>
          <a:p>
            <a:pPr indent="0" lvl="0" marL="0" rtl="0" algn="l">
              <a:lnSpc>
                <a:spcPct val="150000"/>
              </a:lnSpc>
              <a:spcBef>
                <a:spcPts val="0"/>
              </a:spcBef>
              <a:spcAft>
                <a:spcPts val="0"/>
              </a:spcAft>
              <a:buClr>
                <a:schemeClr val="dk1"/>
              </a:buClr>
              <a:buSzPct val="100000"/>
              <a:buFont typeface="Arial"/>
              <a:buNone/>
            </a:pPr>
            <a:r>
              <a:t/>
            </a:r>
            <a:endParaRPr>
              <a:solidFill>
                <a:schemeClr val="dk1"/>
              </a:solidFill>
            </a:endParaRPr>
          </a:p>
          <a:p>
            <a:pPr indent="0" lvl="0" marL="0" rtl="0" algn="l">
              <a:lnSpc>
                <a:spcPct val="165000"/>
              </a:lnSpc>
              <a:spcBef>
                <a:spcPts val="0"/>
              </a:spcBef>
              <a:spcAft>
                <a:spcPts val="0"/>
              </a:spcAft>
              <a:buSzPct val="88009"/>
              <a:buNone/>
            </a:pPr>
            <a:r>
              <a:t/>
            </a:r>
            <a:endParaRPr b="1" sz="8181">
              <a:solidFill>
                <a:srgbClr val="273239"/>
              </a:solidFill>
              <a:latin typeface="Nunito"/>
              <a:ea typeface="Nunito"/>
              <a:cs typeface="Nunito"/>
              <a:sym typeface="Nunito"/>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273" name="Google Shape;273;g3f72c8a0c45_0_63"/>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74" name="Google Shape;274;g3f72c8a0c45_0_63"/>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75" name="Google Shape;275;g3f72c8a0c45_0_63"/>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76" name="Google Shape;276;g3f72c8a0c45_0_63"/>
          <p:cNvPicPr preferRelativeResize="0"/>
          <p:nvPr/>
        </p:nvPicPr>
        <p:blipFill rotWithShape="1">
          <a:blip r:embed="rId5">
            <a:alphaModFix/>
          </a:blip>
          <a:srcRect b="0" l="0" r="0" t="0"/>
          <a:stretch/>
        </p:blipFill>
        <p:spPr>
          <a:xfrm>
            <a:off x="5909775" y="1366750"/>
            <a:ext cx="5976126" cy="4635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f72c8a0c45_0_74"/>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rPr>
              <a:t> </a:t>
            </a:r>
            <a:endParaRPr sz="3100">
              <a:solidFill>
                <a:srgbClr val="1E293B"/>
              </a:solidFill>
              <a:highlight>
                <a:srgbClr val="FFFFFF"/>
              </a:highlight>
            </a:endParaRPr>
          </a:p>
          <a:p>
            <a:pPr indent="0" lvl="0" marL="0" marR="66675" rtl="0" algn="just">
              <a:lnSpc>
                <a:spcPct val="100000"/>
              </a:lnSpc>
              <a:spcBef>
                <a:spcPts val="0"/>
              </a:spcBef>
              <a:spcAft>
                <a:spcPts val="0"/>
              </a:spcAft>
              <a:buSzPct val="35484"/>
              <a:buNone/>
            </a:pPr>
            <a:r>
              <a:rPr b="1" lang="en-IN" sz="3100">
                <a:solidFill>
                  <a:schemeClr val="dk1"/>
                </a:solidFill>
              </a:rPr>
              <a:t>Advantage &amp; Disadvantage of 3 Tier Architecture</a:t>
            </a:r>
            <a:r>
              <a:rPr lang="en-IN" sz="3100">
                <a:solidFill>
                  <a:schemeClr val="dk1"/>
                </a:solidFill>
              </a:rPr>
              <a:t> </a:t>
            </a:r>
            <a:endParaRPr b="1" sz="31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82" name="Google Shape;282;g3f72c8a0c45_0_74"/>
          <p:cNvSpPr txBox="1"/>
          <p:nvPr>
            <p:ph idx="1" type="body"/>
          </p:nvPr>
        </p:nvSpPr>
        <p:spPr>
          <a:xfrm>
            <a:off x="5993400" y="2076075"/>
            <a:ext cx="6198600" cy="4655700"/>
          </a:xfrm>
          <a:prstGeom prst="rect">
            <a:avLst/>
          </a:prstGeom>
          <a:noFill/>
          <a:ln>
            <a:noFill/>
          </a:ln>
        </p:spPr>
        <p:txBody>
          <a:bodyPr anchorCtr="0" anchor="t" bIns="45700" lIns="91425" spcFirstLastPara="1" rIns="91425" wrap="square" tIns="45700">
            <a:normAutofit fontScale="25000" lnSpcReduction="10000"/>
          </a:bodyPr>
          <a:lstStyle/>
          <a:p>
            <a:pPr indent="-344488" lvl="0" marL="457200" rtl="0" algn="just">
              <a:lnSpc>
                <a:spcPct val="100000"/>
              </a:lnSpc>
              <a:spcBef>
                <a:spcPts val="1000"/>
              </a:spcBef>
              <a:spcAft>
                <a:spcPts val="0"/>
              </a:spcAft>
              <a:buClr>
                <a:schemeClr val="dk1"/>
              </a:buClr>
              <a:buSzPct val="100000"/>
              <a:buChar char="•"/>
            </a:pPr>
            <a:r>
              <a:rPr b="1" lang="en-IN" sz="7300">
                <a:solidFill>
                  <a:schemeClr val="dk1"/>
                </a:solidFill>
              </a:rPr>
              <a:t>More Complex:</a:t>
            </a:r>
            <a:r>
              <a:rPr lang="en-IN" sz="7300">
                <a:solidFill>
                  <a:schemeClr val="dk1"/>
                </a:solidFill>
              </a:rPr>
              <a:t> 3-Tier Architecture is more complex incomparison to 2-Tier Architecture. Communication Points arealso doubled in 3-Tier Architecture.</a:t>
            </a:r>
            <a:endParaRPr sz="7300">
              <a:solidFill>
                <a:schemeClr val="dk1"/>
              </a:solidFill>
            </a:endParaRPr>
          </a:p>
          <a:p>
            <a:pPr indent="-344488" lvl="0" marL="457200" rtl="0" algn="just">
              <a:lnSpc>
                <a:spcPct val="100000"/>
              </a:lnSpc>
              <a:spcBef>
                <a:spcPts val="0"/>
              </a:spcBef>
              <a:spcAft>
                <a:spcPts val="0"/>
              </a:spcAft>
              <a:buClr>
                <a:schemeClr val="dk1"/>
              </a:buClr>
              <a:buSzPct val="100000"/>
              <a:buChar char="•"/>
            </a:pPr>
            <a:r>
              <a:rPr b="1" lang="en-IN" sz="7300">
                <a:solidFill>
                  <a:schemeClr val="dk1"/>
                </a:solidFill>
              </a:rPr>
              <a:t>Difficult to Interact:</a:t>
            </a:r>
            <a:r>
              <a:rPr lang="en-IN" sz="7300">
                <a:solidFill>
                  <a:schemeClr val="dk1"/>
                </a:solidFill>
              </a:rPr>
              <a:t> It becomes difficult for this sort of interaction to take place due to the presence of middle layers.</a:t>
            </a:r>
            <a:endParaRPr sz="7300">
              <a:solidFill>
                <a:schemeClr val="dk1"/>
              </a:solidFill>
            </a:endParaRPr>
          </a:p>
          <a:p>
            <a:pPr indent="-344488" lvl="0" marL="457200" rtl="0" algn="just">
              <a:lnSpc>
                <a:spcPct val="100000"/>
              </a:lnSpc>
              <a:spcBef>
                <a:spcPts val="0"/>
              </a:spcBef>
              <a:spcAft>
                <a:spcPts val="0"/>
              </a:spcAft>
              <a:buClr>
                <a:schemeClr val="dk1"/>
              </a:buClr>
              <a:buSzPct val="100000"/>
              <a:buChar char="•"/>
            </a:pPr>
            <a:r>
              <a:rPr b="1" lang="en-IN" sz="7300">
                <a:solidFill>
                  <a:schemeClr val="dk1"/>
                </a:solidFill>
              </a:rPr>
              <a:t>Slower Response Time:</a:t>
            </a:r>
            <a:r>
              <a:rPr lang="en-IN" sz="7300">
                <a:solidFill>
                  <a:schemeClr val="dk1"/>
                </a:solidFill>
              </a:rPr>
              <a:t> Since the request passes through an extra layer (application server), it may take more time to get a response compared to 2-Tier systems.</a:t>
            </a:r>
            <a:endParaRPr sz="7300">
              <a:solidFill>
                <a:schemeClr val="dk1"/>
              </a:solidFill>
            </a:endParaRPr>
          </a:p>
          <a:p>
            <a:pPr indent="-344488" lvl="0" marL="457200" rtl="0" algn="just">
              <a:lnSpc>
                <a:spcPct val="100000"/>
              </a:lnSpc>
              <a:spcBef>
                <a:spcPts val="0"/>
              </a:spcBef>
              <a:spcAft>
                <a:spcPts val="0"/>
              </a:spcAft>
              <a:buClr>
                <a:schemeClr val="dk1"/>
              </a:buClr>
              <a:buSzPct val="100000"/>
              <a:buChar char="•"/>
            </a:pPr>
            <a:r>
              <a:rPr b="1" lang="en-IN" sz="7300">
                <a:solidFill>
                  <a:schemeClr val="dk1"/>
                </a:solidFill>
              </a:rPr>
              <a:t>Higher Cost:</a:t>
            </a:r>
            <a:r>
              <a:rPr lang="en-IN" sz="7300">
                <a:solidFill>
                  <a:schemeClr val="dk1"/>
                </a:solidFill>
              </a:rPr>
              <a:t> Setting up and maintaining three separate layers (client, server and database) requires more hardware, softwareand skilled people. This makes it more expensive.</a:t>
            </a:r>
            <a:endParaRPr sz="7300">
              <a:solidFill>
                <a:schemeClr val="dk1"/>
              </a:solidFill>
            </a:endParaRPr>
          </a:p>
          <a:p>
            <a:pPr indent="0" lvl="0" marL="457200" rtl="0" algn="l">
              <a:lnSpc>
                <a:spcPct val="100000"/>
              </a:lnSpc>
              <a:spcBef>
                <a:spcPts val="1000"/>
              </a:spcBef>
              <a:spcAft>
                <a:spcPts val="0"/>
              </a:spcAft>
              <a:buSzPts val="1800"/>
              <a:buNone/>
            </a:pPr>
            <a:r>
              <a:t/>
            </a:r>
            <a:endParaRPr b="1">
              <a:solidFill>
                <a:schemeClr val="dk1"/>
              </a:solidFill>
            </a:endParaRPr>
          </a:p>
          <a:p>
            <a:pPr indent="0" lvl="0" marL="0" rtl="0" algn="l">
              <a:lnSpc>
                <a:spcPct val="100000"/>
              </a:lnSpc>
              <a:spcBef>
                <a:spcPts val="1000"/>
              </a:spcBef>
              <a:spcAft>
                <a:spcPts val="0"/>
              </a:spcAft>
              <a:buSzPct val="232258"/>
              <a:buNone/>
            </a:pPr>
            <a:r>
              <a:t/>
            </a:r>
            <a:endParaRPr sz="3100">
              <a:solidFill>
                <a:schemeClr val="dk1"/>
              </a:solidFill>
              <a:latin typeface="Arial"/>
              <a:ea typeface="Arial"/>
              <a:cs typeface="Arial"/>
              <a:sym typeface="Arial"/>
            </a:endParaRPr>
          </a:p>
        </p:txBody>
      </p:sp>
      <p:pic>
        <p:nvPicPr>
          <p:cNvPr id="283" name="Google Shape;283;g3f72c8a0c45_0_74"/>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84" name="Google Shape;284;g3f72c8a0c45_0_74"/>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85" name="Google Shape;285;g3f72c8a0c45_0_74"/>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86" name="Google Shape;286;g3f72c8a0c45_0_74"/>
          <p:cNvSpPr txBox="1"/>
          <p:nvPr/>
        </p:nvSpPr>
        <p:spPr>
          <a:xfrm>
            <a:off x="68875" y="2076075"/>
            <a:ext cx="5647800" cy="4457100"/>
          </a:xfrm>
          <a:prstGeom prst="rect">
            <a:avLst/>
          </a:prstGeom>
          <a:noFill/>
          <a:ln>
            <a:noFill/>
          </a:ln>
        </p:spPr>
        <p:txBody>
          <a:bodyPr anchorCtr="0" anchor="t" bIns="91425" lIns="91425" spcFirstLastPara="1" rIns="91425" wrap="square" tIns="91425">
            <a:noAutofit/>
          </a:bodyPr>
          <a:lstStyle/>
          <a:p>
            <a:pPr indent="-298450" lvl="0" marL="457200" marR="0" rtl="0" algn="just">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Enhanced scalability: </a:t>
            </a:r>
            <a:r>
              <a:rPr b="0" i="0" lang="en-IN" sz="1800" u="none" cap="none" strike="noStrike">
                <a:solidFill>
                  <a:srgbClr val="262626"/>
                </a:solidFill>
                <a:latin typeface="Bookman Old Style"/>
                <a:ea typeface="Bookman Old Style"/>
                <a:cs typeface="Bookman Old Style"/>
                <a:sym typeface="Bookman Old Style"/>
              </a:rPr>
              <a:t>Scalability is enhanced due to the distributed deployment of application servers. Now, individual connections need not be made between the client and server.</a:t>
            </a:r>
            <a:endParaRPr b="0" i="0" sz="1800" u="none" cap="none" strike="noStrike">
              <a:solidFill>
                <a:srgbClr val="262626"/>
              </a:solidFill>
              <a:latin typeface="Bookman Old Style"/>
              <a:ea typeface="Bookman Old Style"/>
              <a:cs typeface="Bookman Old Style"/>
              <a:sym typeface="Bookman Old Style"/>
            </a:endParaRPr>
          </a:p>
          <a:p>
            <a:pPr indent="-298450" lvl="0" marL="457200" marR="0" rtl="0" algn="just">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Data Integrity:</a:t>
            </a:r>
            <a:r>
              <a:rPr b="0" i="0" lang="en-IN" sz="1800" u="none" cap="none" strike="noStrike">
                <a:solidFill>
                  <a:srgbClr val="262626"/>
                </a:solidFill>
                <a:latin typeface="Bookman Old Style"/>
                <a:ea typeface="Bookman Old Style"/>
                <a:cs typeface="Bookman Old Style"/>
                <a:sym typeface="Bookman Old Style"/>
              </a:rPr>
              <a:t> 3-Tier Architecture maintains Data Integrity. Since there is a middle layer between the client and the server, data corruption can be avoided/removed.</a:t>
            </a:r>
            <a:endParaRPr b="0" i="0" sz="1800" u="none" cap="none" strike="noStrike">
              <a:solidFill>
                <a:srgbClr val="262626"/>
              </a:solidFill>
              <a:latin typeface="Bookman Old Style"/>
              <a:ea typeface="Bookman Old Style"/>
              <a:cs typeface="Bookman Old Style"/>
              <a:sym typeface="Bookman Old Style"/>
            </a:endParaRPr>
          </a:p>
          <a:p>
            <a:pPr indent="-298450" lvl="0" marL="457200" marR="0" rtl="0" algn="just">
              <a:lnSpc>
                <a:spcPct val="100000"/>
              </a:lnSpc>
              <a:spcBef>
                <a:spcPts val="0"/>
              </a:spcBef>
              <a:spcAft>
                <a:spcPts val="0"/>
              </a:spcAft>
              <a:buClr>
                <a:srgbClr val="262626"/>
              </a:buClr>
              <a:buSzPts val="1100"/>
              <a:buFont typeface="Bookman Old Style"/>
              <a:buChar char="●"/>
            </a:pPr>
            <a:r>
              <a:rPr b="1" i="0" lang="en-IN" sz="1800" u="none" cap="none" strike="noStrike">
                <a:solidFill>
                  <a:srgbClr val="262626"/>
                </a:solidFill>
                <a:latin typeface="Bookman Old Style"/>
                <a:ea typeface="Bookman Old Style"/>
                <a:cs typeface="Bookman Old Style"/>
                <a:sym typeface="Bookman Old Style"/>
              </a:rPr>
              <a:t>Security:</a:t>
            </a:r>
            <a:r>
              <a:rPr b="0" i="0" lang="en-IN" sz="1800" u="none" cap="none" strike="noStrike">
                <a:solidFill>
                  <a:srgbClr val="262626"/>
                </a:solidFill>
                <a:latin typeface="Bookman Old Style"/>
                <a:ea typeface="Bookman Old Style"/>
                <a:cs typeface="Bookman Old Style"/>
                <a:sym typeface="Bookman Old Style"/>
              </a:rPr>
              <a:t> 3-Tier Architecture Improves Security. This type of model prevents direct interaction of the client with the server thereby reducing access to unauthorized data.</a:t>
            </a:r>
            <a:endParaRPr b="0" i="0" sz="1800" u="none" cap="none" strike="noStrike">
              <a:solidFill>
                <a:srgbClr val="262626"/>
              </a:solidFill>
              <a:latin typeface="Bookman Old Style"/>
              <a:ea typeface="Bookman Old Style"/>
              <a:cs typeface="Bookman Old Style"/>
              <a:sym typeface="Bookman Old Style"/>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262626"/>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262626"/>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Bookman Old Style"/>
              <a:ea typeface="Bookman Old Style"/>
              <a:cs typeface="Bookman Old Style"/>
              <a:sym typeface="Bookman Old Style"/>
            </a:endParaRPr>
          </a:p>
        </p:txBody>
      </p:sp>
      <p:sp>
        <p:nvSpPr>
          <p:cNvPr id="287" name="Google Shape;287;g3f72c8a0c45_0_74"/>
          <p:cNvSpPr txBox="1"/>
          <p:nvPr/>
        </p:nvSpPr>
        <p:spPr>
          <a:xfrm>
            <a:off x="733000" y="1416875"/>
            <a:ext cx="48015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262626"/>
                </a:solidFill>
                <a:latin typeface="Bookman Old Style"/>
                <a:ea typeface="Bookman Old Style"/>
                <a:cs typeface="Bookman Old Style"/>
                <a:sym typeface="Bookman Old Style"/>
              </a:rPr>
              <a:t>Advantage</a:t>
            </a:r>
            <a:endParaRPr b="1" i="0" sz="1800" u="none" cap="none" strike="noStrike">
              <a:solidFill>
                <a:srgbClr val="262626"/>
              </a:solidFill>
              <a:latin typeface="Bookman Old Style"/>
              <a:ea typeface="Bookman Old Style"/>
              <a:cs typeface="Bookman Old Style"/>
              <a:sym typeface="Bookman Old Style"/>
            </a:endParaRPr>
          </a:p>
        </p:txBody>
      </p:sp>
      <p:sp>
        <p:nvSpPr>
          <p:cNvPr id="288" name="Google Shape;288;g3f72c8a0c45_0_74"/>
          <p:cNvSpPr txBox="1"/>
          <p:nvPr/>
        </p:nvSpPr>
        <p:spPr>
          <a:xfrm>
            <a:off x="6336500" y="1416875"/>
            <a:ext cx="48015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262626"/>
                </a:solidFill>
                <a:latin typeface="Bookman Old Style"/>
                <a:ea typeface="Bookman Old Style"/>
                <a:cs typeface="Bookman Old Style"/>
                <a:sym typeface="Bookman Old Style"/>
              </a:rPr>
              <a:t>Disadvantage</a:t>
            </a:r>
            <a:endParaRPr b="1" i="0" sz="1800" u="none" cap="none" strike="noStrike">
              <a:solidFill>
                <a:srgbClr val="262626"/>
              </a:solidFill>
              <a:latin typeface="Bookman Old Style"/>
              <a:ea typeface="Bookman Old Style"/>
              <a:cs typeface="Bookman Old Style"/>
              <a:sym typeface="Bookman Old Styl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f56c74d67c_0_50"/>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rtl="0" algn="ctr">
              <a:lnSpc>
                <a:spcPct val="125000"/>
              </a:lnSpc>
              <a:spcBef>
                <a:spcPts val="0"/>
              </a:spcBef>
              <a:spcAft>
                <a:spcPts val="0"/>
              </a:spcAft>
              <a:buSzPct val="33333"/>
              <a:buNone/>
            </a:pPr>
            <a:r>
              <a:rPr b="1" lang="en-IN" sz="3300">
                <a:solidFill>
                  <a:srgbClr val="1E293B"/>
                </a:solidFill>
                <a:highlight>
                  <a:srgbClr val="FFFFFF"/>
                </a:highlight>
              </a:rPr>
              <a:t>Database Schema</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294" name="Google Shape;294;g3f56c74d67c_0_50"/>
          <p:cNvSpPr txBox="1"/>
          <p:nvPr>
            <p:ph idx="1" type="body"/>
          </p:nvPr>
        </p:nvSpPr>
        <p:spPr>
          <a:xfrm>
            <a:off x="196850" y="1346200"/>
            <a:ext cx="11043300" cy="34533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15000"/>
              </a:lnSpc>
              <a:spcBef>
                <a:spcPts val="0"/>
              </a:spcBef>
              <a:spcAft>
                <a:spcPts val="0"/>
              </a:spcAft>
              <a:buClr>
                <a:srgbClr val="273239"/>
              </a:buClr>
              <a:buSzPts val="1800"/>
              <a:buFont typeface="Bookman Old Style"/>
              <a:buChar char="●"/>
            </a:pPr>
            <a:r>
              <a:rPr lang="en-IN">
                <a:solidFill>
                  <a:srgbClr val="374151"/>
                </a:solidFill>
              </a:rPr>
              <a:t>A database schema is the skeleton structure that represents the logical view of the entire database. It defines how the data is organized and how the relations among them are associated. It formulates all the constraints that are to be applied on the data.</a:t>
            </a:r>
            <a:endParaRPr>
              <a:solidFill>
                <a:srgbClr val="374151"/>
              </a:solidFill>
            </a:endParaRPr>
          </a:p>
          <a:p>
            <a:pPr indent="-342900" lvl="0" marL="457200" rtl="0" algn="l">
              <a:lnSpc>
                <a:spcPct val="115000"/>
              </a:lnSpc>
              <a:spcBef>
                <a:spcPts val="0"/>
              </a:spcBef>
              <a:spcAft>
                <a:spcPts val="0"/>
              </a:spcAft>
              <a:buClr>
                <a:srgbClr val="273239"/>
              </a:buClr>
              <a:buSzPts val="1800"/>
              <a:buFont typeface="Bookman Old Style"/>
              <a:buChar char="●"/>
            </a:pPr>
            <a:r>
              <a:rPr lang="en-IN">
                <a:solidFill>
                  <a:srgbClr val="374151"/>
                </a:solidFill>
              </a:rPr>
              <a:t>A database schema defines its entities and the relationship among them. It contains a descriptive detail of the database, which can be depicted by means of schema diagrams. Its the database designers who design the schema to help programmers understand the database and make it useful.</a:t>
            </a:r>
            <a:endParaRPr>
              <a:solidFill>
                <a:srgbClr val="374151"/>
              </a:solidFill>
            </a:endParaRPr>
          </a:p>
          <a:p>
            <a:pPr indent="0" lvl="0" marL="457200" rtl="0" algn="l">
              <a:lnSpc>
                <a:spcPct val="158000"/>
              </a:lnSpc>
              <a:spcBef>
                <a:spcPts val="1200"/>
              </a:spcBef>
              <a:spcAft>
                <a:spcPts val="0"/>
              </a:spcAft>
              <a:buSzPts val="1800"/>
              <a:buNone/>
            </a:pPr>
            <a:r>
              <a:t/>
            </a:r>
            <a:endParaRPr sz="1850">
              <a:solidFill>
                <a:srgbClr val="273239"/>
              </a:solidFill>
              <a:latin typeface="Nunito"/>
              <a:ea typeface="Nunito"/>
              <a:cs typeface="Nunito"/>
              <a:sym typeface="Nunito"/>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ts val="1800"/>
              <a:buNone/>
            </a:pPr>
            <a:r>
              <a:t/>
            </a:r>
            <a:endParaRPr sz="2000">
              <a:latin typeface="Cambria"/>
              <a:ea typeface="Cambria"/>
              <a:cs typeface="Cambria"/>
              <a:sym typeface="Cambria"/>
            </a:endParaRPr>
          </a:p>
        </p:txBody>
      </p:sp>
      <p:pic>
        <p:nvPicPr>
          <p:cNvPr id="295" name="Google Shape;295;g3f56c74d67c_0_50"/>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296" name="Google Shape;296;g3f56c74d67c_0_50"/>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297" name="Google Shape;297;g3f56c74d67c_0_50"/>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98" name="Google Shape;298;g3f56c74d67c_0_50"/>
          <p:cNvPicPr preferRelativeResize="0"/>
          <p:nvPr/>
        </p:nvPicPr>
        <p:blipFill rotWithShape="1">
          <a:blip r:embed="rId5">
            <a:alphaModFix/>
          </a:blip>
          <a:srcRect b="0" l="0" r="0" t="0"/>
          <a:stretch/>
        </p:blipFill>
        <p:spPr>
          <a:xfrm>
            <a:off x="4115200" y="3320150"/>
            <a:ext cx="7239375" cy="27588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f56c74d67c_0_62"/>
          <p:cNvSpPr txBox="1"/>
          <p:nvPr>
            <p:ph idx="1" type="body"/>
          </p:nvPr>
        </p:nvSpPr>
        <p:spPr>
          <a:xfrm>
            <a:off x="196850" y="1023300"/>
            <a:ext cx="11043300" cy="4542900"/>
          </a:xfrm>
          <a:prstGeom prst="rect">
            <a:avLst/>
          </a:prstGeom>
          <a:noFill/>
          <a:ln>
            <a:noFill/>
          </a:ln>
        </p:spPr>
        <p:txBody>
          <a:bodyPr anchorCtr="0" anchor="t" bIns="45700" lIns="91425" spcFirstLastPara="1" rIns="91425" wrap="square" tIns="45700">
            <a:normAutofit fontScale="25000" lnSpcReduction="10000"/>
          </a:bodyPr>
          <a:lstStyle/>
          <a:p>
            <a:pPr indent="0" lvl="0" marL="0" rtl="0" algn="l">
              <a:lnSpc>
                <a:spcPct val="115000"/>
              </a:lnSpc>
              <a:spcBef>
                <a:spcPts val="0"/>
              </a:spcBef>
              <a:spcAft>
                <a:spcPts val="0"/>
              </a:spcAft>
              <a:buSzPct val="354505"/>
              <a:buNone/>
            </a:pPr>
            <a:r>
              <a:rPr lang="en-IN" sz="2031">
                <a:solidFill>
                  <a:srgbClr val="374151"/>
                </a:solidFill>
                <a:latin typeface="Verdana"/>
                <a:ea typeface="Verdana"/>
                <a:cs typeface="Verdana"/>
                <a:sym typeface="Verdana"/>
              </a:rPr>
              <a:t>A</a:t>
            </a:r>
            <a:r>
              <a:rPr lang="en-IN" sz="8949">
                <a:solidFill>
                  <a:srgbClr val="374151"/>
                </a:solidFill>
                <a:latin typeface="Verdana"/>
                <a:ea typeface="Verdana"/>
                <a:cs typeface="Verdana"/>
                <a:sym typeface="Verdana"/>
              </a:rPr>
              <a:t> </a:t>
            </a:r>
            <a:r>
              <a:rPr lang="en-IN" sz="7200">
                <a:solidFill>
                  <a:srgbClr val="374151"/>
                </a:solidFill>
              </a:rPr>
              <a:t>database schema can be divided broadly into two categories −</a:t>
            </a:r>
            <a:endParaRPr sz="7200">
              <a:solidFill>
                <a:srgbClr val="374151"/>
              </a:solidFill>
            </a:endParaRPr>
          </a:p>
          <a:p>
            <a:pPr indent="-342912" lvl="0" marL="457200" rtl="0" algn="l">
              <a:lnSpc>
                <a:spcPct val="156521"/>
              </a:lnSpc>
              <a:spcBef>
                <a:spcPts val="1200"/>
              </a:spcBef>
              <a:spcAft>
                <a:spcPts val="0"/>
              </a:spcAft>
              <a:buClr>
                <a:schemeClr val="dk1"/>
              </a:buClr>
              <a:buSzPct val="100000"/>
              <a:buFont typeface="Verdana"/>
              <a:buChar char="●"/>
            </a:pPr>
            <a:r>
              <a:rPr b="1" lang="en-IN" sz="7200">
                <a:solidFill>
                  <a:schemeClr val="dk1"/>
                </a:solidFill>
              </a:rPr>
              <a:t>Physical Database Schema</a:t>
            </a:r>
            <a:r>
              <a:rPr lang="en-IN" sz="7200">
                <a:solidFill>
                  <a:schemeClr val="dk1"/>
                </a:solidFill>
              </a:rPr>
              <a:t> − </a:t>
            </a:r>
            <a:endParaRPr sz="7200">
              <a:solidFill>
                <a:schemeClr val="dk1"/>
              </a:solidFill>
            </a:endParaRPr>
          </a:p>
          <a:p>
            <a:pPr indent="0" lvl="0" marL="457200" rtl="0" algn="l">
              <a:lnSpc>
                <a:spcPct val="156521"/>
              </a:lnSpc>
              <a:spcBef>
                <a:spcPts val="1200"/>
              </a:spcBef>
              <a:spcAft>
                <a:spcPts val="0"/>
              </a:spcAft>
              <a:buSzPct val="100000"/>
              <a:buNone/>
            </a:pPr>
            <a:r>
              <a:rPr lang="en-IN" sz="7200">
                <a:solidFill>
                  <a:schemeClr val="dk1"/>
                </a:solidFill>
              </a:rPr>
              <a:t> This schema pertains to the actual storage of data and its form of storage like files, indices, etc. It defines how the data will be stored in a   secondary storage.</a:t>
            </a:r>
            <a:endParaRPr sz="7200">
              <a:solidFill>
                <a:schemeClr val="dk1"/>
              </a:solidFill>
            </a:endParaRPr>
          </a:p>
          <a:p>
            <a:pPr indent="-342912" lvl="0" marL="457200" rtl="0" algn="l">
              <a:lnSpc>
                <a:spcPct val="156521"/>
              </a:lnSpc>
              <a:spcBef>
                <a:spcPts val="1200"/>
              </a:spcBef>
              <a:spcAft>
                <a:spcPts val="0"/>
              </a:spcAft>
              <a:buClr>
                <a:schemeClr val="dk1"/>
              </a:buClr>
              <a:buSzPct val="100000"/>
              <a:buFont typeface="Verdana"/>
              <a:buChar char="●"/>
            </a:pPr>
            <a:r>
              <a:rPr b="1" lang="en-IN" sz="7200">
                <a:solidFill>
                  <a:schemeClr val="dk1"/>
                </a:solidFill>
              </a:rPr>
              <a:t>Logical Database Schema</a:t>
            </a:r>
            <a:r>
              <a:rPr lang="en-IN" sz="7200">
                <a:solidFill>
                  <a:schemeClr val="dk1"/>
                </a:solidFill>
              </a:rPr>
              <a:t> −</a:t>
            </a:r>
            <a:endParaRPr sz="7200">
              <a:solidFill>
                <a:schemeClr val="dk1"/>
              </a:solidFill>
            </a:endParaRPr>
          </a:p>
          <a:p>
            <a:pPr indent="0" lvl="0" marL="457200" rtl="0" algn="l">
              <a:lnSpc>
                <a:spcPct val="156521"/>
              </a:lnSpc>
              <a:spcBef>
                <a:spcPts val="1200"/>
              </a:spcBef>
              <a:spcAft>
                <a:spcPts val="0"/>
              </a:spcAft>
              <a:buSzPct val="100000"/>
              <a:buNone/>
            </a:pPr>
            <a:r>
              <a:rPr lang="en-IN" sz="7200">
                <a:solidFill>
                  <a:schemeClr val="dk1"/>
                </a:solidFill>
              </a:rPr>
              <a:t> This schema defines all the logical constraints that need to be applied on the data stored. It defines tables, views, and integrity constraints.</a:t>
            </a:r>
            <a:endParaRPr sz="7200">
              <a:solidFill>
                <a:schemeClr val="dk1"/>
              </a:solidFill>
            </a:endParaRPr>
          </a:p>
          <a:p>
            <a:pPr indent="0" lvl="0" marL="0" rtl="0" algn="l">
              <a:lnSpc>
                <a:spcPct val="115000"/>
              </a:lnSpc>
              <a:spcBef>
                <a:spcPts val="1200"/>
              </a:spcBef>
              <a:spcAft>
                <a:spcPts val="0"/>
              </a:spcAft>
              <a:buSzPts val="1800"/>
              <a:buNone/>
            </a:pPr>
            <a:r>
              <a:t/>
            </a:r>
            <a:endParaRPr sz="1350">
              <a:solidFill>
                <a:srgbClr val="374151"/>
              </a:solidFill>
              <a:latin typeface="Verdana"/>
              <a:ea typeface="Verdana"/>
              <a:cs typeface="Verdana"/>
              <a:sym typeface="Verdana"/>
            </a:endParaRPr>
          </a:p>
          <a:p>
            <a:pPr indent="0" lvl="0" marL="457200" rtl="0" algn="l">
              <a:lnSpc>
                <a:spcPct val="158000"/>
              </a:lnSpc>
              <a:spcBef>
                <a:spcPts val="1200"/>
              </a:spcBef>
              <a:spcAft>
                <a:spcPts val="0"/>
              </a:spcAft>
              <a:buSzPct val="389189"/>
              <a:buNone/>
            </a:pPr>
            <a:r>
              <a:t/>
            </a:r>
            <a:endParaRPr sz="1850">
              <a:solidFill>
                <a:srgbClr val="273239"/>
              </a:solidFill>
              <a:latin typeface="Nunito"/>
              <a:ea typeface="Nunito"/>
              <a:cs typeface="Nunito"/>
              <a:sym typeface="Nunito"/>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04" name="Google Shape;304;g3f56c74d67c_0_62"/>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05" name="Google Shape;305;g3f56c74d67c_0_62"/>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06" name="Google Shape;306;g3f56c74d67c_0_62"/>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2800"/>
              <a:buNone/>
            </a:pPr>
            <a:r>
              <a:rPr b="1" lang="en-IN" sz="3000"/>
              <a:t>DATA ABSTRACTION</a:t>
            </a:r>
            <a:endParaRPr b="1" sz="3000"/>
          </a:p>
        </p:txBody>
      </p:sp>
      <p:sp>
        <p:nvSpPr>
          <p:cNvPr id="312" name="Google Shape;312;p20"/>
          <p:cNvSpPr txBox="1"/>
          <p:nvPr>
            <p:ph idx="1" type="body"/>
          </p:nvPr>
        </p:nvSpPr>
        <p:spPr>
          <a:xfrm>
            <a:off x="127975" y="1188725"/>
            <a:ext cx="5899200" cy="5669400"/>
          </a:xfrm>
          <a:prstGeom prst="rect">
            <a:avLst/>
          </a:prstGeom>
          <a:noFill/>
          <a:ln>
            <a:noFill/>
          </a:ln>
        </p:spPr>
        <p:txBody>
          <a:bodyPr anchorCtr="0" anchor="t" bIns="45700" lIns="91425" spcFirstLastPara="1" rIns="91425" wrap="square" tIns="45700">
            <a:normAutofit fontScale="25000" lnSpcReduction="20000"/>
          </a:bodyPr>
          <a:lstStyle/>
          <a:p>
            <a:pPr indent="-342948" lvl="0" marL="685800" rtl="0" algn="l">
              <a:lnSpc>
                <a:spcPct val="158000"/>
              </a:lnSpc>
              <a:spcBef>
                <a:spcPts val="0"/>
              </a:spcBef>
              <a:spcAft>
                <a:spcPts val="0"/>
              </a:spcAft>
              <a:buClr>
                <a:srgbClr val="273239"/>
              </a:buClr>
              <a:buSzPct val="100000"/>
              <a:buFont typeface="Bookman Old Style"/>
              <a:buChar char="●"/>
            </a:pPr>
            <a:r>
              <a:rPr lang="en-IN" sz="7200">
                <a:solidFill>
                  <a:srgbClr val="273239"/>
                </a:solidFill>
              </a:rPr>
              <a:t>Data abstraction hides unwanted details, showing users only relevant data.</a:t>
            </a:r>
            <a:endParaRPr sz="7200">
              <a:solidFill>
                <a:srgbClr val="273239"/>
              </a:solidFill>
            </a:endParaRPr>
          </a:p>
          <a:p>
            <a:pPr indent="-342948" lvl="0" marL="685800" rtl="0" algn="l">
              <a:lnSpc>
                <a:spcPct val="158000"/>
              </a:lnSpc>
              <a:spcBef>
                <a:spcPts val="0"/>
              </a:spcBef>
              <a:spcAft>
                <a:spcPts val="0"/>
              </a:spcAft>
              <a:buClr>
                <a:srgbClr val="273239"/>
              </a:buClr>
              <a:buSzPct val="100000"/>
              <a:buFont typeface="Bookman Old Style"/>
              <a:buChar char="●"/>
            </a:pPr>
            <a:r>
              <a:rPr lang="en-IN" sz="7200">
                <a:solidFill>
                  <a:srgbClr val="273239"/>
                </a:solidFill>
              </a:rPr>
              <a:t>It keeps data safe by hiding how and where data is stored.</a:t>
            </a:r>
            <a:endParaRPr sz="7200">
              <a:solidFill>
                <a:srgbClr val="273239"/>
              </a:solidFill>
            </a:endParaRPr>
          </a:p>
          <a:p>
            <a:pPr indent="-342948" lvl="0" marL="685800" rtl="0" algn="l">
              <a:lnSpc>
                <a:spcPct val="158000"/>
              </a:lnSpc>
              <a:spcBef>
                <a:spcPts val="0"/>
              </a:spcBef>
              <a:spcAft>
                <a:spcPts val="0"/>
              </a:spcAft>
              <a:buClr>
                <a:srgbClr val="273239"/>
              </a:buClr>
              <a:buSzPct val="100000"/>
              <a:buFont typeface="Bookman Old Style"/>
              <a:buChar char="●"/>
            </a:pPr>
            <a:r>
              <a:rPr lang="en-IN" sz="7200">
                <a:solidFill>
                  <a:srgbClr val="273239"/>
                </a:solidFill>
              </a:rPr>
              <a:t>Abstraction simplifies access while maintaining data security and efficiency.</a:t>
            </a:r>
            <a:endParaRPr sz="7200">
              <a:solidFill>
                <a:srgbClr val="273239"/>
              </a:solidFill>
            </a:endParaRPr>
          </a:p>
          <a:p>
            <a:pPr indent="-342948" lvl="0" marL="685800" rtl="0" algn="l">
              <a:lnSpc>
                <a:spcPct val="158000"/>
              </a:lnSpc>
              <a:spcBef>
                <a:spcPts val="0"/>
              </a:spcBef>
              <a:spcAft>
                <a:spcPts val="0"/>
              </a:spcAft>
              <a:buClr>
                <a:srgbClr val="273239"/>
              </a:buClr>
              <a:buSzPct val="100000"/>
              <a:buFont typeface="Bookman Old Style"/>
              <a:buChar char="●"/>
            </a:pPr>
            <a:r>
              <a:rPr lang="en-IN" sz="7200">
                <a:solidFill>
                  <a:srgbClr val="273239"/>
                </a:solidFill>
              </a:rPr>
              <a:t>For example, while buying clothes, users see only color, size, and brand, not production details.</a:t>
            </a:r>
            <a:endParaRPr sz="7200">
              <a:solidFill>
                <a:srgbClr val="273239"/>
              </a:solidFill>
            </a:endParaRPr>
          </a:p>
          <a:p>
            <a:pPr indent="0" lvl="0" marL="0" rtl="0" algn="l">
              <a:lnSpc>
                <a:spcPct val="116666"/>
              </a:lnSpc>
              <a:spcBef>
                <a:spcPts val="1800"/>
              </a:spcBef>
              <a:spcAft>
                <a:spcPts val="0"/>
              </a:spcAft>
              <a:buSzPct val="27027"/>
              <a:buNone/>
            </a:pPr>
            <a:r>
              <a:rPr lang="en-IN" sz="7200">
                <a:solidFill>
                  <a:srgbClr val="273239"/>
                </a:solidFill>
              </a:rPr>
              <a:t>Levels of Abstraction in DBMS</a:t>
            </a:r>
            <a:endParaRPr sz="7200">
              <a:solidFill>
                <a:srgbClr val="273239"/>
              </a:solidFill>
            </a:endParaRPr>
          </a:p>
          <a:p>
            <a:pPr indent="0" lvl="0" marL="0" rtl="0" algn="l">
              <a:lnSpc>
                <a:spcPct val="120000"/>
              </a:lnSpc>
              <a:spcBef>
                <a:spcPts val="0"/>
              </a:spcBef>
              <a:spcAft>
                <a:spcPts val="0"/>
              </a:spcAft>
              <a:buSzPct val="27027"/>
              <a:buNone/>
            </a:pPr>
            <a:r>
              <a:rPr lang="en-IN" sz="7200">
                <a:solidFill>
                  <a:srgbClr val="273239"/>
                </a:solidFill>
              </a:rPr>
              <a:t>There are three levels of data abstraction in DBMS that are mentioned below:</a:t>
            </a:r>
            <a:endParaRPr sz="7200">
              <a:solidFill>
                <a:srgbClr val="273239"/>
              </a:solidFill>
            </a:endParaRPr>
          </a:p>
          <a:p>
            <a:pPr indent="-342948" lvl="0" marL="685800" rtl="0" algn="l">
              <a:lnSpc>
                <a:spcPct val="158000"/>
              </a:lnSpc>
              <a:spcBef>
                <a:spcPts val="800"/>
              </a:spcBef>
              <a:spcAft>
                <a:spcPts val="0"/>
              </a:spcAft>
              <a:buClr>
                <a:srgbClr val="273239"/>
              </a:buClr>
              <a:buSzPct val="100000"/>
              <a:buFont typeface="Bookman Old Style"/>
              <a:buChar char="●"/>
            </a:pPr>
            <a:r>
              <a:rPr lang="en-IN" sz="7200">
                <a:solidFill>
                  <a:srgbClr val="273239"/>
                </a:solidFill>
              </a:rPr>
              <a:t>Physical or Internal level</a:t>
            </a:r>
            <a:endParaRPr sz="7200">
              <a:solidFill>
                <a:srgbClr val="273239"/>
              </a:solidFill>
            </a:endParaRPr>
          </a:p>
          <a:p>
            <a:pPr indent="-342948" lvl="0" marL="685800" rtl="0" algn="l">
              <a:lnSpc>
                <a:spcPct val="158000"/>
              </a:lnSpc>
              <a:spcBef>
                <a:spcPts val="0"/>
              </a:spcBef>
              <a:spcAft>
                <a:spcPts val="0"/>
              </a:spcAft>
              <a:buClr>
                <a:srgbClr val="273239"/>
              </a:buClr>
              <a:buSzPct val="100000"/>
              <a:buFont typeface="Bookman Old Style"/>
              <a:buChar char="●"/>
            </a:pPr>
            <a:r>
              <a:rPr lang="en-IN" sz="7200">
                <a:solidFill>
                  <a:srgbClr val="273239"/>
                </a:solidFill>
              </a:rPr>
              <a:t>Logical or Conceptual level</a:t>
            </a:r>
            <a:endParaRPr sz="7200">
              <a:solidFill>
                <a:srgbClr val="273239"/>
              </a:solidFill>
            </a:endParaRPr>
          </a:p>
          <a:p>
            <a:pPr indent="-342948" lvl="0" marL="685800" rtl="0" algn="l">
              <a:lnSpc>
                <a:spcPct val="158000"/>
              </a:lnSpc>
              <a:spcBef>
                <a:spcPts val="0"/>
              </a:spcBef>
              <a:spcAft>
                <a:spcPts val="0"/>
              </a:spcAft>
              <a:buClr>
                <a:srgbClr val="273239"/>
              </a:buClr>
              <a:buSzPct val="100000"/>
              <a:buFont typeface="Bookman Old Style"/>
              <a:buChar char="●"/>
            </a:pPr>
            <a:r>
              <a:rPr lang="en-IN" sz="7200">
                <a:solidFill>
                  <a:srgbClr val="273239"/>
                </a:solidFill>
              </a:rPr>
              <a:t>View or External level</a:t>
            </a:r>
            <a:endParaRPr sz="7200">
              <a:solidFill>
                <a:srgbClr val="273239"/>
              </a:solidFill>
            </a:endParaRPr>
          </a:p>
          <a:p>
            <a:pPr indent="0" lvl="0" marL="0" rtl="0" algn="l">
              <a:lnSpc>
                <a:spcPct val="158000"/>
              </a:lnSpc>
              <a:spcBef>
                <a:spcPts val="1800"/>
              </a:spcBef>
              <a:spcAft>
                <a:spcPts val="0"/>
              </a:spcAft>
              <a:buSzPct val="144144"/>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13" name="Google Shape;313;p20"/>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14" name="Google Shape;314;p20"/>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15" name="Google Shape;315;p20"/>
          <p:cNvSpPr/>
          <p:nvPr>
            <p:ph idx="12" type="sldNum"/>
          </p:nvPr>
        </p:nvSpPr>
        <p:spPr>
          <a:xfrm>
            <a:off x="10758922" y="6217920"/>
            <a:ext cx="365760" cy="36576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316" name="Google Shape;316;p20"/>
          <p:cNvPicPr preferRelativeResize="0"/>
          <p:nvPr/>
        </p:nvPicPr>
        <p:blipFill rotWithShape="1">
          <a:blip r:embed="rId5">
            <a:alphaModFix/>
          </a:blip>
          <a:srcRect b="0" l="0" r="0" t="0"/>
          <a:stretch/>
        </p:blipFill>
        <p:spPr>
          <a:xfrm>
            <a:off x="6543125" y="1258800"/>
            <a:ext cx="5246575" cy="50292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f93fd6275f_0_61"/>
          <p:cNvSpPr txBox="1"/>
          <p:nvPr>
            <p:ph idx="1" type="body"/>
          </p:nvPr>
        </p:nvSpPr>
        <p:spPr>
          <a:xfrm>
            <a:off x="558800" y="260350"/>
            <a:ext cx="5899200" cy="63714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40000"/>
              </a:lnSpc>
              <a:spcBef>
                <a:spcPts val="1800"/>
              </a:spcBef>
              <a:spcAft>
                <a:spcPts val="0"/>
              </a:spcAft>
              <a:buSzPts val="450"/>
              <a:buNone/>
            </a:pPr>
            <a:r>
              <a:rPr b="1" lang="en-IN" sz="7200">
                <a:solidFill>
                  <a:srgbClr val="273239"/>
                </a:solidFill>
              </a:rPr>
              <a:t>Physical or Internal Level</a:t>
            </a:r>
            <a:endParaRPr b="1" sz="7200">
              <a:solidFill>
                <a:srgbClr val="273239"/>
              </a:solidFill>
            </a:endParaRPr>
          </a:p>
          <a:p>
            <a:pPr indent="-342900" lvl="0" marL="457200" rtl="0" algn="just">
              <a:lnSpc>
                <a:spcPct val="120000"/>
              </a:lnSpc>
              <a:spcBef>
                <a:spcPts val="1800"/>
              </a:spcBef>
              <a:spcAft>
                <a:spcPts val="0"/>
              </a:spcAft>
              <a:buClr>
                <a:srgbClr val="273239"/>
              </a:buClr>
              <a:buSzPct val="100000"/>
              <a:buFont typeface="Bookman Old Style"/>
              <a:buChar char="●"/>
            </a:pPr>
            <a:r>
              <a:rPr lang="en-IN" sz="7200">
                <a:solidFill>
                  <a:srgbClr val="273239"/>
                </a:solidFill>
              </a:rPr>
              <a:t>It is the lowest level of data abstraction which defines how data is stored in database . It defines data structures used to store data and methods to access data in database. It is very complex to understand and hence kept hidden from user. Database administrator</a:t>
            </a:r>
            <a:r>
              <a:rPr lang="en-IN" sz="7200" u="sng">
                <a:solidFill>
                  <a:srgbClr val="357960"/>
                </a:solidFill>
                <a:hlinkClick r:id="rId3">
                  <a:extLst>
                    <a:ext uri="{A12FA001-AC4F-418D-AE19-62706E023703}">
                      <ahyp:hlinkClr val="tx"/>
                    </a:ext>
                  </a:extLst>
                </a:hlinkClick>
              </a:rPr>
              <a:t> </a:t>
            </a:r>
            <a:r>
              <a:rPr lang="en-IN" sz="7200">
                <a:solidFill>
                  <a:srgbClr val="273239"/>
                </a:solidFill>
              </a:rPr>
              <a:t>decides how and where to store the data in database.</a:t>
            </a:r>
            <a:endParaRPr sz="7200">
              <a:solidFill>
                <a:srgbClr val="273239"/>
              </a:solidFill>
            </a:endParaRPr>
          </a:p>
          <a:p>
            <a:pPr indent="-342900" lvl="0" marL="457200" rtl="0" algn="just">
              <a:lnSpc>
                <a:spcPct val="120000"/>
              </a:lnSpc>
              <a:spcBef>
                <a:spcPts val="0"/>
              </a:spcBef>
              <a:spcAft>
                <a:spcPts val="0"/>
              </a:spcAft>
              <a:buClr>
                <a:srgbClr val="273239"/>
              </a:buClr>
              <a:buSzPct val="100000"/>
              <a:buFont typeface="Nunito"/>
              <a:buChar char="●"/>
            </a:pPr>
            <a:r>
              <a:rPr lang="en-IN" sz="7200">
                <a:solidFill>
                  <a:srgbClr val="273239"/>
                </a:solidFill>
              </a:rPr>
              <a:t>Physical level deals with actual storage details like data organization, disk space allocation and data access methods.</a:t>
            </a:r>
            <a:r>
              <a:rPr lang="en-IN" sz="7200">
                <a:solidFill>
                  <a:schemeClr val="dk1"/>
                </a:solidFill>
              </a:rPr>
              <a:t> </a:t>
            </a:r>
            <a:endParaRPr sz="7200">
              <a:solidFill>
                <a:srgbClr val="273239"/>
              </a:solidFill>
            </a:endParaRPr>
          </a:p>
          <a:p>
            <a:pPr indent="0" lvl="0" marL="0" rtl="0" algn="l">
              <a:lnSpc>
                <a:spcPct val="140000"/>
              </a:lnSpc>
              <a:spcBef>
                <a:spcPts val="1800"/>
              </a:spcBef>
              <a:spcAft>
                <a:spcPts val="0"/>
              </a:spcAft>
              <a:buClr>
                <a:schemeClr val="dk1"/>
              </a:buClr>
              <a:buSzPts val="275"/>
              <a:buFont typeface="Arial"/>
              <a:buNone/>
            </a:pPr>
            <a:r>
              <a:rPr b="1" lang="en-IN" sz="7200">
                <a:solidFill>
                  <a:srgbClr val="273239"/>
                </a:solidFill>
              </a:rPr>
              <a:t>Logical or Conceptual Level</a:t>
            </a:r>
            <a:endParaRPr b="1" sz="7200">
              <a:solidFill>
                <a:srgbClr val="273239"/>
              </a:solidFill>
            </a:endParaRPr>
          </a:p>
          <a:p>
            <a:pPr indent="-342900" lvl="0" marL="457200" rtl="0" algn="just">
              <a:lnSpc>
                <a:spcPct val="120000"/>
              </a:lnSpc>
              <a:spcBef>
                <a:spcPts val="1800"/>
              </a:spcBef>
              <a:spcAft>
                <a:spcPts val="0"/>
              </a:spcAft>
              <a:buClr>
                <a:srgbClr val="273239"/>
              </a:buClr>
              <a:buSzPct val="100000"/>
              <a:buFont typeface="Bookman Old Style"/>
              <a:buChar char="•"/>
            </a:pPr>
            <a:r>
              <a:rPr lang="en-IN" sz="7200">
                <a:solidFill>
                  <a:srgbClr val="273239"/>
                </a:solidFill>
              </a:rPr>
              <a:t>It is intermediate level present next to physical level. It defines what data is present in database and their relationships between them . It is less complex as compared to physical level. Programmers generally work at this level and depending on data, structure of tables, relationships and their constraints is decided at this level.</a:t>
            </a:r>
            <a:endParaRPr sz="7200">
              <a:solidFill>
                <a:srgbClr val="273239"/>
              </a:solidFill>
            </a:endParaRPr>
          </a:p>
          <a:p>
            <a:pPr indent="0" lvl="0" marL="0" rtl="0" algn="l">
              <a:lnSpc>
                <a:spcPct val="158000"/>
              </a:lnSpc>
              <a:spcBef>
                <a:spcPts val="800"/>
              </a:spcBef>
              <a:spcAft>
                <a:spcPts val="0"/>
              </a:spcAft>
              <a:buSzPct val="133333"/>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sp>
        <p:nvSpPr>
          <p:cNvPr id="322" name="Google Shape;322;g3f93fd6275f_0_61"/>
          <p:cNvSpPr txBox="1"/>
          <p:nvPr>
            <p:ph idx="2" type="body"/>
          </p:nvPr>
        </p:nvSpPr>
        <p:spPr>
          <a:xfrm>
            <a:off x="6876725" y="1584125"/>
            <a:ext cx="4991100" cy="3504000"/>
          </a:xfrm>
          <a:prstGeom prst="rect">
            <a:avLst/>
          </a:prstGeom>
          <a:noFill/>
          <a:ln>
            <a:noFill/>
          </a:ln>
        </p:spPr>
        <p:txBody>
          <a:bodyPr anchorCtr="0" anchor="t" bIns="45700" lIns="91425" spcFirstLastPara="1" rIns="91425" wrap="square" tIns="45700">
            <a:normAutofit fontScale="25000" lnSpcReduction="10000"/>
          </a:bodyPr>
          <a:lstStyle/>
          <a:p>
            <a:pPr indent="0" lvl="0" marL="0" rtl="0" algn="l">
              <a:lnSpc>
                <a:spcPct val="140000"/>
              </a:lnSpc>
              <a:spcBef>
                <a:spcPts val="1800"/>
              </a:spcBef>
              <a:spcAft>
                <a:spcPts val="0"/>
              </a:spcAft>
              <a:buClr>
                <a:schemeClr val="dk1"/>
              </a:buClr>
              <a:buSzPts val="275"/>
              <a:buFont typeface="Arial"/>
              <a:buNone/>
            </a:pPr>
            <a:r>
              <a:rPr b="1" lang="en-IN" sz="7200">
                <a:solidFill>
                  <a:srgbClr val="273239"/>
                </a:solidFill>
              </a:rPr>
              <a:t>View or External Level</a:t>
            </a:r>
            <a:endParaRPr b="1" sz="7200">
              <a:solidFill>
                <a:srgbClr val="273239"/>
              </a:solidFill>
            </a:endParaRPr>
          </a:p>
          <a:p>
            <a:pPr indent="-342948" lvl="0" marL="457200" rtl="0" algn="just">
              <a:lnSpc>
                <a:spcPct val="120000"/>
              </a:lnSpc>
              <a:spcBef>
                <a:spcPts val="1800"/>
              </a:spcBef>
              <a:spcAft>
                <a:spcPts val="0"/>
              </a:spcAft>
              <a:buClr>
                <a:srgbClr val="273239"/>
              </a:buClr>
              <a:buSzPct val="100000"/>
              <a:buFont typeface="Bookman Old Style"/>
              <a:buChar char="•"/>
            </a:pPr>
            <a:r>
              <a:rPr lang="en-IN" sz="7200">
                <a:solidFill>
                  <a:srgbClr val="273239"/>
                </a:solidFill>
              </a:rPr>
              <a:t>It is the highest level in abstraction. There are different levels of views and each view defines only a part of whole data required to user. This level defines many views of same database for simplification of view to user. This is the highest level and easiest to understand for user.</a:t>
            </a:r>
            <a:endParaRPr sz="7200">
              <a:solidFill>
                <a:srgbClr val="273239"/>
              </a:solidFill>
            </a:endParaRPr>
          </a:p>
          <a:p>
            <a:pPr indent="0" lvl="0" marL="228600" rtl="0" algn="just">
              <a:lnSpc>
                <a:spcPct val="100000"/>
              </a:lnSpc>
              <a:spcBef>
                <a:spcPts val="1000"/>
              </a:spcBef>
              <a:spcAft>
                <a:spcPts val="0"/>
              </a:spcAft>
              <a:buSzPct val="90000"/>
              <a:buNone/>
            </a:pPr>
            <a:r>
              <a:t/>
            </a:r>
            <a:endParaRPr sz="2000">
              <a:latin typeface="Cambria"/>
              <a:ea typeface="Cambria"/>
              <a:cs typeface="Cambria"/>
              <a:sym typeface="Cambria"/>
            </a:endParaRPr>
          </a:p>
        </p:txBody>
      </p:sp>
      <p:pic>
        <p:nvPicPr>
          <p:cNvPr id="323" name="Google Shape;323;g3f93fd6275f_0_61"/>
          <p:cNvPicPr preferRelativeResize="0"/>
          <p:nvPr/>
        </p:nvPicPr>
        <p:blipFill rotWithShape="1">
          <a:blip r:embed="rId4">
            <a:alphaModFix/>
          </a:blip>
          <a:srcRect b="0" l="0" r="0" t="0"/>
          <a:stretch/>
        </p:blipFill>
        <p:spPr>
          <a:xfrm>
            <a:off x="8706752" y="5299"/>
            <a:ext cx="3467584" cy="769641"/>
          </a:xfrm>
          <a:prstGeom prst="rect">
            <a:avLst/>
          </a:prstGeom>
          <a:noFill/>
          <a:ln>
            <a:noFill/>
          </a:ln>
        </p:spPr>
      </p:pic>
      <p:pic>
        <p:nvPicPr>
          <p:cNvPr id="324" name="Google Shape;324;g3f93fd6275f_0_61"/>
          <p:cNvPicPr preferRelativeResize="0"/>
          <p:nvPr/>
        </p:nvPicPr>
        <p:blipFill rotWithShape="1">
          <a:blip r:embed="rId5">
            <a:alphaModFix/>
          </a:blip>
          <a:srcRect b="0" l="0" r="0" t="0"/>
          <a:stretch/>
        </p:blipFill>
        <p:spPr>
          <a:xfrm>
            <a:off x="7719934" y="1"/>
            <a:ext cx="4454402" cy="969062"/>
          </a:xfrm>
          <a:prstGeom prst="rect">
            <a:avLst/>
          </a:prstGeom>
          <a:noFill/>
          <a:ln>
            <a:noFill/>
          </a:ln>
        </p:spPr>
      </p:pic>
      <p:sp>
        <p:nvSpPr>
          <p:cNvPr id="325" name="Google Shape;325;g3f93fd6275f_0_61"/>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f960928c2b_0_0"/>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3333"/>
              <a:buNone/>
            </a:pPr>
            <a:r>
              <a:rPr b="1" lang="en-IN" sz="3300">
                <a:solidFill>
                  <a:schemeClr val="dk1"/>
                </a:solidFill>
              </a:rPr>
              <a:t>The Codd’s rules</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31" name="Google Shape;331;g3f960928c2b_0_0"/>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ct val="73333"/>
              <a:buFont typeface="Arial"/>
              <a:buNone/>
            </a:pPr>
            <a:r>
              <a:rPr lang="en-IN" sz="1500">
                <a:solidFill>
                  <a:srgbClr val="1A2C47"/>
                </a:solidFill>
                <a:latin typeface="Arial"/>
                <a:ea typeface="Arial"/>
                <a:cs typeface="Arial"/>
                <a:sym typeface="Arial"/>
              </a:rPr>
              <a:t>Ru</a:t>
            </a:r>
            <a:endParaRPr sz="1500">
              <a:solidFill>
                <a:srgbClr val="1A2C47"/>
              </a:solidFill>
              <a:latin typeface="Arial"/>
              <a:ea typeface="Arial"/>
              <a:cs typeface="Arial"/>
              <a:sym typeface="Arial"/>
            </a:endParaRPr>
          </a:p>
          <a:p>
            <a:pPr indent="0" lvl="0" marL="0" rtl="0" algn="l">
              <a:lnSpc>
                <a:spcPct val="115000"/>
              </a:lnSpc>
              <a:spcBef>
                <a:spcPts val="400"/>
              </a:spcBef>
              <a:spcAft>
                <a:spcPts val="0"/>
              </a:spcAft>
              <a:buSzPct val="100000"/>
              <a:buNone/>
            </a:pPr>
            <a:r>
              <a:rPr lang="en-IN" sz="7200">
                <a:solidFill>
                  <a:schemeClr val="dk1"/>
                </a:solidFill>
              </a:rPr>
              <a:t>Rule 5: The Comprehensive Data Sublanguage Rule</a:t>
            </a:r>
            <a:endParaRPr sz="7200">
              <a:solidFill>
                <a:schemeClr val="dk1"/>
              </a:solidFill>
            </a:endParaRPr>
          </a:p>
          <a:p>
            <a:pPr indent="0" lvl="0" marL="0" rtl="0" algn="l">
              <a:lnSpc>
                <a:spcPct val="115000"/>
              </a:lnSpc>
              <a:spcBef>
                <a:spcPts val="400"/>
              </a:spcBef>
              <a:spcAft>
                <a:spcPts val="0"/>
              </a:spcAft>
              <a:buSzPct val="100000"/>
              <a:buNone/>
            </a:pPr>
            <a:r>
              <a:rPr lang="en-IN" sz="7200">
                <a:solidFill>
                  <a:schemeClr val="dk1"/>
                </a:solidFill>
              </a:rPr>
              <a:t>Relational systems can support multiple languages and different modes of using terminals, such as fill-in-the-blanks mode. However, there must be at least one language whose statements are expressible according to a well-defined syntax.</a:t>
            </a:r>
            <a:endParaRPr sz="7200">
              <a:solidFill>
                <a:schemeClr val="dk1"/>
              </a:solidFill>
            </a:endParaRPr>
          </a:p>
          <a:p>
            <a:pPr indent="0" lvl="0" marL="0" rtl="0" algn="l">
              <a:lnSpc>
                <a:spcPct val="115000"/>
              </a:lnSpc>
              <a:spcBef>
                <a:spcPts val="400"/>
              </a:spcBef>
              <a:spcAft>
                <a:spcPts val="0"/>
              </a:spcAft>
              <a:buSzPct val="100000"/>
              <a:buNone/>
            </a:pPr>
            <a:r>
              <a:t/>
            </a:r>
            <a:endParaRPr sz="7200">
              <a:solidFill>
                <a:schemeClr val="dk1"/>
              </a:solidFill>
            </a:endParaRPr>
          </a:p>
          <a:p>
            <a:pPr indent="0" lvl="0" marL="0" rtl="0" algn="l">
              <a:lnSpc>
                <a:spcPct val="115000"/>
              </a:lnSpc>
              <a:spcBef>
                <a:spcPts val="0"/>
              </a:spcBef>
              <a:spcAft>
                <a:spcPts val="0"/>
              </a:spcAft>
              <a:buSzPct val="100000"/>
              <a:buNone/>
            </a:pPr>
            <a:r>
              <a:rPr lang="en-IN" sz="7200">
                <a:solidFill>
                  <a:schemeClr val="dk1"/>
                </a:solidFill>
              </a:rPr>
              <a:t>Rule 6: The View Updating Rule</a:t>
            </a:r>
            <a:endParaRPr sz="7200">
              <a:solidFill>
                <a:schemeClr val="dk1"/>
              </a:solidFill>
            </a:endParaRPr>
          </a:p>
          <a:p>
            <a:pPr indent="0" lvl="0" marL="0" rtl="0" algn="l">
              <a:lnSpc>
                <a:spcPct val="115000"/>
              </a:lnSpc>
              <a:spcBef>
                <a:spcPts val="400"/>
              </a:spcBef>
              <a:spcAft>
                <a:spcPts val="0"/>
              </a:spcAft>
              <a:buSzPct val="100000"/>
              <a:buNone/>
            </a:pPr>
            <a:r>
              <a:rPr lang="en-IN" sz="7200">
                <a:solidFill>
                  <a:schemeClr val="dk1"/>
                </a:solidFill>
              </a:rPr>
              <a:t>Theoretically, updatable </a:t>
            </a:r>
            <a:r>
              <a:rPr i="1" lang="en-IN" sz="7200">
                <a:solidFill>
                  <a:schemeClr val="dk1"/>
                </a:solidFill>
              </a:rPr>
              <a:t>views</a:t>
            </a:r>
            <a:r>
              <a:rPr lang="en-IN" sz="7200">
                <a:solidFill>
                  <a:schemeClr val="dk1"/>
                </a:solidFill>
              </a:rPr>
              <a:t> are also practically updatable by the database system.</a:t>
            </a:r>
            <a:endParaRPr sz="7200">
              <a:solidFill>
                <a:schemeClr val="dk1"/>
              </a:solidFill>
            </a:endParaRPr>
          </a:p>
          <a:p>
            <a:pPr indent="0" lvl="0" marL="0" rtl="0" algn="l">
              <a:lnSpc>
                <a:spcPct val="115000"/>
              </a:lnSpc>
              <a:spcBef>
                <a:spcPts val="1900"/>
              </a:spcBef>
              <a:spcAft>
                <a:spcPts val="0"/>
              </a:spcAft>
              <a:buSzPct val="100000"/>
              <a:buNone/>
            </a:pPr>
            <a:r>
              <a:rPr lang="en-IN" sz="7200">
                <a:solidFill>
                  <a:schemeClr val="dk1"/>
                </a:solidFill>
              </a:rPr>
              <a:t>Rule 7: High-Level Insert, Update &amp; Delete Rule</a:t>
            </a:r>
            <a:endParaRPr sz="7200">
              <a:solidFill>
                <a:schemeClr val="dk1"/>
              </a:solidFill>
            </a:endParaRPr>
          </a:p>
          <a:p>
            <a:pPr indent="0" lvl="0" marL="0" rtl="0" algn="l">
              <a:lnSpc>
                <a:spcPct val="115000"/>
              </a:lnSpc>
              <a:spcBef>
                <a:spcPts val="400"/>
              </a:spcBef>
              <a:spcAft>
                <a:spcPts val="0"/>
              </a:spcAft>
              <a:buSzPct val="100000"/>
              <a:buNone/>
            </a:pPr>
            <a:r>
              <a:rPr lang="en-IN" sz="7200">
                <a:solidFill>
                  <a:schemeClr val="dk1"/>
                </a:solidFill>
              </a:rPr>
              <a:t>The database system must follow high-level relational operations such as insertion, updation, and deletion at each level or row by row. It also supports the union, intersection, and subtraction operations in database systems.</a:t>
            </a:r>
            <a:endParaRPr sz="7200">
              <a:solidFill>
                <a:schemeClr val="dk1"/>
              </a:solidFill>
            </a:endParaRPr>
          </a:p>
          <a:p>
            <a:pPr indent="0" lvl="0" marL="0" rtl="0" algn="l">
              <a:lnSpc>
                <a:spcPct val="115000"/>
              </a:lnSpc>
              <a:spcBef>
                <a:spcPts val="1900"/>
              </a:spcBef>
              <a:spcAft>
                <a:spcPts val="0"/>
              </a:spcAft>
              <a:buSzPct val="100000"/>
              <a:buNone/>
            </a:pPr>
            <a:r>
              <a:rPr lang="en-IN" sz="7200">
                <a:solidFill>
                  <a:schemeClr val="dk1"/>
                </a:solidFill>
              </a:rPr>
              <a:t>Rule 8: Physical Data Independence</a:t>
            </a:r>
            <a:endParaRPr sz="7200">
              <a:solidFill>
                <a:schemeClr val="dk1"/>
              </a:solidFill>
            </a:endParaRPr>
          </a:p>
          <a:p>
            <a:pPr indent="0" lvl="0" marL="0" rtl="0" algn="l">
              <a:lnSpc>
                <a:spcPct val="115000"/>
              </a:lnSpc>
              <a:spcBef>
                <a:spcPts val="400"/>
              </a:spcBef>
              <a:spcAft>
                <a:spcPts val="0"/>
              </a:spcAft>
              <a:buSzPct val="100000"/>
              <a:buNone/>
            </a:pPr>
            <a:r>
              <a:rPr lang="en-IN" sz="7200">
                <a:solidFill>
                  <a:schemeClr val="dk1"/>
                </a:solidFill>
              </a:rPr>
              <a:t>The working of a database system should be independent of the physical storage of its data. If a file is modified (renamed or moved to another location), it should not interfere with the working of the system.</a:t>
            </a:r>
            <a:endParaRPr sz="7200">
              <a:solidFill>
                <a:schemeClr val="dk1"/>
              </a:solidFil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32" name="Google Shape;332;g3f960928c2b_0_0"/>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33" name="Google Shape;333;g3f960928c2b_0_0"/>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34" name="Google Shape;334;g3f960928c2b_0_0"/>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fae0b7fedb_0_9"/>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ct val="35484"/>
              <a:buFont typeface="Arial"/>
              <a:buNone/>
            </a:pPr>
            <a:r>
              <a:rPr b="1" lang="en-IN" sz="3100">
                <a:solidFill>
                  <a:srgbClr val="0D0D0D"/>
                </a:solidFill>
                <a:highlight>
                  <a:srgbClr val="FFFFFF"/>
                </a:highlight>
              </a:rPr>
              <a:t>Mapping </a:t>
            </a:r>
            <a:endParaRPr b="1" sz="3100">
              <a:solidFill>
                <a:srgbClr val="0D0D0D"/>
              </a:solidFill>
              <a:highlight>
                <a:srgbClr val="FFFFFF"/>
              </a:highlight>
            </a:endParaRPr>
          </a:p>
          <a:p>
            <a:pPr indent="0" lvl="0" marL="0" marR="66675" rtl="0" algn="just">
              <a:lnSpc>
                <a:spcPct val="100000"/>
              </a:lnSpc>
              <a:spcBef>
                <a:spcPts val="0"/>
              </a:spcBef>
              <a:spcAft>
                <a:spcPts val="0"/>
              </a:spcAft>
              <a:buSzPct val="33333"/>
              <a:buNone/>
            </a:pPr>
            <a:r>
              <a:t/>
            </a:r>
            <a:endParaRPr b="1" sz="3300">
              <a:solidFill>
                <a:schemeClr val="dk1"/>
              </a:solidFill>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40" name="Google Shape;340;g3fae0b7fedb_0_9"/>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ct val="73333"/>
              <a:buFont typeface="Arial"/>
              <a:buNone/>
            </a:pPr>
            <a:r>
              <a:t/>
            </a:r>
            <a:endParaRPr sz="1500">
              <a:solidFill>
                <a:srgbClr val="1A2C47"/>
              </a:solidFill>
              <a:latin typeface="Arial"/>
              <a:ea typeface="Arial"/>
              <a:cs typeface="Arial"/>
              <a:sym typeface="Arial"/>
            </a:endParaRPr>
          </a:p>
          <a:p>
            <a:pPr indent="0" lvl="0" marL="0" rtl="0" algn="l">
              <a:lnSpc>
                <a:spcPct val="115000"/>
              </a:lnSpc>
              <a:spcBef>
                <a:spcPts val="400"/>
              </a:spcBef>
              <a:spcAft>
                <a:spcPts val="0"/>
              </a:spcAft>
              <a:buSzPct val="100000"/>
              <a:buNone/>
            </a:pPr>
            <a:r>
              <a:rPr lang="en-IN" sz="7200">
                <a:solidFill>
                  <a:srgbClr val="0D0D0D"/>
                </a:solidFill>
              </a:rPr>
              <a:t>Mapping in DBMS is the process of converting an Entity-Relationship (ER) model into a relational database structure consisting of tables, columns, primary keys, and foreign keys.</a:t>
            </a:r>
            <a:r>
              <a:rPr lang="en-IN" sz="7200">
                <a:solidFill>
                  <a:schemeClr val="dk1"/>
                </a:solidFill>
              </a:rPr>
              <a:t> </a:t>
            </a:r>
            <a:endParaRPr sz="7200">
              <a:solidFill>
                <a:srgbClr val="374151"/>
              </a:solidFill>
            </a:endParaRPr>
          </a:p>
          <a:p>
            <a:pPr indent="0" lvl="0" marL="0" rtl="0" algn="l">
              <a:lnSpc>
                <a:spcPct val="115000"/>
              </a:lnSpc>
              <a:spcBef>
                <a:spcPts val="0"/>
              </a:spcBef>
              <a:spcAft>
                <a:spcPts val="0"/>
              </a:spcAft>
              <a:buClr>
                <a:schemeClr val="dk1"/>
              </a:buClr>
              <a:buSzPts val="275"/>
              <a:buFont typeface="Arial"/>
              <a:buNone/>
            </a:pPr>
            <a:r>
              <a:rPr lang="en-IN" sz="7200">
                <a:solidFill>
                  <a:srgbClr val="0D0D0D"/>
                </a:solidFill>
              </a:rPr>
              <a:t>Types of Mapping</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AutoNum type="arabicPeriod"/>
            </a:pPr>
            <a:r>
              <a:rPr b="1" lang="en-IN" sz="7200">
                <a:solidFill>
                  <a:srgbClr val="0D0D0D"/>
                </a:solidFill>
              </a:rPr>
              <a:t>One-to-One (1:1)</a:t>
            </a:r>
            <a:br>
              <a:rPr lang="en-IN" sz="7200">
                <a:solidFill>
                  <a:srgbClr val="0D0D0D"/>
                </a:solidFill>
              </a:rPr>
            </a:br>
            <a:r>
              <a:rPr lang="en-IN" sz="7200">
                <a:solidFill>
                  <a:srgbClr val="0D0D0D"/>
                </a:solidFill>
              </a:rPr>
              <a:t>One entity is related to only one entity of another set.</a:t>
            </a:r>
            <a:br>
              <a:rPr lang="en-IN" sz="7200">
                <a:solidFill>
                  <a:srgbClr val="0D0D0D"/>
                </a:solidFill>
              </a:rPr>
            </a:br>
            <a:r>
              <a:rPr lang="en-IN" sz="7200">
                <a:solidFill>
                  <a:srgbClr val="0D0D0D"/>
                </a:solidFill>
              </a:rPr>
              <a:t>Example: One person has one passport.</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AutoNum type="arabicPeriod"/>
            </a:pPr>
            <a:r>
              <a:rPr b="1" lang="en-IN" sz="7200">
                <a:solidFill>
                  <a:srgbClr val="0D0D0D"/>
                </a:solidFill>
              </a:rPr>
              <a:t>One-to-Many (1:N)</a:t>
            </a:r>
            <a:br>
              <a:rPr lang="en-IN" sz="7200">
                <a:solidFill>
                  <a:srgbClr val="0D0D0D"/>
                </a:solidFill>
              </a:rPr>
            </a:br>
            <a:r>
              <a:rPr lang="en-IN" sz="7200">
                <a:solidFill>
                  <a:srgbClr val="0D0D0D"/>
                </a:solidFill>
              </a:rPr>
              <a:t>One entity can be related to many entities.</a:t>
            </a:r>
            <a:br>
              <a:rPr lang="en-IN" sz="7200">
                <a:solidFill>
                  <a:srgbClr val="0D0D0D"/>
                </a:solidFill>
              </a:rPr>
            </a:br>
            <a:r>
              <a:rPr lang="en-IN" sz="7200">
                <a:solidFill>
                  <a:srgbClr val="0D0D0D"/>
                </a:solidFill>
              </a:rPr>
              <a:t>Example: One department has many students.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AutoNum type="arabicPeriod"/>
            </a:pPr>
            <a:r>
              <a:rPr b="1" lang="en-IN" sz="7200">
                <a:solidFill>
                  <a:srgbClr val="0D0D0D"/>
                </a:solidFill>
              </a:rPr>
              <a:t>Many-to-One (N:1)</a:t>
            </a:r>
            <a:br>
              <a:rPr lang="en-IN" sz="7200">
                <a:solidFill>
                  <a:srgbClr val="0D0D0D"/>
                </a:solidFill>
              </a:rPr>
            </a:br>
            <a:r>
              <a:rPr lang="en-IN" sz="7200">
                <a:solidFill>
                  <a:srgbClr val="0D0D0D"/>
                </a:solidFill>
              </a:rPr>
              <a:t>Many entities are related to one entity.</a:t>
            </a:r>
            <a:br>
              <a:rPr lang="en-IN" sz="7200">
                <a:solidFill>
                  <a:srgbClr val="0D0D0D"/>
                </a:solidFill>
              </a:rPr>
            </a:br>
            <a:r>
              <a:rPr lang="en-IN" sz="7200">
                <a:solidFill>
                  <a:srgbClr val="0D0D0D"/>
                </a:solidFill>
              </a:rPr>
              <a:t>Example: Many students belong to one department.</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AutoNum type="arabicPeriod"/>
            </a:pPr>
            <a:r>
              <a:rPr b="1" lang="en-IN" sz="7200">
                <a:solidFill>
                  <a:srgbClr val="0D0D0D"/>
                </a:solidFill>
              </a:rPr>
              <a:t>Many-to-Many (M:N)</a:t>
            </a:r>
            <a:br>
              <a:rPr lang="en-IN" sz="7200">
                <a:solidFill>
                  <a:srgbClr val="0D0D0D"/>
                </a:solidFill>
              </a:rPr>
            </a:br>
            <a:r>
              <a:rPr lang="en-IN" sz="7200">
                <a:solidFill>
                  <a:srgbClr val="0D0D0D"/>
                </a:solidFill>
              </a:rPr>
              <a:t>Many entities can be related to many other entities.</a:t>
            </a:r>
            <a:br>
              <a:rPr lang="en-IN" sz="7200">
                <a:solidFill>
                  <a:srgbClr val="0D0D0D"/>
                </a:solidFill>
              </a:rPr>
            </a:br>
            <a:r>
              <a:rPr lang="en-IN" sz="7200">
                <a:solidFill>
                  <a:srgbClr val="0D0D0D"/>
                </a:solidFill>
              </a:rPr>
              <a:t>Example: Students can enroll in many courses, and each course can have many students.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AutoNum type="arabicPeriod"/>
            </a:pPr>
            <a:r>
              <a:rPr b="1" lang="en-IN" sz="7200">
                <a:solidFill>
                  <a:srgbClr val="0D0D0D"/>
                </a:solidFill>
              </a:rPr>
              <a:t>Mapping Weak Entities</a:t>
            </a:r>
            <a:br>
              <a:rPr lang="en-IN" sz="7200">
                <a:solidFill>
                  <a:srgbClr val="0D0D0D"/>
                </a:solidFill>
              </a:rPr>
            </a:br>
            <a:r>
              <a:rPr lang="en-IN" sz="7200">
                <a:solidFill>
                  <a:srgbClr val="0D0D0D"/>
                </a:solidFill>
              </a:rPr>
              <a:t>A weak entity depends on a strong entity for its identification. A foreign key of the strong entity is included in the weak entity's table.</a:t>
            </a:r>
            <a:endParaRPr sz="7200">
              <a:solidFill>
                <a:srgbClr val="0D0D0D"/>
              </a:solidFill>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41" name="Google Shape;341;g3fae0b7fedb_0_9"/>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42" name="Google Shape;342;g3fae0b7fedb_0_9"/>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43" name="Google Shape;343;g3fae0b7fedb_0_9"/>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fae0b7fedb_0_20"/>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SzPct val="35484"/>
              <a:buNone/>
            </a:pPr>
            <a:r>
              <a:rPr b="1" lang="en-IN" sz="3100">
                <a:solidFill>
                  <a:srgbClr val="0D0D0D"/>
                </a:solidFill>
                <a:highlight>
                  <a:srgbClr val="FFFFFF"/>
                </a:highlight>
              </a:rPr>
              <a:t>Users and DBA </a:t>
            </a:r>
            <a:endParaRPr b="1" sz="3100">
              <a:solidFill>
                <a:srgbClr val="0D0D0D"/>
              </a:solidFill>
              <a:highlight>
                <a:srgbClr val="FFFFFF"/>
              </a:highlight>
            </a:endParaRPr>
          </a:p>
          <a:p>
            <a:pPr indent="0" lvl="0" marL="0" marR="66675" rtl="0" algn="just">
              <a:lnSpc>
                <a:spcPct val="100000"/>
              </a:lnSpc>
              <a:spcBef>
                <a:spcPts val="0"/>
              </a:spcBef>
              <a:spcAft>
                <a:spcPts val="0"/>
              </a:spcAft>
              <a:buSzPct val="33333"/>
              <a:buNone/>
            </a:pPr>
            <a:r>
              <a:t/>
            </a:r>
            <a:endParaRPr b="1" sz="3300">
              <a:solidFill>
                <a:schemeClr val="dk1"/>
              </a:solidFill>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49" name="Google Shape;349;g3fae0b7fedb_0_20"/>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t/>
            </a:r>
            <a:endParaRPr sz="4500">
              <a:solidFill>
                <a:srgbClr val="1A2C47"/>
              </a:solidFill>
            </a:endParaRPr>
          </a:p>
          <a:p>
            <a:pPr indent="0" lvl="0" marL="0" rtl="0" algn="l">
              <a:lnSpc>
                <a:spcPct val="158000"/>
              </a:lnSpc>
              <a:spcBef>
                <a:spcPts val="1800"/>
              </a:spcBef>
              <a:spcAft>
                <a:spcPts val="0"/>
              </a:spcAft>
              <a:buSzPct val="100000"/>
              <a:buNone/>
            </a:pPr>
            <a:r>
              <a:rPr lang="en-IN" sz="7200">
                <a:solidFill>
                  <a:srgbClr val="0D0D0D"/>
                </a:solidFill>
              </a:rPr>
              <a:t>In a Database Management System (DBMS), different people interact with the database for different purposes. They are broadly classified as Database Users and Database Administrators (DBA).</a:t>
            </a:r>
            <a:r>
              <a:rPr lang="en-IN" sz="7200">
                <a:solidFill>
                  <a:schemeClr val="dk1"/>
                </a:solidFill>
              </a:rPr>
              <a:t> </a:t>
            </a:r>
            <a:endParaRPr sz="7200">
              <a:solidFill>
                <a:srgbClr val="273239"/>
              </a:solidFill>
            </a:endParaRPr>
          </a:p>
          <a:p>
            <a:pPr indent="0" lvl="0" marL="0" rtl="0" algn="l">
              <a:lnSpc>
                <a:spcPct val="115000"/>
              </a:lnSpc>
              <a:spcBef>
                <a:spcPts val="0"/>
              </a:spcBef>
              <a:spcAft>
                <a:spcPts val="0"/>
              </a:spcAft>
              <a:buClr>
                <a:schemeClr val="dk1"/>
              </a:buClr>
              <a:buSzPts val="275"/>
              <a:buFont typeface="Arial"/>
              <a:buNone/>
            </a:pPr>
            <a:r>
              <a:rPr b="1" lang="en-IN" sz="7200">
                <a:solidFill>
                  <a:srgbClr val="0D0D0D"/>
                </a:solidFill>
              </a:rPr>
              <a:t>1. Database Users</a:t>
            </a:r>
            <a:endParaRPr b="1" sz="7200">
              <a:solidFill>
                <a:srgbClr val="0D0D0D"/>
              </a:solidFill>
            </a:endParaRPr>
          </a:p>
          <a:p>
            <a:pPr indent="0" lvl="0" marL="0" rtl="0" algn="l">
              <a:lnSpc>
                <a:spcPct val="115000"/>
              </a:lnSpc>
              <a:spcBef>
                <a:spcPts val="300"/>
              </a:spcBef>
              <a:spcAft>
                <a:spcPts val="0"/>
              </a:spcAft>
              <a:buSzPts val="275"/>
              <a:buNone/>
            </a:pPr>
            <a:r>
              <a:rPr lang="en-IN" sz="7200">
                <a:solidFill>
                  <a:srgbClr val="0D0D0D"/>
                </a:solidFill>
              </a:rPr>
              <a:t>Database users are people who access and use the database to perform various operations such as entering, retrieving, updating, and analyzing data.</a:t>
            </a:r>
            <a:endParaRPr sz="7200">
              <a:solidFill>
                <a:srgbClr val="0D0D0D"/>
              </a:solidFill>
            </a:endParaRPr>
          </a:p>
          <a:p>
            <a:pPr indent="0" lvl="0" marL="0" rtl="0" algn="l">
              <a:lnSpc>
                <a:spcPct val="115000"/>
              </a:lnSpc>
              <a:spcBef>
                <a:spcPts val="300"/>
              </a:spcBef>
              <a:spcAft>
                <a:spcPts val="0"/>
              </a:spcAft>
              <a:buClr>
                <a:schemeClr val="dk1"/>
              </a:buClr>
              <a:buSzPts val="275"/>
              <a:buFont typeface="Arial"/>
              <a:buNone/>
            </a:pPr>
            <a:r>
              <a:t/>
            </a:r>
            <a:endParaRPr sz="7200">
              <a:solidFill>
                <a:srgbClr val="0D0D0D"/>
              </a:solidFill>
            </a:endParaRPr>
          </a:p>
          <a:p>
            <a:pPr indent="0" lvl="0" marL="0" rtl="0" algn="l">
              <a:lnSpc>
                <a:spcPct val="115000"/>
              </a:lnSpc>
              <a:spcBef>
                <a:spcPts val="300"/>
              </a:spcBef>
              <a:spcAft>
                <a:spcPts val="0"/>
              </a:spcAft>
              <a:buClr>
                <a:schemeClr val="dk1"/>
              </a:buClr>
              <a:buSzPts val="275"/>
              <a:buFont typeface="Arial"/>
              <a:buNone/>
            </a:pPr>
            <a:r>
              <a:rPr b="1" lang="en-IN" sz="7200">
                <a:solidFill>
                  <a:srgbClr val="0D0D0D"/>
                </a:solidFill>
              </a:rPr>
              <a:t>Types of Database Users</a:t>
            </a:r>
            <a:endParaRPr b="1" sz="7200">
              <a:solidFill>
                <a:srgbClr val="0D0D0D"/>
              </a:solidFill>
            </a:endParaRPr>
          </a:p>
          <a:p>
            <a:pPr indent="0" lvl="0" marL="0" rtl="0" algn="l">
              <a:lnSpc>
                <a:spcPct val="115000"/>
              </a:lnSpc>
              <a:spcBef>
                <a:spcPts val="0"/>
              </a:spcBef>
              <a:spcAft>
                <a:spcPts val="0"/>
              </a:spcAft>
              <a:buClr>
                <a:schemeClr val="dk1"/>
              </a:buClr>
              <a:buSzPts val="275"/>
              <a:buFont typeface="Arial"/>
              <a:buNone/>
            </a:pPr>
            <a:r>
              <a:rPr b="1" lang="en-IN" sz="7200">
                <a:solidFill>
                  <a:srgbClr val="0D0D0D"/>
                </a:solidFill>
              </a:rPr>
              <a:t>1. Naive or Parametric Users</a:t>
            </a:r>
            <a:endParaRPr b="1" sz="7200">
              <a:solidFill>
                <a:srgbClr val="0D0D0D"/>
              </a:solidFill>
            </a:endParaRPr>
          </a:p>
          <a:p>
            <a:pPr indent="0" lvl="0" marL="0" rtl="0" algn="l">
              <a:lnSpc>
                <a:spcPct val="115000"/>
              </a:lnSpc>
              <a:spcBef>
                <a:spcPts val="0"/>
              </a:spcBef>
              <a:spcAft>
                <a:spcPts val="0"/>
              </a:spcAft>
              <a:buClr>
                <a:schemeClr val="dk1"/>
              </a:buClr>
              <a:buSzPts val="275"/>
              <a:buFont typeface="Arial"/>
              <a:buNone/>
            </a:pPr>
            <a:r>
              <a:rPr lang="en-IN" sz="7200">
                <a:solidFill>
                  <a:srgbClr val="0D0D0D"/>
                </a:solidFill>
              </a:rPr>
              <a:t>These users have little or no knowledge of the database system. They use predefined applications or forms to access data.</a:t>
            </a:r>
            <a:endParaRPr sz="7200">
              <a:solidFill>
                <a:srgbClr val="0D0D0D"/>
              </a:solidFill>
            </a:endParaRPr>
          </a:p>
          <a:p>
            <a:pPr indent="0" lvl="0" marL="0" rtl="0" algn="l">
              <a:lnSpc>
                <a:spcPct val="115000"/>
              </a:lnSpc>
              <a:spcBef>
                <a:spcPts val="1200"/>
              </a:spcBef>
              <a:spcAft>
                <a:spcPts val="0"/>
              </a:spcAft>
              <a:buClr>
                <a:schemeClr val="dk1"/>
              </a:buClr>
              <a:buSzPts val="275"/>
              <a:buFont typeface="Arial"/>
              <a:buNone/>
            </a:pPr>
            <a:r>
              <a:rPr lang="en-IN" sz="7200">
                <a:solidFill>
                  <a:srgbClr val="0D0D0D"/>
                </a:solidFill>
              </a:rPr>
              <a:t>Examples:</a:t>
            </a:r>
            <a:endParaRPr sz="7200">
              <a:solidFill>
                <a:srgbClr val="0D0D0D"/>
              </a:solidFill>
            </a:endParaRPr>
          </a:p>
          <a:p>
            <a:pPr indent="-342900" lvl="0" marL="457200" rtl="0" algn="l">
              <a:lnSpc>
                <a:spcPct val="115000"/>
              </a:lnSpc>
              <a:spcBef>
                <a:spcPts val="1200"/>
              </a:spcBef>
              <a:spcAft>
                <a:spcPts val="0"/>
              </a:spcAft>
              <a:buClr>
                <a:srgbClr val="0D0D0D"/>
              </a:buClr>
              <a:buSzPct val="100000"/>
              <a:buFont typeface="Bookman Old Style"/>
              <a:buChar char="●"/>
            </a:pPr>
            <a:r>
              <a:rPr lang="en-IN" sz="7200">
                <a:solidFill>
                  <a:srgbClr val="0D0D0D"/>
                </a:solidFill>
              </a:rPr>
              <a:t>Bank customers using ATMs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Railway reservation users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Employees entering attendance data</a:t>
            </a:r>
            <a:endParaRPr sz="7200">
              <a:solidFill>
                <a:srgbClr val="0D0D0D"/>
              </a:solidFill>
            </a:endParaRPr>
          </a:p>
          <a:p>
            <a:pPr indent="0" lvl="0" marL="0" rtl="0" algn="l">
              <a:lnSpc>
                <a:spcPct val="115000"/>
              </a:lnSpc>
              <a:spcBef>
                <a:spcPts val="600"/>
              </a:spcBef>
              <a:spcAft>
                <a:spcPts val="0"/>
              </a:spcAft>
              <a:buClr>
                <a:schemeClr val="dk1"/>
              </a:buClr>
              <a:buSzPts val="275"/>
              <a:buFont typeface="Arial"/>
              <a:buNone/>
            </a:pPr>
            <a:r>
              <a:rPr lang="en-IN" sz="7200">
                <a:solidFill>
                  <a:srgbClr val="0D0D0D"/>
                </a:solidFill>
              </a:rPr>
              <a:t>They normally perform simple, repetitive operations.</a:t>
            </a:r>
            <a:endParaRPr sz="7200">
              <a:solidFill>
                <a:srgbClr val="0D0D0D"/>
              </a:solidFill>
            </a:endParaRPr>
          </a:p>
          <a:p>
            <a:pPr indent="0" lvl="0" marL="0" rtl="0" algn="l">
              <a:lnSpc>
                <a:spcPct val="115000"/>
              </a:lnSpc>
              <a:spcBef>
                <a:spcPts val="600"/>
              </a:spcBef>
              <a:spcAft>
                <a:spcPts val="0"/>
              </a:spcAft>
              <a:buClr>
                <a:schemeClr val="dk1"/>
              </a:buClr>
              <a:buSzPct val="91667"/>
              <a:buFont typeface="Arial"/>
              <a:buNone/>
            </a:pPr>
            <a:r>
              <a:t/>
            </a:r>
            <a:endParaRPr sz="1200">
              <a:solidFill>
                <a:srgbClr val="0D0D0D"/>
              </a:solidFill>
              <a:highlight>
                <a:srgbClr val="FFFFFF"/>
              </a:highlight>
              <a:latin typeface="Arial"/>
              <a:ea typeface="Arial"/>
              <a:cs typeface="Arial"/>
              <a:sym typeface="Arial"/>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50" name="Google Shape;350;g3fae0b7fedb_0_20"/>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51" name="Google Shape;351;g3fae0b7fedb_0_20"/>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52" name="Google Shape;352;g3fae0b7fedb_0_20"/>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3fae0b7fedb_0_32"/>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SzPct val="35484"/>
              <a:buNone/>
            </a:pPr>
            <a:r>
              <a:rPr b="1" lang="en-IN" sz="3100">
                <a:solidFill>
                  <a:srgbClr val="0D0D0D"/>
                </a:solidFill>
                <a:highlight>
                  <a:srgbClr val="FFFFFF"/>
                </a:highlight>
              </a:rPr>
              <a:t>Users and DBA </a:t>
            </a:r>
            <a:endParaRPr b="1" sz="3100">
              <a:solidFill>
                <a:srgbClr val="0D0D0D"/>
              </a:solidFill>
              <a:highlight>
                <a:srgbClr val="FFFFFF"/>
              </a:highlight>
            </a:endParaRPr>
          </a:p>
          <a:p>
            <a:pPr indent="0" lvl="0" marL="0" marR="66675" rtl="0" algn="just">
              <a:lnSpc>
                <a:spcPct val="100000"/>
              </a:lnSpc>
              <a:spcBef>
                <a:spcPts val="0"/>
              </a:spcBef>
              <a:spcAft>
                <a:spcPts val="0"/>
              </a:spcAft>
              <a:buSzPct val="33333"/>
              <a:buNone/>
            </a:pPr>
            <a:r>
              <a:t/>
            </a:r>
            <a:endParaRPr b="1" sz="3300">
              <a:solidFill>
                <a:schemeClr val="dk1"/>
              </a:solidFill>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58" name="Google Shape;358;g3fae0b7fedb_0_32"/>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ct val="73333"/>
              <a:buFont typeface="Arial"/>
              <a:buNone/>
            </a:pPr>
            <a:r>
              <a:t/>
            </a:r>
            <a:endParaRPr sz="1500">
              <a:solidFill>
                <a:srgbClr val="1A2C47"/>
              </a:solidFill>
              <a:latin typeface="Arial"/>
              <a:ea typeface="Arial"/>
              <a:cs typeface="Arial"/>
              <a:sym typeface="Arial"/>
            </a:endParaRPr>
          </a:p>
          <a:p>
            <a:pPr indent="0" lvl="0" marL="0" rtl="0" algn="l">
              <a:lnSpc>
                <a:spcPct val="115000"/>
              </a:lnSpc>
              <a:spcBef>
                <a:spcPts val="0"/>
              </a:spcBef>
              <a:spcAft>
                <a:spcPts val="0"/>
              </a:spcAft>
              <a:buSzPts val="275"/>
              <a:buNone/>
            </a:pPr>
            <a:r>
              <a:rPr b="1" lang="en-IN" sz="7200">
                <a:solidFill>
                  <a:srgbClr val="0D0D0D"/>
                </a:solidFill>
              </a:rPr>
              <a:t>2. Application Programmers</a:t>
            </a:r>
            <a:endParaRPr b="1" sz="7200">
              <a:solidFill>
                <a:srgbClr val="0D0D0D"/>
              </a:solidFill>
            </a:endParaRPr>
          </a:p>
          <a:p>
            <a:pPr indent="0" lvl="0" marL="0" rtl="0" algn="l">
              <a:lnSpc>
                <a:spcPct val="115000"/>
              </a:lnSpc>
              <a:spcBef>
                <a:spcPts val="0"/>
              </a:spcBef>
              <a:spcAft>
                <a:spcPts val="0"/>
              </a:spcAft>
              <a:buSzPts val="275"/>
              <a:buNone/>
            </a:pPr>
            <a:r>
              <a:rPr lang="en-IN" sz="7200">
                <a:solidFill>
                  <a:srgbClr val="0D0D0D"/>
                </a:solidFill>
              </a:rPr>
              <a:t>Application programmers develop programs and applications that interact with the database.</a:t>
            </a:r>
            <a:endParaRPr sz="7200">
              <a:solidFill>
                <a:srgbClr val="0D0D0D"/>
              </a:solidFill>
            </a:endParaRPr>
          </a:p>
          <a:p>
            <a:pPr indent="0" lvl="0" marL="0" rtl="0" algn="l">
              <a:lnSpc>
                <a:spcPct val="115000"/>
              </a:lnSpc>
              <a:spcBef>
                <a:spcPts val="1200"/>
              </a:spcBef>
              <a:spcAft>
                <a:spcPts val="0"/>
              </a:spcAft>
              <a:buSzPts val="275"/>
              <a:buNone/>
            </a:pPr>
            <a:r>
              <a:rPr lang="en-IN" sz="7200">
                <a:solidFill>
                  <a:srgbClr val="0D0D0D"/>
                </a:solidFill>
              </a:rPr>
              <a:t>Examples:</a:t>
            </a:r>
            <a:endParaRPr sz="7200">
              <a:solidFill>
                <a:srgbClr val="0D0D0D"/>
              </a:solidFill>
            </a:endParaRPr>
          </a:p>
          <a:p>
            <a:pPr indent="-342900" lvl="0" marL="457200" rtl="0" algn="l">
              <a:lnSpc>
                <a:spcPct val="115000"/>
              </a:lnSpc>
              <a:spcBef>
                <a:spcPts val="1200"/>
              </a:spcBef>
              <a:spcAft>
                <a:spcPts val="0"/>
              </a:spcAft>
              <a:buClr>
                <a:srgbClr val="0D0D0D"/>
              </a:buClr>
              <a:buSzPct val="100000"/>
              <a:buFont typeface="Bookman Old Style"/>
              <a:buChar char="●"/>
            </a:pPr>
            <a:r>
              <a:rPr lang="en-IN" sz="7200">
                <a:solidFill>
                  <a:srgbClr val="0D0D0D"/>
                </a:solidFill>
              </a:rPr>
              <a:t>Developing a banking application</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Creating a college management system</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Developing an online shopping application</a:t>
            </a:r>
            <a:endParaRPr sz="7200">
              <a:solidFill>
                <a:srgbClr val="0D0D0D"/>
              </a:solidFill>
            </a:endParaRPr>
          </a:p>
          <a:p>
            <a:pPr indent="0" lvl="0" marL="0" rtl="0" algn="l">
              <a:lnSpc>
                <a:spcPct val="115000"/>
              </a:lnSpc>
              <a:spcBef>
                <a:spcPts val="600"/>
              </a:spcBef>
              <a:spcAft>
                <a:spcPts val="0"/>
              </a:spcAft>
              <a:buSzPts val="275"/>
              <a:buNone/>
            </a:pPr>
            <a:r>
              <a:rPr lang="en-IN" sz="7200">
                <a:solidFill>
                  <a:srgbClr val="0D0D0D"/>
                </a:solidFill>
              </a:rPr>
              <a:t>They use programming languages and SQL to access the database.</a:t>
            </a:r>
            <a:endParaRPr sz="7200">
              <a:solidFill>
                <a:srgbClr val="0D0D0D"/>
              </a:solidFill>
            </a:endParaRPr>
          </a:p>
          <a:p>
            <a:pPr indent="0" lvl="0" marL="0" rtl="0" algn="l">
              <a:lnSpc>
                <a:spcPct val="115000"/>
              </a:lnSpc>
              <a:spcBef>
                <a:spcPts val="600"/>
              </a:spcBef>
              <a:spcAft>
                <a:spcPts val="0"/>
              </a:spcAft>
              <a:buSzPts val="275"/>
              <a:buNone/>
            </a:pPr>
            <a:r>
              <a:t/>
            </a:r>
            <a:endParaRPr sz="7200">
              <a:solidFill>
                <a:srgbClr val="0D0D0D"/>
              </a:solidFill>
            </a:endParaRPr>
          </a:p>
          <a:p>
            <a:pPr indent="0" lvl="0" marL="0" rtl="0" algn="l">
              <a:lnSpc>
                <a:spcPct val="115000"/>
              </a:lnSpc>
              <a:spcBef>
                <a:spcPts val="300"/>
              </a:spcBef>
              <a:spcAft>
                <a:spcPts val="0"/>
              </a:spcAft>
              <a:buSzPts val="275"/>
              <a:buNone/>
            </a:pPr>
            <a:r>
              <a:rPr b="1" lang="en-IN" sz="7200">
                <a:solidFill>
                  <a:srgbClr val="0D0D0D"/>
                </a:solidFill>
              </a:rPr>
              <a:t>3. Sophisticated Users</a:t>
            </a:r>
            <a:endParaRPr b="1" sz="7200">
              <a:solidFill>
                <a:srgbClr val="0D0D0D"/>
              </a:solidFill>
            </a:endParaRPr>
          </a:p>
          <a:p>
            <a:pPr indent="0" lvl="0" marL="0" rtl="0" algn="l">
              <a:lnSpc>
                <a:spcPct val="115000"/>
              </a:lnSpc>
              <a:spcBef>
                <a:spcPts val="0"/>
              </a:spcBef>
              <a:spcAft>
                <a:spcPts val="0"/>
              </a:spcAft>
              <a:buSzPts val="275"/>
              <a:buNone/>
            </a:pPr>
            <a:r>
              <a:rPr lang="en-IN" sz="7200">
                <a:solidFill>
                  <a:srgbClr val="0D0D0D"/>
                </a:solidFill>
              </a:rPr>
              <a:t>Sophisticated users have good knowledge of databases and can directly interact with the DBMS using SQL or other database tools.</a:t>
            </a:r>
            <a:endParaRPr sz="7200">
              <a:solidFill>
                <a:srgbClr val="0D0D0D"/>
              </a:solidFill>
            </a:endParaRPr>
          </a:p>
          <a:p>
            <a:pPr indent="0" lvl="0" marL="0" rtl="0" algn="l">
              <a:lnSpc>
                <a:spcPct val="115000"/>
              </a:lnSpc>
              <a:spcBef>
                <a:spcPts val="1200"/>
              </a:spcBef>
              <a:spcAft>
                <a:spcPts val="0"/>
              </a:spcAft>
              <a:buSzPts val="275"/>
              <a:buNone/>
            </a:pPr>
            <a:r>
              <a:rPr lang="en-IN" sz="7200">
                <a:solidFill>
                  <a:srgbClr val="0D0D0D"/>
                </a:solidFill>
              </a:rPr>
              <a:t>Examples:</a:t>
            </a:r>
            <a:endParaRPr sz="7200">
              <a:solidFill>
                <a:srgbClr val="0D0D0D"/>
              </a:solidFill>
            </a:endParaRPr>
          </a:p>
          <a:p>
            <a:pPr indent="-342900" lvl="0" marL="457200" rtl="0" algn="l">
              <a:lnSpc>
                <a:spcPct val="115000"/>
              </a:lnSpc>
              <a:spcBef>
                <a:spcPts val="1200"/>
              </a:spcBef>
              <a:spcAft>
                <a:spcPts val="0"/>
              </a:spcAft>
              <a:buClr>
                <a:srgbClr val="0D0D0D"/>
              </a:buClr>
              <a:buSzPct val="100000"/>
              <a:buFont typeface="Bookman Old Style"/>
              <a:buChar char="●"/>
            </a:pPr>
            <a:r>
              <a:rPr lang="en-IN" sz="7200">
                <a:solidFill>
                  <a:srgbClr val="0D0D0D"/>
                </a:solidFill>
              </a:rPr>
              <a:t>Data analysts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Engineers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Researchers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Business analysts</a:t>
            </a:r>
            <a:endParaRPr sz="7200">
              <a:solidFill>
                <a:srgbClr val="0D0D0D"/>
              </a:solidFill>
            </a:endParaRPr>
          </a:p>
          <a:p>
            <a:pPr indent="0" lvl="0" marL="0" rtl="0" algn="l">
              <a:lnSpc>
                <a:spcPct val="115000"/>
              </a:lnSpc>
              <a:spcBef>
                <a:spcPts val="600"/>
              </a:spcBef>
              <a:spcAft>
                <a:spcPts val="0"/>
              </a:spcAft>
              <a:buSzPts val="275"/>
              <a:buNone/>
            </a:pPr>
            <a:r>
              <a:rPr lang="en-IN" sz="7200">
                <a:solidFill>
                  <a:srgbClr val="0D0D0D"/>
                </a:solidFill>
              </a:rPr>
              <a:t>They may write complex queries to analyze large amounts of data.</a:t>
            </a:r>
            <a:endParaRPr sz="7200">
              <a:solidFill>
                <a:srgbClr val="0D0D0D"/>
              </a:solidFill>
            </a:endParaRPr>
          </a:p>
          <a:p>
            <a:pPr indent="0" lvl="0" marL="0" rtl="0" algn="l">
              <a:lnSpc>
                <a:spcPct val="115000"/>
              </a:lnSpc>
              <a:spcBef>
                <a:spcPts val="600"/>
              </a:spcBef>
              <a:spcAft>
                <a:spcPts val="0"/>
              </a:spcAft>
              <a:buSzPts val="275"/>
              <a:buNone/>
            </a:pPr>
            <a:r>
              <a:t/>
            </a:r>
            <a:endParaRPr sz="7200">
              <a:solidFill>
                <a:srgbClr val="0D0D0D"/>
              </a:solidFill>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59" name="Google Shape;359;g3fae0b7fedb_0_32"/>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60" name="Google Shape;360;g3fae0b7fedb_0_32"/>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61" name="Google Shape;361;g3fae0b7fedb_0_32"/>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fae0b7fedb_0_40"/>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SzPct val="35484"/>
              <a:buNone/>
            </a:pPr>
            <a:r>
              <a:rPr b="1" lang="en-IN" sz="3100">
                <a:solidFill>
                  <a:srgbClr val="0D0D0D"/>
                </a:solidFill>
                <a:highlight>
                  <a:srgbClr val="FFFFFF"/>
                </a:highlight>
              </a:rPr>
              <a:t>Users and DBA </a:t>
            </a:r>
            <a:endParaRPr b="1" sz="3100">
              <a:solidFill>
                <a:srgbClr val="0D0D0D"/>
              </a:solidFill>
              <a:highlight>
                <a:srgbClr val="FFFFFF"/>
              </a:highlight>
            </a:endParaRPr>
          </a:p>
          <a:p>
            <a:pPr indent="0" lvl="0" marL="0" marR="66675" rtl="0" algn="just">
              <a:lnSpc>
                <a:spcPct val="100000"/>
              </a:lnSpc>
              <a:spcBef>
                <a:spcPts val="0"/>
              </a:spcBef>
              <a:spcAft>
                <a:spcPts val="0"/>
              </a:spcAft>
              <a:buSzPct val="33333"/>
              <a:buNone/>
            </a:pPr>
            <a:r>
              <a:t/>
            </a:r>
            <a:endParaRPr b="1" sz="3300">
              <a:solidFill>
                <a:schemeClr val="dk1"/>
              </a:solidFill>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67" name="Google Shape;367;g3fae0b7fedb_0_40"/>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600"/>
              </a:spcBef>
              <a:spcAft>
                <a:spcPts val="0"/>
              </a:spcAft>
              <a:buSzPts val="1100"/>
              <a:buNone/>
            </a:pPr>
            <a:r>
              <a:t/>
            </a:r>
            <a:endParaRPr>
              <a:solidFill>
                <a:srgbClr val="0D0D0D"/>
              </a:solidFill>
            </a:endParaRPr>
          </a:p>
          <a:p>
            <a:pPr indent="0" lvl="0" marL="0" rtl="0" algn="l">
              <a:lnSpc>
                <a:spcPct val="115000"/>
              </a:lnSpc>
              <a:spcBef>
                <a:spcPts val="300"/>
              </a:spcBef>
              <a:spcAft>
                <a:spcPts val="0"/>
              </a:spcAft>
              <a:buSzPts val="1100"/>
              <a:buNone/>
            </a:pPr>
            <a:r>
              <a:rPr b="1" lang="en-IN">
                <a:solidFill>
                  <a:srgbClr val="0D0D0D"/>
                </a:solidFill>
              </a:rPr>
              <a:t>4. Database Designers</a:t>
            </a:r>
            <a:endParaRPr b="1">
              <a:solidFill>
                <a:srgbClr val="0D0D0D"/>
              </a:solidFill>
            </a:endParaRPr>
          </a:p>
          <a:p>
            <a:pPr indent="0" lvl="0" marL="0" rtl="0" algn="l">
              <a:lnSpc>
                <a:spcPct val="115000"/>
              </a:lnSpc>
              <a:spcBef>
                <a:spcPts val="0"/>
              </a:spcBef>
              <a:spcAft>
                <a:spcPts val="0"/>
              </a:spcAft>
              <a:buSzPts val="1100"/>
              <a:buNone/>
            </a:pPr>
            <a:r>
              <a:rPr lang="en-IN">
                <a:solidFill>
                  <a:srgbClr val="0D0D0D"/>
                </a:solidFill>
              </a:rPr>
              <a:t>Database designers are responsible for designing the structure of the database. They decide:</a:t>
            </a:r>
            <a:endParaRPr>
              <a:solidFill>
                <a:srgbClr val="0D0D0D"/>
              </a:solidFill>
            </a:endParaRPr>
          </a:p>
          <a:p>
            <a:pPr indent="-342900" lvl="0" marL="457200" rtl="0" algn="l">
              <a:lnSpc>
                <a:spcPct val="115000"/>
              </a:lnSpc>
              <a:spcBef>
                <a:spcPts val="300"/>
              </a:spcBef>
              <a:spcAft>
                <a:spcPts val="0"/>
              </a:spcAft>
              <a:buClr>
                <a:srgbClr val="0D0D0D"/>
              </a:buClr>
              <a:buSzPts val="1800"/>
              <a:buFont typeface="Bookman Old Style"/>
              <a:buChar char="●"/>
            </a:pPr>
            <a:r>
              <a:rPr lang="en-IN">
                <a:solidFill>
                  <a:srgbClr val="0D0D0D"/>
                </a:solidFill>
              </a:rPr>
              <a:t>What tables are required</a:t>
            </a:r>
            <a:endParaRPr>
              <a:solidFill>
                <a:srgbClr val="0D0D0D"/>
              </a:solidFill>
            </a:endParaRPr>
          </a:p>
          <a:p>
            <a:pPr indent="-342900" lvl="0" marL="457200" rtl="0" algn="l">
              <a:lnSpc>
                <a:spcPct val="115000"/>
              </a:lnSpc>
              <a:spcBef>
                <a:spcPts val="0"/>
              </a:spcBef>
              <a:spcAft>
                <a:spcPts val="0"/>
              </a:spcAft>
              <a:buClr>
                <a:srgbClr val="0D0D0D"/>
              </a:buClr>
              <a:buSzPts val="1800"/>
              <a:buFont typeface="Bookman Old Style"/>
              <a:buChar char="●"/>
            </a:pPr>
            <a:r>
              <a:rPr lang="en-IN">
                <a:solidFill>
                  <a:srgbClr val="0D0D0D"/>
                </a:solidFill>
              </a:rPr>
              <a:t>What attributes each table should contain</a:t>
            </a:r>
            <a:endParaRPr>
              <a:solidFill>
                <a:srgbClr val="0D0D0D"/>
              </a:solidFill>
            </a:endParaRPr>
          </a:p>
          <a:p>
            <a:pPr indent="-342900" lvl="0" marL="457200" rtl="0" algn="l">
              <a:lnSpc>
                <a:spcPct val="115000"/>
              </a:lnSpc>
              <a:spcBef>
                <a:spcPts val="0"/>
              </a:spcBef>
              <a:spcAft>
                <a:spcPts val="0"/>
              </a:spcAft>
              <a:buClr>
                <a:srgbClr val="0D0D0D"/>
              </a:buClr>
              <a:buSzPts val="1800"/>
              <a:buFont typeface="Bookman Old Style"/>
              <a:buChar char="●"/>
            </a:pPr>
            <a:r>
              <a:rPr lang="en-IN">
                <a:solidFill>
                  <a:srgbClr val="0D0D0D"/>
                </a:solidFill>
              </a:rPr>
              <a:t>Relationships between tables</a:t>
            </a:r>
            <a:endParaRPr>
              <a:solidFill>
                <a:srgbClr val="0D0D0D"/>
              </a:solidFill>
            </a:endParaRPr>
          </a:p>
          <a:p>
            <a:pPr indent="-342900" lvl="0" marL="457200" rtl="0" algn="l">
              <a:lnSpc>
                <a:spcPct val="115000"/>
              </a:lnSpc>
              <a:spcBef>
                <a:spcPts val="0"/>
              </a:spcBef>
              <a:spcAft>
                <a:spcPts val="0"/>
              </a:spcAft>
              <a:buClr>
                <a:srgbClr val="0D0D0D"/>
              </a:buClr>
              <a:buSzPts val="1800"/>
              <a:buFont typeface="Bookman Old Style"/>
              <a:buChar char="●"/>
            </a:pPr>
            <a:r>
              <a:rPr lang="en-IN">
                <a:solidFill>
                  <a:srgbClr val="0D0D0D"/>
                </a:solidFill>
              </a:rPr>
              <a:t>Primary and foreign keys</a:t>
            </a:r>
            <a:endParaRPr>
              <a:solidFill>
                <a:srgbClr val="0D0D0D"/>
              </a:solidFill>
            </a:endParaRPr>
          </a:p>
          <a:p>
            <a:pPr indent="-342900" lvl="0" marL="457200" rtl="0" algn="l">
              <a:lnSpc>
                <a:spcPct val="115000"/>
              </a:lnSpc>
              <a:spcBef>
                <a:spcPts val="0"/>
              </a:spcBef>
              <a:spcAft>
                <a:spcPts val="0"/>
              </a:spcAft>
              <a:buClr>
                <a:srgbClr val="0D0D0D"/>
              </a:buClr>
              <a:buSzPts val="1800"/>
              <a:buFont typeface="Bookman Old Style"/>
              <a:buChar char="●"/>
            </a:pPr>
            <a:r>
              <a:rPr lang="en-IN">
                <a:solidFill>
                  <a:srgbClr val="0D0D0D"/>
                </a:solidFill>
              </a:rPr>
              <a:t>Constraints and rules</a:t>
            </a:r>
            <a:endParaRPr>
              <a:solidFill>
                <a:srgbClr val="0D0D0D"/>
              </a:solidFill>
            </a:endParaRPr>
          </a:p>
          <a:p>
            <a:pPr indent="0" lvl="0" marL="0" rtl="0" algn="l">
              <a:lnSpc>
                <a:spcPct val="115000"/>
              </a:lnSpc>
              <a:spcBef>
                <a:spcPts val="600"/>
              </a:spcBef>
              <a:spcAft>
                <a:spcPts val="0"/>
              </a:spcAft>
              <a:buSzPts val="1100"/>
              <a:buNone/>
            </a:pPr>
            <a:r>
              <a:rPr lang="en-IN">
                <a:solidFill>
                  <a:srgbClr val="0D0D0D"/>
                </a:solidFill>
              </a:rPr>
              <a:t>Their goal is to create an efficient and well-organized database.</a:t>
            </a:r>
            <a:endParaRPr>
              <a:solidFill>
                <a:srgbClr val="0D0D0D"/>
              </a:solidFill>
            </a:endParaRPr>
          </a:p>
          <a:p>
            <a:pPr indent="-228600" lvl="0" marL="457200" rtl="0" algn="just">
              <a:lnSpc>
                <a:spcPct val="100000"/>
              </a:lnSpc>
              <a:spcBef>
                <a:spcPts val="1800"/>
              </a:spcBef>
              <a:spcAft>
                <a:spcPts val="0"/>
              </a:spcAft>
              <a:buSzPts val="1800"/>
              <a:buNone/>
            </a:pPr>
            <a:r>
              <a:t/>
            </a:r>
            <a:endParaRPr sz="2000">
              <a:latin typeface="Cambria"/>
              <a:ea typeface="Cambria"/>
              <a:cs typeface="Cambria"/>
              <a:sym typeface="Cambria"/>
            </a:endParaRPr>
          </a:p>
        </p:txBody>
      </p:sp>
      <p:pic>
        <p:nvPicPr>
          <p:cNvPr id="368" name="Google Shape;368;g3fae0b7fedb_0_40"/>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69" name="Google Shape;369;g3fae0b7fedb_0_40"/>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70" name="Google Shape;370;g3fae0b7fedb_0_40"/>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fae0b7fedb_0_59"/>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l">
              <a:lnSpc>
                <a:spcPct val="115000"/>
              </a:lnSpc>
              <a:spcBef>
                <a:spcPts val="0"/>
              </a:spcBef>
              <a:spcAft>
                <a:spcPts val="0"/>
              </a:spcAft>
              <a:buSzPct val="35484"/>
              <a:buNone/>
            </a:pPr>
            <a:r>
              <a:t/>
            </a:r>
            <a:endParaRPr b="1" sz="3100">
              <a:solidFill>
                <a:srgbClr val="273239"/>
              </a:solidFill>
              <a:highlight>
                <a:srgbClr val="FFFFFF"/>
              </a:highlight>
              <a:latin typeface="Arial"/>
              <a:ea typeface="Arial"/>
              <a:cs typeface="Arial"/>
              <a:sym typeface="Arial"/>
            </a:endParaRPr>
          </a:p>
          <a:p>
            <a:pPr indent="0" lvl="0" marL="0" rtl="0" algn="l">
              <a:lnSpc>
                <a:spcPct val="115000"/>
              </a:lnSpc>
              <a:spcBef>
                <a:spcPts val="0"/>
              </a:spcBef>
              <a:spcAft>
                <a:spcPts val="0"/>
              </a:spcAft>
              <a:buSzPct val="35484"/>
              <a:buNone/>
            </a:pPr>
            <a:r>
              <a:rPr b="1" lang="en-IN" sz="3100">
                <a:solidFill>
                  <a:srgbClr val="0D0D0D"/>
                </a:solidFill>
                <a:highlight>
                  <a:srgbClr val="FFFFFF"/>
                </a:highlight>
              </a:rPr>
              <a:t> DBA (Database Administrator)</a:t>
            </a:r>
            <a:endParaRPr b="1" sz="3100">
              <a:solidFill>
                <a:srgbClr val="0D0D0D"/>
              </a:solidFill>
              <a:highlight>
                <a:srgbClr val="FFFFFF"/>
              </a:highlight>
            </a:endParaRPr>
          </a:p>
          <a:p>
            <a:pPr indent="0" lvl="0" marL="0" marR="66675" rtl="0" algn="just">
              <a:lnSpc>
                <a:spcPct val="100000"/>
              </a:lnSpc>
              <a:spcBef>
                <a:spcPts val="0"/>
              </a:spcBef>
              <a:spcAft>
                <a:spcPts val="0"/>
              </a:spcAft>
              <a:buSzPct val="33333"/>
              <a:buNone/>
            </a:pPr>
            <a:r>
              <a:t/>
            </a:r>
            <a:endParaRPr b="1" sz="3300">
              <a:solidFill>
                <a:schemeClr val="dk1"/>
              </a:solidFill>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76" name="Google Shape;376;g3fae0b7fedb_0_59"/>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600"/>
              </a:spcBef>
              <a:spcAft>
                <a:spcPts val="0"/>
              </a:spcAft>
              <a:buSzPct val="61111"/>
              <a:buNone/>
            </a:pPr>
            <a:r>
              <a:t/>
            </a:r>
            <a:endParaRPr>
              <a:solidFill>
                <a:srgbClr val="0D0D0D"/>
              </a:solidFill>
            </a:endParaRPr>
          </a:p>
          <a:p>
            <a:pPr indent="0" lvl="0" marL="0" rtl="0" algn="l">
              <a:lnSpc>
                <a:spcPct val="115000"/>
              </a:lnSpc>
              <a:spcBef>
                <a:spcPts val="300"/>
              </a:spcBef>
              <a:spcAft>
                <a:spcPts val="0"/>
              </a:spcAft>
              <a:buSzPts val="275"/>
              <a:buNone/>
            </a:pPr>
            <a:r>
              <a:rPr b="1" lang="en-IN" sz="7200">
                <a:solidFill>
                  <a:schemeClr val="dk1"/>
                </a:solidFill>
              </a:rPr>
              <a:t>DBA - Database Administrator</a:t>
            </a:r>
            <a:endParaRPr b="1" sz="7200">
              <a:solidFill>
                <a:schemeClr val="dk1"/>
              </a:solidFill>
            </a:endParaRPr>
          </a:p>
          <a:p>
            <a:pPr indent="0" lvl="0" marL="0" rtl="0" algn="l">
              <a:lnSpc>
                <a:spcPct val="115000"/>
              </a:lnSpc>
              <a:spcBef>
                <a:spcPts val="800"/>
              </a:spcBef>
              <a:spcAft>
                <a:spcPts val="0"/>
              </a:spcAft>
              <a:buSzPts val="275"/>
              <a:buNone/>
            </a:pPr>
            <a:r>
              <a:rPr lang="en-IN" sz="7200">
                <a:solidFill>
                  <a:srgbClr val="0D0D0D"/>
                </a:solidFill>
              </a:rPr>
              <a:t>A Database Administrator (DBA) is a person who manages and maintains a database system. The main aim of a DBA is to keep the database secure, available, accurate, and efficient.</a:t>
            </a:r>
            <a:endParaRPr sz="7200">
              <a:solidFill>
                <a:srgbClr val="0D0D0D"/>
              </a:solidFill>
            </a:endParaRPr>
          </a:p>
          <a:p>
            <a:pPr indent="0" lvl="0" marL="0" rtl="0" algn="l">
              <a:lnSpc>
                <a:spcPct val="115000"/>
              </a:lnSpc>
              <a:spcBef>
                <a:spcPts val="1200"/>
              </a:spcBef>
              <a:spcAft>
                <a:spcPts val="0"/>
              </a:spcAft>
              <a:buSzPts val="275"/>
              <a:buNone/>
            </a:pPr>
            <a:r>
              <a:rPr lang="en-IN" sz="7200">
                <a:solidFill>
                  <a:srgbClr val="0D0D0D"/>
                </a:solidFill>
              </a:rPr>
              <a:t>A DBA performs tasks such as database installation, configuration, user management, security, performance monitoring, backup, recovery, troubleshooting, migration, and system upgrades.</a:t>
            </a:r>
            <a:endParaRPr sz="7200">
              <a:solidFill>
                <a:srgbClr val="0D0D0D"/>
              </a:solidFill>
            </a:endParaRPr>
          </a:p>
          <a:p>
            <a:pPr indent="0" lvl="0" marL="0" rtl="0" algn="l">
              <a:lnSpc>
                <a:spcPct val="115000"/>
              </a:lnSpc>
              <a:spcBef>
                <a:spcPts val="1200"/>
              </a:spcBef>
              <a:spcAft>
                <a:spcPts val="0"/>
              </a:spcAft>
              <a:buSzPts val="275"/>
              <a:buNone/>
            </a:pPr>
            <a:r>
              <a:rPr lang="en-IN" sz="7200">
                <a:solidFill>
                  <a:srgbClr val="0D0D0D"/>
                </a:solidFill>
              </a:rPr>
              <a:t>Types of DBA</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Administrative DBA: </a:t>
            </a:r>
            <a:endParaRPr b="1"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Manages database servers, security, backups, recovery, and troubleshooting.</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Development DBA: </a:t>
            </a:r>
            <a:endParaRPr b="1"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Creates and manages SQL queries, stored procedures, and database programs.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Application DBA:</a:t>
            </a:r>
            <a:r>
              <a:rPr lang="en-IN" sz="7200">
                <a:solidFill>
                  <a:srgbClr val="0D0D0D"/>
                </a:solidFill>
              </a:rPr>
              <a:t> </a:t>
            </a:r>
            <a:endParaRPr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Manages databases used by specific applications and handles upgrades and data loading.</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Cloud DBA:</a:t>
            </a:r>
            <a:r>
              <a:rPr lang="en-IN" sz="7200">
                <a:solidFill>
                  <a:srgbClr val="0D0D0D"/>
                </a:solidFill>
              </a:rPr>
              <a:t> </a:t>
            </a:r>
            <a:endParaRPr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Manages databases hosted on cloud platforms and ensures security, availability, and scalability.</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Data Warehouse DBA:</a:t>
            </a:r>
            <a:r>
              <a:rPr lang="en-IN" sz="7200">
                <a:solidFill>
                  <a:srgbClr val="0D0D0D"/>
                </a:solidFill>
              </a:rPr>
              <a:t> </a:t>
            </a:r>
            <a:endParaRPr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Manages data warehouses and handles data integration, cleaning, and storage.</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Database Architect:</a:t>
            </a:r>
            <a:r>
              <a:rPr lang="en-IN" sz="7200">
                <a:solidFill>
                  <a:srgbClr val="0D0D0D"/>
                </a:solidFill>
              </a:rPr>
              <a:t> </a:t>
            </a:r>
            <a:endParaRPr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Designs database structure, schemas, tables, and relationships.</a:t>
            </a:r>
            <a:endParaRPr sz="7200">
              <a:solidFill>
                <a:srgbClr val="0D0D0D"/>
              </a:solidFill>
            </a:endParaRPr>
          </a:p>
          <a:p>
            <a:pPr indent="0" lvl="0" marL="457200" rtl="0" algn="l">
              <a:lnSpc>
                <a:spcPct val="115000"/>
              </a:lnSpc>
              <a:spcBef>
                <a:spcPts val="0"/>
              </a:spcBef>
              <a:spcAft>
                <a:spcPts val="0"/>
              </a:spcAft>
              <a:buNone/>
            </a:pPr>
            <a:r>
              <a:t/>
            </a:r>
            <a:endParaRPr sz="7200">
              <a:solidFill>
                <a:srgbClr val="0D0D0D"/>
              </a:solidFill>
            </a:endParaRPr>
          </a:p>
          <a:p>
            <a:pPr indent="0" lvl="0" marL="0" rtl="0" algn="l">
              <a:lnSpc>
                <a:spcPct val="115000"/>
              </a:lnSpc>
              <a:spcBef>
                <a:spcPts val="0"/>
              </a:spcBef>
              <a:spcAft>
                <a:spcPts val="0"/>
              </a:spcAft>
              <a:buSzPct val="100000"/>
              <a:buNone/>
            </a:pPr>
            <a:r>
              <a:t/>
            </a:r>
            <a:endParaRPr sz="1100">
              <a:solidFill>
                <a:schemeClr val="dk1"/>
              </a:solidFill>
              <a:latin typeface="Arial"/>
              <a:ea typeface="Arial"/>
              <a:cs typeface="Arial"/>
              <a:sym typeface="Arial"/>
            </a:endParaRPr>
          </a:p>
          <a:p>
            <a:pPr indent="0" lvl="0" marL="0" rtl="0" algn="l">
              <a:lnSpc>
                <a:spcPct val="115000"/>
              </a:lnSpc>
              <a:spcBef>
                <a:spcPts val="800"/>
              </a:spcBef>
              <a:spcAft>
                <a:spcPts val="0"/>
              </a:spcAft>
              <a:buSzPct val="61111"/>
              <a:buNone/>
            </a:pPr>
            <a:r>
              <a:t/>
            </a:r>
            <a:endParaRPr>
              <a:solidFill>
                <a:srgbClr val="0D0D0D"/>
              </a:solidFill>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77" name="Google Shape;377;g3fae0b7fedb_0_59"/>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78" name="Google Shape;378;g3fae0b7fedb_0_59"/>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79" name="Google Shape;379;g3fae0b7fedb_0_59"/>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fae0b7fedb_0_4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l">
              <a:lnSpc>
                <a:spcPct val="115000"/>
              </a:lnSpc>
              <a:spcBef>
                <a:spcPts val="0"/>
              </a:spcBef>
              <a:spcAft>
                <a:spcPts val="0"/>
              </a:spcAft>
              <a:buSzPct val="35484"/>
              <a:buNone/>
            </a:pPr>
            <a:r>
              <a:t/>
            </a:r>
            <a:endParaRPr b="1" sz="3100">
              <a:solidFill>
                <a:srgbClr val="273239"/>
              </a:solidFill>
              <a:highlight>
                <a:srgbClr val="FFFFFF"/>
              </a:highlight>
              <a:latin typeface="Arial"/>
              <a:ea typeface="Arial"/>
              <a:cs typeface="Arial"/>
              <a:sym typeface="Arial"/>
            </a:endParaRPr>
          </a:p>
          <a:p>
            <a:pPr indent="0" lvl="0" marL="0" rtl="0" algn="l">
              <a:lnSpc>
                <a:spcPct val="115000"/>
              </a:lnSpc>
              <a:spcBef>
                <a:spcPts val="0"/>
              </a:spcBef>
              <a:spcAft>
                <a:spcPts val="0"/>
              </a:spcAft>
              <a:buSzPct val="35484"/>
              <a:buNone/>
            </a:pPr>
            <a:r>
              <a:rPr b="1" lang="en-IN" sz="3100">
                <a:solidFill>
                  <a:srgbClr val="0D0D0D"/>
                </a:solidFill>
                <a:highlight>
                  <a:srgbClr val="FFFFFF"/>
                </a:highlight>
              </a:rPr>
              <a:t> DBA (Database Administrator)</a:t>
            </a:r>
            <a:endParaRPr b="1" sz="3100">
              <a:solidFill>
                <a:srgbClr val="0D0D0D"/>
              </a:solidFill>
              <a:highlight>
                <a:srgbClr val="FFFFFF"/>
              </a:highlight>
            </a:endParaRPr>
          </a:p>
          <a:p>
            <a:pPr indent="0" lvl="0" marL="0" marR="66675" rtl="0" algn="just">
              <a:lnSpc>
                <a:spcPct val="100000"/>
              </a:lnSpc>
              <a:spcBef>
                <a:spcPts val="0"/>
              </a:spcBef>
              <a:spcAft>
                <a:spcPts val="0"/>
              </a:spcAft>
              <a:buSzPct val="33333"/>
              <a:buNone/>
            </a:pPr>
            <a:r>
              <a:t/>
            </a:r>
            <a:endParaRPr b="1" sz="3300">
              <a:solidFill>
                <a:schemeClr val="dk1"/>
              </a:solidFill>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85" name="Google Shape;385;g3fae0b7fedb_0_48"/>
          <p:cNvSpPr txBox="1"/>
          <p:nvPr>
            <p:ph idx="1" type="body"/>
          </p:nvPr>
        </p:nvSpPr>
        <p:spPr>
          <a:xfrm>
            <a:off x="196850" y="1200725"/>
            <a:ext cx="11450100" cy="5487600"/>
          </a:xfrm>
          <a:prstGeom prst="rect">
            <a:avLst/>
          </a:prstGeom>
          <a:noFill/>
          <a:ln>
            <a:noFill/>
          </a:ln>
        </p:spPr>
        <p:txBody>
          <a:bodyPr anchorCtr="0" anchor="t" bIns="45700" lIns="91425" spcFirstLastPara="1" rIns="91425" wrap="square" tIns="45700">
            <a:normAutofit fontScale="25000" lnSpcReduction="20000"/>
          </a:bodyPr>
          <a:lstStyle/>
          <a:p>
            <a:pPr indent="0" lvl="0" marL="457200" rtl="0" algn="l">
              <a:lnSpc>
                <a:spcPct val="115000"/>
              </a:lnSpc>
              <a:spcBef>
                <a:spcPts val="0"/>
              </a:spcBef>
              <a:spcAft>
                <a:spcPts val="0"/>
              </a:spcAft>
              <a:buNone/>
            </a:pPr>
            <a:r>
              <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OLAP DBA:</a:t>
            </a:r>
            <a:endParaRPr b="1" sz="7200">
              <a:solidFill>
                <a:srgbClr val="0D0D0D"/>
              </a:solidFill>
            </a:endParaRPr>
          </a:p>
          <a:p>
            <a:pPr indent="0" lvl="0" marL="457200" rtl="0" algn="l">
              <a:lnSpc>
                <a:spcPct val="115000"/>
              </a:lnSpc>
              <a:spcBef>
                <a:spcPts val="0"/>
              </a:spcBef>
              <a:spcAft>
                <a:spcPts val="0"/>
              </a:spcAft>
              <a:buNone/>
            </a:pPr>
            <a:r>
              <a:rPr b="1" lang="en-IN" sz="7200">
                <a:solidFill>
                  <a:srgbClr val="0D0D0D"/>
                </a:solidFill>
              </a:rPr>
              <a:t> </a:t>
            </a:r>
            <a:r>
              <a:rPr lang="en-IN" sz="7200">
                <a:solidFill>
                  <a:srgbClr val="0D0D0D"/>
                </a:solidFill>
              </a:rPr>
              <a:t>Manages multidimensional databases and OLAP systems used for data analysis.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Task-Oriented DBA: </a:t>
            </a:r>
            <a:endParaRPr b="1"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Focuses on specific tasks such as backup, recovery, or security.</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b="1" lang="en-IN" sz="7200">
                <a:solidFill>
                  <a:srgbClr val="0D0D0D"/>
                </a:solidFill>
              </a:rPr>
              <a:t>Database Analyst:</a:t>
            </a:r>
            <a:r>
              <a:rPr lang="en-IN" sz="7200">
                <a:solidFill>
                  <a:srgbClr val="0D0D0D"/>
                </a:solidFill>
              </a:rPr>
              <a:t> </a:t>
            </a:r>
            <a:endParaRPr sz="7200">
              <a:solidFill>
                <a:srgbClr val="0D0D0D"/>
              </a:solidFill>
            </a:endParaRPr>
          </a:p>
          <a:p>
            <a:pPr indent="0" lvl="0" marL="457200" rtl="0" algn="l">
              <a:lnSpc>
                <a:spcPct val="115000"/>
              </a:lnSpc>
              <a:spcBef>
                <a:spcPts val="0"/>
              </a:spcBef>
              <a:spcAft>
                <a:spcPts val="0"/>
              </a:spcAft>
              <a:buNone/>
            </a:pPr>
            <a:r>
              <a:rPr lang="en-IN" sz="7200">
                <a:solidFill>
                  <a:srgbClr val="0D0D0D"/>
                </a:solidFill>
              </a:rPr>
              <a:t>Helps with database analysis, design, and improvement.Importance of DBA</a:t>
            </a:r>
            <a:endParaRPr sz="7200">
              <a:solidFill>
                <a:srgbClr val="0D0D0D"/>
              </a:solidFill>
            </a:endParaRPr>
          </a:p>
          <a:p>
            <a:pPr indent="0" lvl="0" marL="0" rtl="0" algn="l">
              <a:lnSpc>
                <a:spcPct val="115000"/>
              </a:lnSpc>
              <a:spcBef>
                <a:spcPts val="300"/>
              </a:spcBef>
              <a:spcAft>
                <a:spcPts val="0"/>
              </a:spcAft>
              <a:buNone/>
            </a:pPr>
            <a:r>
              <a:rPr lang="en-IN" sz="7200">
                <a:solidFill>
                  <a:srgbClr val="0D0D0D"/>
                </a:solidFill>
              </a:rPr>
              <a:t>     </a:t>
            </a:r>
            <a:endParaRPr sz="7200">
              <a:solidFill>
                <a:srgbClr val="0D0D0D"/>
              </a:solidFill>
            </a:endParaRPr>
          </a:p>
          <a:p>
            <a:pPr indent="0" lvl="0" marL="0" rtl="0" algn="l">
              <a:lnSpc>
                <a:spcPct val="115000"/>
              </a:lnSpc>
              <a:spcBef>
                <a:spcPts val="300"/>
              </a:spcBef>
              <a:spcAft>
                <a:spcPts val="0"/>
              </a:spcAft>
              <a:buNone/>
            </a:pPr>
            <a:r>
              <a:rPr lang="en-IN" sz="7200">
                <a:solidFill>
                  <a:srgbClr val="0D0D0D"/>
                </a:solidFill>
              </a:rPr>
              <a:t> </a:t>
            </a:r>
            <a:r>
              <a:rPr b="1" lang="en-IN" sz="7200">
                <a:solidFill>
                  <a:srgbClr val="0D0D0D"/>
                </a:solidFill>
              </a:rPr>
              <a:t>A DBA is important because they:</a:t>
            </a:r>
            <a:endParaRPr b="1" sz="7200">
              <a:solidFill>
                <a:srgbClr val="0D0D0D"/>
              </a:solidFill>
            </a:endParaRPr>
          </a:p>
          <a:p>
            <a:pPr indent="0" lvl="0" marL="0" rtl="0" algn="l">
              <a:lnSpc>
                <a:spcPct val="115000"/>
              </a:lnSpc>
              <a:spcBef>
                <a:spcPts val="300"/>
              </a:spcBef>
              <a:spcAft>
                <a:spcPts val="0"/>
              </a:spcAft>
              <a:buNone/>
            </a:pPr>
            <a:r>
              <a:t/>
            </a:r>
            <a:endParaRPr b="1" sz="7200">
              <a:solidFill>
                <a:srgbClr val="0D0D0D"/>
              </a:solidFill>
            </a:endParaRPr>
          </a:p>
          <a:p>
            <a:pPr indent="-342900" lvl="0" marL="457200" rtl="0" algn="l">
              <a:lnSpc>
                <a:spcPct val="115000"/>
              </a:lnSpc>
              <a:spcBef>
                <a:spcPts val="300"/>
              </a:spcBef>
              <a:spcAft>
                <a:spcPts val="0"/>
              </a:spcAft>
              <a:buClr>
                <a:srgbClr val="0D0D0D"/>
              </a:buClr>
              <a:buSzPct val="100000"/>
              <a:buFont typeface="Bookman Old Style"/>
              <a:buChar char="●"/>
            </a:pPr>
            <a:r>
              <a:rPr lang="en-IN" sz="7200">
                <a:solidFill>
                  <a:srgbClr val="0D0D0D"/>
                </a:solidFill>
              </a:rPr>
              <a:t>Manage and maintain the database system.</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Protect data from unauthorized access.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Maintain data integrity and consistency.</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Create backups and recover data when needed.</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Control user access and permissions.</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Monitor and improve database performance.</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Manage database capacity and storage.</a:t>
            </a:r>
            <a:endParaRPr sz="7200">
              <a:solidFill>
                <a:srgbClr val="0D0D0D"/>
              </a:solidFill>
            </a:endParaRPr>
          </a:p>
          <a:p>
            <a:pPr indent="-342900" lvl="0" marL="457200" rtl="0" algn="l">
              <a:lnSpc>
                <a:spcPct val="115000"/>
              </a:lnSpc>
              <a:spcBef>
                <a:spcPts val="0"/>
              </a:spcBef>
              <a:spcAft>
                <a:spcPts val="0"/>
              </a:spcAft>
              <a:buClr>
                <a:srgbClr val="0D0D0D"/>
              </a:buClr>
              <a:buSzPct val="100000"/>
              <a:buFont typeface="Bookman Old Style"/>
              <a:buChar char="●"/>
            </a:pPr>
            <a:r>
              <a:rPr lang="en-IN" sz="7200">
                <a:solidFill>
                  <a:srgbClr val="0D0D0D"/>
                </a:solidFill>
              </a:rPr>
              <a:t>Handle system failures, migration, and upgrades.</a:t>
            </a:r>
            <a:endParaRPr sz="7200">
              <a:solidFill>
                <a:srgbClr val="0D0D0D"/>
              </a:solidFill>
            </a:endParaRPr>
          </a:p>
          <a:p>
            <a:pPr indent="0" lvl="0" marL="0" rtl="0" algn="l">
              <a:lnSpc>
                <a:spcPct val="115000"/>
              </a:lnSpc>
              <a:spcBef>
                <a:spcPts val="0"/>
              </a:spcBef>
              <a:spcAft>
                <a:spcPts val="0"/>
              </a:spcAft>
              <a:buNone/>
            </a:pPr>
            <a:r>
              <a:t/>
            </a:r>
            <a:endParaRPr sz="5500">
              <a:solidFill>
                <a:srgbClr val="0D0D0D"/>
              </a:solidFill>
            </a:endParaRPr>
          </a:p>
          <a:p>
            <a:pPr indent="0" lvl="0" marL="0" rtl="0" algn="l">
              <a:lnSpc>
                <a:spcPct val="115000"/>
              </a:lnSpc>
              <a:spcBef>
                <a:spcPts val="0"/>
              </a:spcBef>
              <a:spcAft>
                <a:spcPts val="0"/>
              </a:spcAft>
              <a:buSzPct val="100000"/>
              <a:buNone/>
            </a:pPr>
            <a:r>
              <a:t/>
            </a:r>
            <a:endParaRPr sz="1100">
              <a:solidFill>
                <a:schemeClr val="dk1"/>
              </a:solidFill>
              <a:latin typeface="Arial"/>
              <a:ea typeface="Arial"/>
              <a:cs typeface="Arial"/>
              <a:sym typeface="Arial"/>
            </a:endParaRPr>
          </a:p>
          <a:p>
            <a:pPr indent="0" lvl="0" marL="0" rtl="0" algn="l">
              <a:lnSpc>
                <a:spcPct val="115000"/>
              </a:lnSpc>
              <a:spcBef>
                <a:spcPts val="800"/>
              </a:spcBef>
              <a:spcAft>
                <a:spcPts val="0"/>
              </a:spcAft>
              <a:buSzPct val="61111"/>
              <a:buNone/>
            </a:pPr>
            <a:r>
              <a:t/>
            </a:r>
            <a:endParaRPr>
              <a:solidFill>
                <a:srgbClr val="0D0D0D"/>
              </a:solidFill>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386" name="Google Shape;386;g3fae0b7fedb_0_4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87" name="Google Shape;387;g3fae0b7fedb_0_4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88" name="Google Shape;388;g3fae0b7fedb_0_48"/>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f960928c2b_0_132"/>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ctr">
              <a:lnSpc>
                <a:spcPct val="100000"/>
              </a:lnSpc>
              <a:spcBef>
                <a:spcPts val="0"/>
              </a:spcBef>
              <a:spcAft>
                <a:spcPts val="0"/>
              </a:spcAft>
              <a:buSzPct val="33333"/>
              <a:buNone/>
            </a:pPr>
            <a:r>
              <a:rPr b="1" lang="en-IN" sz="3300">
                <a:solidFill>
                  <a:srgbClr val="273239"/>
                </a:solidFill>
                <a:highlight>
                  <a:srgbClr val="FFFFFF"/>
                </a:highlight>
              </a:rPr>
              <a:t>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394" name="Google Shape;394;g3f960928c2b_0_132"/>
          <p:cNvSpPr txBox="1"/>
          <p:nvPr>
            <p:ph idx="1" type="body"/>
          </p:nvPr>
        </p:nvSpPr>
        <p:spPr>
          <a:xfrm>
            <a:off x="314850" y="1534925"/>
            <a:ext cx="10809900" cy="4978800"/>
          </a:xfrm>
          <a:prstGeom prst="rect">
            <a:avLst/>
          </a:prstGeom>
          <a:noFill/>
          <a:ln>
            <a:noFill/>
          </a:ln>
        </p:spPr>
        <p:txBody>
          <a:bodyPr anchorCtr="0" anchor="t" bIns="45700" lIns="91425" spcFirstLastPara="1" rIns="91425" wrap="square" tIns="45700">
            <a:normAutofit/>
          </a:bodyPr>
          <a:lstStyle/>
          <a:p>
            <a:pPr indent="0" lvl="0" marL="0" rtl="0" algn="just">
              <a:lnSpc>
                <a:spcPct val="116666"/>
              </a:lnSpc>
              <a:spcBef>
                <a:spcPts val="0"/>
              </a:spcBef>
              <a:spcAft>
                <a:spcPts val="0"/>
              </a:spcAft>
              <a:buClr>
                <a:schemeClr val="dk1"/>
              </a:buClr>
              <a:buSzPts val="1100"/>
              <a:buFont typeface="Arial"/>
              <a:buNone/>
            </a:pPr>
            <a:r>
              <a:rPr b="1" lang="en-IN">
                <a:solidFill>
                  <a:srgbClr val="273239"/>
                </a:solidFill>
              </a:rPr>
              <a:t>Data Model</a:t>
            </a:r>
            <a:endParaRPr b="1">
              <a:solidFill>
                <a:srgbClr val="273239"/>
              </a:solidFill>
            </a:endParaRPr>
          </a:p>
          <a:p>
            <a:pPr indent="0" lvl="0" marL="0" rtl="0" algn="just">
              <a:lnSpc>
                <a:spcPct val="116666"/>
              </a:lnSpc>
              <a:spcBef>
                <a:spcPts val="0"/>
              </a:spcBef>
              <a:spcAft>
                <a:spcPts val="0"/>
              </a:spcAft>
              <a:buClr>
                <a:schemeClr val="dk1"/>
              </a:buClr>
              <a:buSzPts val="1100"/>
              <a:buFont typeface="Arial"/>
              <a:buNone/>
            </a:pPr>
            <a:r>
              <a:t/>
            </a:r>
            <a:endParaRPr b="1">
              <a:solidFill>
                <a:srgbClr val="273239"/>
              </a:solidFill>
            </a:endParaRPr>
          </a:p>
          <a:p>
            <a:pPr indent="0" lvl="0" marL="0" rtl="0" algn="just">
              <a:lnSpc>
                <a:spcPct val="120000"/>
              </a:lnSpc>
              <a:spcBef>
                <a:spcPts val="0"/>
              </a:spcBef>
              <a:spcAft>
                <a:spcPts val="0"/>
              </a:spcAft>
              <a:buClr>
                <a:schemeClr val="dk1"/>
              </a:buClr>
              <a:buSzPts val="1100"/>
              <a:buFont typeface="Arial"/>
              <a:buNone/>
            </a:pPr>
            <a:r>
              <a:rPr lang="en-IN">
                <a:solidFill>
                  <a:srgbClr val="273239"/>
                </a:solidFill>
              </a:rPr>
              <a:t>A data model is a visual and logical representation of an organization data elements and the relationships between them. It helps structure and organize data in alignment with business processes, enabling effective communication between business users and technical teams. Data models define how data is stored, accessed, shared and maintained across information systems</a:t>
            </a:r>
            <a:endParaRPr>
              <a:solidFill>
                <a:srgbClr val="273239"/>
              </a:solidFill>
            </a:endParaRPr>
          </a:p>
          <a:p>
            <a:pPr indent="0" lvl="0" marL="0" rtl="0" algn="just">
              <a:lnSpc>
                <a:spcPct val="100000"/>
              </a:lnSpc>
              <a:spcBef>
                <a:spcPts val="1800"/>
              </a:spcBef>
              <a:spcAft>
                <a:spcPts val="0"/>
              </a:spcAft>
              <a:buSzPts val="1800"/>
              <a:buNone/>
            </a:pPr>
            <a:r>
              <a:rPr b="1" lang="en-IN" sz="2000">
                <a:latin typeface="Cambria"/>
                <a:ea typeface="Cambria"/>
                <a:cs typeface="Cambria"/>
                <a:sym typeface="Cambria"/>
              </a:rPr>
              <a:t>Types of Data Model:</a:t>
            </a:r>
            <a:endParaRPr b="1" sz="2000">
              <a:latin typeface="Cambria"/>
              <a:ea typeface="Cambria"/>
              <a:cs typeface="Cambria"/>
              <a:sym typeface="Cambria"/>
            </a:endParaRPr>
          </a:p>
          <a:p>
            <a:pPr indent="-355600" lvl="0" marL="457200" rtl="0" algn="just">
              <a:lnSpc>
                <a:spcPct val="100000"/>
              </a:lnSpc>
              <a:spcBef>
                <a:spcPts val="1800"/>
              </a:spcBef>
              <a:spcAft>
                <a:spcPts val="0"/>
              </a:spcAft>
              <a:buSzPts val="2000"/>
              <a:buFont typeface="Cambria"/>
              <a:buAutoNum type="arabicPeriod"/>
            </a:pPr>
            <a:r>
              <a:rPr lang="en-IN" sz="2000">
                <a:latin typeface="Cambria"/>
                <a:ea typeface="Cambria"/>
                <a:cs typeface="Cambria"/>
                <a:sym typeface="Cambria"/>
              </a:rPr>
              <a:t>Hierarchical Data Model</a:t>
            </a:r>
            <a:endParaRPr sz="2000">
              <a:latin typeface="Cambria"/>
              <a:ea typeface="Cambria"/>
              <a:cs typeface="Cambria"/>
              <a:sym typeface="Cambria"/>
            </a:endParaRPr>
          </a:p>
          <a:p>
            <a:pPr indent="-355600" lvl="0" marL="457200" rtl="0" algn="just">
              <a:lnSpc>
                <a:spcPct val="100000"/>
              </a:lnSpc>
              <a:spcBef>
                <a:spcPts val="0"/>
              </a:spcBef>
              <a:spcAft>
                <a:spcPts val="0"/>
              </a:spcAft>
              <a:buSzPts val="2000"/>
              <a:buFont typeface="Cambria"/>
              <a:buAutoNum type="arabicPeriod"/>
            </a:pPr>
            <a:r>
              <a:rPr lang="en-IN" sz="2000">
                <a:latin typeface="Cambria"/>
                <a:ea typeface="Cambria"/>
                <a:cs typeface="Cambria"/>
                <a:sym typeface="Cambria"/>
              </a:rPr>
              <a:t>Network Data Model</a:t>
            </a:r>
            <a:endParaRPr sz="2000">
              <a:latin typeface="Cambria"/>
              <a:ea typeface="Cambria"/>
              <a:cs typeface="Cambria"/>
              <a:sym typeface="Cambria"/>
            </a:endParaRPr>
          </a:p>
          <a:p>
            <a:pPr indent="-355600" lvl="0" marL="457200" rtl="0" algn="just">
              <a:lnSpc>
                <a:spcPct val="100000"/>
              </a:lnSpc>
              <a:spcBef>
                <a:spcPts val="0"/>
              </a:spcBef>
              <a:spcAft>
                <a:spcPts val="0"/>
              </a:spcAft>
              <a:buSzPts val="2000"/>
              <a:buFont typeface="Cambria"/>
              <a:buAutoNum type="arabicPeriod"/>
            </a:pPr>
            <a:r>
              <a:rPr lang="en-IN" sz="2000">
                <a:latin typeface="Cambria"/>
                <a:ea typeface="Cambria"/>
                <a:cs typeface="Cambria"/>
                <a:sym typeface="Cambria"/>
              </a:rPr>
              <a:t>Relational Data Model</a:t>
            </a:r>
            <a:endParaRPr sz="2000">
              <a:latin typeface="Cambria"/>
              <a:ea typeface="Cambria"/>
              <a:cs typeface="Cambria"/>
              <a:sym typeface="Cambria"/>
            </a:endParaRPr>
          </a:p>
          <a:p>
            <a:pPr indent="-355600" lvl="0" marL="457200" rtl="0" algn="just">
              <a:lnSpc>
                <a:spcPct val="100000"/>
              </a:lnSpc>
              <a:spcBef>
                <a:spcPts val="0"/>
              </a:spcBef>
              <a:spcAft>
                <a:spcPts val="0"/>
              </a:spcAft>
              <a:buSzPts val="2000"/>
              <a:buFont typeface="Cambria"/>
              <a:buAutoNum type="arabicPeriod"/>
            </a:pPr>
            <a:r>
              <a:rPr lang="en-IN" sz="2000">
                <a:latin typeface="Cambria"/>
                <a:ea typeface="Cambria"/>
                <a:cs typeface="Cambria"/>
                <a:sym typeface="Cambria"/>
              </a:rPr>
              <a:t>E-R Data Model</a:t>
            </a:r>
            <a:endParaRPr sz="2000">
              <a:latin typeface="Cambria"/>
              <a:ea typeface="Cambria"/>
              <a:cs typeface="Cambria"/>
              <a:sym typeface="Cambria"/>
            </a:endParaRPr>
          </a:p>
        </p:txBody>
      </p:sp>
      <p:pic>
        <p:nvPicPr>
          <p:cNvPr id="395" name="Google Shape;395;g3f960928c2b_0_132"/>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396" name="Google Shape;396;g3f960928c2b_0_132"/>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397" name="Google Shape;397;g3f960928c2b_0_132"/>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f72c8a0c45_0_98"/>
          <p:cNvSpPr txBox="1"/>
          <p:nvPr>
            <p:ph idx="1" type="body"/>
          </p:nvPr>
        </p:nvSpPr>
        <p:spPr>
          <a:xfrm>
            <a:off x="933450" y="1277325"/>
            <a:ext cx="10480200" cy="5511900"/>
          </a:xfrm>
          <a:prstGeom prst="rect">
            <a:avLst/>
          </a:prstGeom>
          <a:noFill/>
          <a:ln>
            <a:noFill/>
          </a:ln>
        </p:spPr>
        <p:txBody>
          <a:bodyPr anchorCtr="0" anchor="t" bIns="45700" lIns="91425" spcFirstLastPara="1" rIns="91425" wrap="square" tIns="45700">
            <a:normAutofit fontScale="25000"/>
          </a:bodyPr>
          <a:lstStyle/>
          <a:p>
            <a:pPr indent="0" lvl="0" marL="0" rtl="0" algn="just">
              <a:lnSpc>
                <a:spcPct val="120000"/>
              </a:lnSpc>
              <a:spcBef>
                <a:spcPts val="0"/>
              </a:spcBef>
              <a:spcAft>
                <a:spcPts val="0"/>
              </a:spcAft>
              <a:buClr>
                <a:schemeClr val="dk1"/>
              </a:buClr>
              <a:buSzPts val="275"/>
              <a:buFont typeface="Arial"/>
              <a:buNone/>
            </a:pPr>
            <a:r>
              <a:t/>
            </a:r>
            <a:endParaRPr sz="7308">
              <a:solidFill>
                <a:srgbClr val="273239"/>
              </a:solidFill>
            </a:endParaRPr>
          </a:p>
          <a:p>
            <a:pPr indent="0" lvl="0" marL="0" rtl="0" algn="just">
              <a:lnSpc>
                <a:spcPct val="155000"/>
              </a:lnSpc>
              <a:spcBef>
                <a:spcPts val="800"/>
              </a:spcBef>
              <a:spcAft>
                <a:spcPts val="0"/>
              </a:spcAft>
              <a:buSzPct val="98522"/>
              <a:buNone/>
            </a:pPr>
            <a:r>
              <a:rPr b="1" lang="en-IN" sz="7308">
                <a:solidFill>
                  <a:srgbClr val="273239"/>
                </a:solidFill>
              </a:rPr>
              <a:t>1. Hierarchical Model</a:t>
            </a:r>
            <a:r>
              <a:rPr lang="en-IN" sz="7308">
                <a:solidFill>
                  <a:srgbClr val="273239"/>
                </a:solidFill>
              </a:rPr>
              <a:t>: The structure of the hierarchical model resembles a tree. The remaining child nodes are arranged in a certain sequence and there is only one root node or alternatively one parent node. However the hierarchical approach is no longer widely applied. approach connections in the actual world may be modelled using this approach.</a:t>
            </a:r>
            <a:r>
              <a:rPr lang="en-IN" sz="7308">
                <a:solidFill>
                  <a:schemeClr val="dk1"/>
                </a:solidFill>
              </a:rPr>
              <a:t> </a:t>
            </a:r>
            <a:endParaRPr b="1" sz="7308">
              <a:solidFill>
                <a:srgbClr val="1E3A5F"/>
              </a:solidFill>
            </a:endParaRPr>
          </a:p>
          <a:p>
            <a:pPr indent="0" lvl="0" marL="0" rtl="0" algn="l">
              <a:lnSpc>
                <a:spcPct val="165000"/>
              </a:lnSpc>
              <a:spcBef>
                <a:spcPts val="0"/>
              </a:spcBef>
              <a:spcAft>
                <a:spcPts val="0"/>
              </a:spcAft>
              <a:buSzPct val="90000"/>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03" name="Google Shape;403;g3f72c8a0c45_0_9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04" name="Google Shape;404;g3f72c8a0c45_0_9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05" name="Google Shape;405;g3f72c8a0c45_0_9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06" name="Google Shape;406;g3f72c8a0c45_0_98"/>
          <p:cNvPicPr preferRelativeResize="0"/>
          <p:nvPr/>
        </p:nvPicPr>
        <p:blipFill rotWithShape="1">
          <a:blip r:embed="rId5">
            <a:alphaModFix/>
          </a:blip>
          <a:srcRect b="0" l="0" r="0" t="0"/>
          <a:stretch/>
        </p:blipFill>
        <p:spPr>
          <a:xfrm>
            <a:off x="1131525" y="3642225"/>
            <a:ext cx="9199750" cy="3028825"/>
          </a:xfrm>
          <a:prstGeom prst="rect">
            <a:avLst/>
          </a:prstGeom>
          <a:noFill/>
          <a:ln>
            <a:noFill/>
          </a:ln>
        </p:spPr>
      </p:pic>
      <p:sp>
        <p:nvSpPr>
          <p:cNvPr id="407" name="Google Shape;407;g3f72c8a0c45_0_9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ctr">
              <a:lnSpc>
                <a:spcPct val="100000"/>
              </a:lnSpc>
              <a:spcBef>
                <a:spcPts val="0"/>
              </a:spcBef>
              <a:spcAft>
                <a:spcPts val="0"/>
              </a:spcAft>
              <a:buSzPct val="33333"/>
              <a:buNone/>
            </a:pPr>
            <a:r>
              <a:rPr b="1" lang="en-IN" sz="3300">
                <a:solidFill>
                  <a:srgbClr val="273239"/>
                </a:solidFill>
                <a:highlight>
                  <a:srgbClr val="FFFFFF"/>
                </a:highlight>
              </a:rPr>
              <a:t>Hierarchical 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f72c8a0c45_0_87"/>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rtl="0" algn="ctr">
              <a:lnSpc>
                <a:spcPct val="125000"/>
              </a:lnSpc>
              <a:spcBef>
                <a:spcPts val="0"/>
              </a:spcBef>
              <a:spcAft>
                <a:spcPts val="0"/>
              </a:spcAft>
              <a:buClr>
                <a:schemeClr val="dk1"/>
              </a:buClr>
              <a:buSzPct val="64706"/>
              <a:buFont typeface="Arial"/>
              <a:buNone/>
            </a:pPr>
            <a:r>
              <a:t/>
            </a:r>
            <a:endParaRPr sz="1700">
              <a:solidFill>
                <a:srgbClr val="1E293B"/>
              </a:solidFill>
              <a:highlight>
                <a:schemeClr val="lt1"/>
              </a:highlight>
              <a:latin typeface="Verdana"/>
              <a:ea typeface="Verdana"/>
              <a:cs typeface="Verdana"/>
              <a:sym typeface="Verdana"/>
            </a:endParaRPr>
          </a:p>
          <a:p>
            <a:pPr indent="0" lvl="0" marL="0" marR="66675" rtl="0" algn="ctr">
              <a:lnSpc>
                <a:spcPct val="100000"/>
              </a:lnSpc>
              <a:spcBef>
                <a:spcPts val="0"/>
              </a:spcBef>
              <a:spcAft>
                <a:spcPts val="0"/>
              </a:spcAft>
              <a:buClr>
                <a:schemeClr val="dk1"/>
              </a:buClr>
              <a:buSzPct val="33333"/>
              <a:buFont typeface="Arial"/>
              <a:buNone/>
            </a:pPr>
            <a:r>
              <a:rPr b="1" lang="en-IN" sz="3300">
                <a:solidFill>
                  <a:srgbClr val="273239"/>
                </a:solidFill>
                <a:highlight>
                  <a:schemeClr val="lt1"/>
                </a:highlight>
              </a:rPr>
              <a:t>Hierarchical 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413" name="Google Shape;413;g3f72c8a0c45_0_87"/>
          <p:cNvSpPr txBox="1"/>
          <p:nvPr>
            <p:ph idx="1" type="body"/>
          </p:nvPr>
        </p:nvSpPr>
        <p:spPr>
          <a:xfrm>
            <a:off x="1295400" y="1346200"/>
            <a:ext cx="10534800" cy="551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55000"/>
              </a:lnSpc>
              <a:spcBef>
                <a:spcPts val="800"/>
              </a:spcBef>
              <a:spcAft>
                <a:spcPts val="0"/>
              </a:spcAft>
              <a:buClr>
                <a:schemeClr val="dk1"/>
              </a:buClr>
              <a:buSzPts val="275"/>
              <a:buFont typeface="Arial"/>
              <a:buNone/>
            </a:pPr>
            <a:r>
              <a:rPr b="1" lang="en-IN" sz="7308">
                <a:solidFill>
                  <a:srgbClr val="273239"/>
                </a:solidFill>
              </a:rPr>
              <a:t>Advantages of the Hierarchical Data Model</a:t>
            </a:r>
            <a:endParaRPr b="1" sz="7308">
              <a:solidFill>
                <a:srgbClr val="273239"/>
              </a:solidFill>
            </a:endParaRPr>
          </a:p>
          <a:p>
            <a:pPr indent="0" lvl="0" marL="0" rtl="0" algn="just">
              <a:lnSpc>
                <a:spcPct val="155000"/>
              </a:lnSpc>
              <a:spcBef>
                <a:spcPts val="800"/>
              </a:spcBef>
              <a:spcAft>
                <a:spcPts val="0"/>
              </a:spcAft>
              <a:buClr>
                <a:schemeClr val="dk1"/>
              </a:buClr>
              <a:buSzPts val="275"/>
              <a:buFont typeface="Arial"/>
              <a:buNone/>
            </a:pPr>
            <a:r>
              <a:rPr lang="en-IN" sz="7308">
                <a:solidFill>
                  <a:srgbClr val="273239"/>
                </a:solidFill>
              </a:rPr>
              <a:t>• Because of its tree form, it is easy to grasp.</a:t>
            </a:r>
            <a:endParaRPr sz="7308">
              <a:solidFill>
                <a:srgbClr val="273239"/>
              </a:solidFill>
            </a:endParaRPr>
          </a:p>
          <a:p>
            <a:pPr indent="0" lvl="0" marL="0" rtl="0" algn="just">
              <a:lnSpc>
                <a:spcPct val="155000"/>
              </a:lnSpc>
              <a:spcBef>
                <a:spcPts val="800"/>
              </a:spcBef>
              <a:spcAft>
                <a:spcPts val="0"/>
              </a:spcAft>
              <a:buSzPts val="275"/>
              <a:buNone/>
            </a:pPr>
            <a:r>
              <a:rPr lang="en-IN" sz="7308">
                <a:solidFill>
                  <a:srgbClr val="273239"/>
                </a:solidFill>
              </a:rPr>
              <a:t>• Retrieving data in a one-to-many connection is efficient.</a:t>
            </a:r>
            <a:endParaRPr sz="7308">
              <a:solidFill>
                <a:srgbClr val="273239"/>
              </a:solidFill>
            </a:endParaRPr>
          </a:p>
          <a:p>
            <a:pPr indent="0" lvl="0" marL="0" rtl="0" algn="just">
              <a:lnSpc>
                <a:spcPct val="155000"/>
              </a:lnSpc>
              <a:spcBef>
                <a:spcPts val="800"/>
              </a:spcBef>
              <a:spcAft>
                <a:spcPts val="0"/>
              </a:spcAft>
              <a:buClr>
                <a:schemeClr val="dk1"/>
              </a:buClr>
              <a:buSzPts val="275"/>
              <a:buFont typeface="Arial"/>
              <a:buNone/>
            </a:pPr>
            <a:r>
              <a:t/>
            </a:r>
            <a:endParaRPr sz="7308">
              <a:solidFill>
                <a:srgbClr val="273239"/>
              </a:solidFill>
            </a:endParaRPr>
          </a:p>
          <a:p>
            <a:pPr indent="0" lvl="0" marL="0" rtl="0" algn="just">
              <a:lnSpc>
                <a:spcPct val="155000"/>
              </a:lnSpc>
              <a:spcBef>
                <a:spcPts val="800"/>
              </a:spcBef>
              <a:spcAft>
                <a:spcPts val="0"/>
              </a:spcAft>
              <a:buClr>
                <a:schemeClr val="dk1"/>
              </a:buClr>
              <a:buSzPts val="275"/>
              <a:buFont typeface="Arial"/>
              <a:buNone/>
            </a:pPr>
            <a:r>
              <a:rPr b="1" lang="en-IN" sz="7308">
                <a:solidFill>
                  <a:srgbClr val="273239"/>
                </a:solidFill>
              </a:rPr>
              <a:t>Disadvantages of the Hierarchical Data Model</a:t>
            </a:r>
            <a:endParaRPr b="1" sz="7308">
              <a:solidFill>
                <a:srgbClr val="273239"/>
              </a:solidFill>
            </a:endParaRPr>
          </a:p>
          <a:p>
            <a:pPr indent="0" lvl="0" marL="0" rtl="0" algn="just">
              <a:lnSpc>
                <a:spcPct val="155000"/>
              </a:lnSpc>
              <a:spcBef>
                <a:spcPts val="800"/>
              </a:spcBef>
              <a:spcAft>
                <a:spcPts val="0"/>
              </a:spcAft>
              <a:buClr>
                <a:schemeClr val="dk1"/>
              </a:buClr>
              <a:buSzPts val="275"/>
              <a:buFont typeface="Arial"/>
              <a:buNone/>
            </a:pPr>
            <a:r>
              <a:rPr lang="en-IN" sz="7308">
                <a:solidFill>
                  <a:srgbClr val="273239"/>
                </a:solidFill>
              </a:rPr>
              <a:t>• Inflexibility in reorganizing data.</a:t>
            </a:r>
            <a:endParaRPr sz="7308">
              <a:solidFill>
                <a:srgbClr val="273239"/>
              </a:solidFill>
            </a:endParaRPr>
          </a:p>
          <a:p>
            <a:pPr indent="0" lvl="0" marL="0" rtl="0" algn="just">
              <a:lnSpc>
                <a:spcPct val="155000"/>
              </a:lnSpc>
              <a:spcBef>
                <a:spcPts val="800"/>
              </a:spcBef>
              <a:spcAft>
                <a:spcPts val="0"/>
              </a:spcAft>
              <a:buClr>
                <a:schemeClr val="dk1"/>
              </a:buClr>
              <a:buSzPts val="275"/>
              <a:buFont typeface="Arial"/>
              <a:buNone/>
            </a:pPr>
            <a:r>
              <a:rPr lang="en-IN" sz="7308">
                <a:solidFill>
                  <a:srgbClr val="273239"/>
                </a:solidFill>
              </a:rPr>
              <a:t>• accessing complicated data structures may be challenging.</a:t>
            </a:r>
            <a:endParaRPr sz="7308">
              <a:solidFill>
                <a:srgbClr val="273239"/>
              </a:solidFill>
            </a:endParaRPr>
          </a:p>
          <a:p>
            <a:pPr indent="0" lvl="0" marL="0" rtl="0" algn="just">
              <a:lnSpc>
                <a:spcPct val="155000"/>
              </a:lnSpc>
              <a:spcBef>
                <a:spcPts val="800"/>
              </a:spcBef>
              <a:spcAft>
                <a:spcPts val="0"/>
              </a:spcAft>
              <a:buClr>
                <a:schemeClr val="dk1"/>
              </a:buClr>
              <a:buSzPts val="275"/>
              <a:buFont typeface="Arial"/>
              <a:buNone/>
            </a:pPr>
            <a:r>
              <a:rPr lang="en-IN" sz="7308">
                <a:solidFill>
                  <a:srgbClr val="273239"/>
                </a:solidFill>
              </a:rPr>
              <a:t>• redundant data storage, which might cause anomalies and inconsistencies.</a:t>
            </a:r>
            <a:endParaRPr sz="7308">
              <a:solidFill>
                <a:srgbClr val="273239"/>
              </a:solidFill>
            </a:endParaRPr>
          </a:p>
          <a:p>
            <a:pPr indent="0" lvl="0" marL="0" rtl="0" algn="l">
              <a:lnSpc>
                <a:spcPct val="155000"/>
              </a:lnSpc>
              <a:spcBef>
                <a:spcPts val="800"/>
              </a:spcBef>
              <a:spcAft>
                <a:spcPts val="0"/>
              </a:spcAft>
              <a:buSzPct val="88801"/>
              <a:buNone/>
            </a:pPr>
            <a:r>
              <a:t/>
            </a:r>
            <a:endParaRPr b="1" sz="8108">
              <a:solidFill>
                <a:srgbClr val="273239"/>
              </a:solidFill>
              <a:latin typeface="Nunito"/>
              <a:ea typeface="Nunito"/>
              <a:cs typeface="Nunito"/>
              <a:sym typeface="Nunito"/>
            </a:endParaRPr>
          </a:p>
          <a:p>
            <a:pPr indent="0" lvl="0" marL="0" rtl="0" algn="l">
              <a:lnSpc>
                <a:spcPct val="165000"/>
              </a:lnSpc>
              <a:spcBef>
                <a:spcPts val="0"/>
              </a:spcBef>
              <a:spcAft>
                <a:spcPts val="0"/>
              </a:spcAft>
              <a:buSzPct val="90000"/>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90000"/>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ts val="1800"/>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ts val="1800"/>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ts val="1800"/>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14" name="Google Shape;414;g3f72c8a0c45_0_87"/>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15" name="Google Shape;415;g3f72c8a0c45_0_87"/>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16" name="Google Shape;416;g3f72c8a0c45_0_87"/>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f960928c2b_0_143"/>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3333"/>
              <a:buNone/>
            </a:pPr>
            <a:r>
              <a:rPr b="1" lang="en-IN" sz="3300">
                <a:solidFill>
                  <a:srgbClr val="273239"/>
                </a:solidFill>
                <a:highlight>
                  <a:srgbClr val="FFFFFF"/>
                </a:highlight>
              </a:rPr>
              <a:t>Network 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422" name="Google Shape;422;g3f960928c2b_0_143"/>
          <p:cNvSpPr txBox="1"/>
          <p:nvPr>
            <p:ph idx="1" type="body"/>
          </p:nvPr>
        </p:nvSpPr>
        <p:spPr>
          <a:xfrm>
            <a:off x="196850" y="1346200"/>
            <a:ext cx="11633400" cy="5511900"/>
          </a:xfrm>
          <a:prstGeom prst="rect">
            <a:avLst/>
          </a:prstGeom>
          <a:noFill/>
          <a:ln>
            <a:noFill/>
          </a:ln>
        </p:spPr>
        <p:txBody>
          <a:bodyPr anchorCtr="0" anchor="t" bIns="45700" lIns="91425" spcFirstLastPara="1" rIns="91425" wrap="square" tIns="45700">
            <a:normAutofit fontScale="47500" lnSpcReduction="10000"/>
          </a:bodyPr>
          <a:lstStyle/>
          <a:p>
            <a:pPr indent="0" lvl="0" marL="0" rtl="0" algn="l">
              <a:lnSpc>
                <a:spcPct val="155000"/>
              </a:lnSpc>
              <a:spcBef>
                <a:spcPts val="0"/>
              </a:spcBef>
              <a:spcAft>
                <a:spcPts val="0"/>
              </a:spcAft>
              <a:buSzPct val="99254"/>
              <a:buNone/>
            </a:pPr>
            <a:r>
              <a:rPr b="1" lang="en-IN" sz="3817">
                <a:solidFill>
                  <a:srgbClr val="273239"/>
                </a:solidFill>
              </a:rPr>
              <a:t>Network Model</a:t>
            </a:r>
            <a:r>
              <a:rPr lang="en-IN" sz="3817">
                <a:solidFill>
                  <a:srgbClr val="273239"/>
                </a:solidFill>
              </a:rPr>
              <a:t>: We have to represent objects and the relationships using the network model. One of its features is a schema, which is a graph representation of the data. An item is stored within a node and the relationship between them is represented as an edge. This allows them to generalise the maintenance of many parent and child records.</a:t>
            </a:r>
            <a:r>
              <a:rPr lang="en-IN" sz="3817">
                <a:solidFill>
                  <a:schemeClr val="dk1"/>
                </a:solidFill>
              </a:rPr>
              <a:t> </a:t>
            </a:r>
            <a:endParaRPr b="1" sz="3817">
              <a:solidFill>
                <a:srgbClr val="1E3A5F"/>
              </a:solidFill>
            </a:endParaRPr>
          </a:p>
          <a:p>
            <a:pPr indent="0" lvl="0" marL="0" rtl="0" algn="l">
              <a:lnSpc>
                <a:spcPct val="165000"/>
              </a:lnSpc>
              <a:spcBef>
                <a:spcPts val="0"/>
              </a:spcBef>
              <a:spcAft>
                <a:spcPts val="0"/>
              </a:spcAft>
              <a:buSzPct val="47368"/>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47368"/>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ct val="344498"/>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ct val="280702"/>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ct val="244482"/>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ct val="280702"/>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23" name="Google Shape;423;g3f960928c2b_0_143"/>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24" name="Google Shape;424;g3f960928c2b_0_143"/>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25" name="Google Shape;425;g3f960928c2b_0_143"/>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26" name="Google Shape;426;g3f960928c2b_0_143"/>
          <p:cNvPicPr preferRelativeResize="0"/>
          <p:nvPr/>
        </p:nvPicPr>
        <p:blipFill rotWithShape="1">
          <a:blip r:embed="rId5">
            <a:alphaModFix/>
          </a:blip>
          <a:srcRect b="0" l="0" r="0" t="0"/>
          <a:stretch/>
        </p:blipFill>
        <p:spPr>
          <a:xfrm>
            <a:off x="2209125" y="3079700"/>
            <a:ext cx="7773750" cy="3568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f72c8a0c45_0_10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3333"/>
              <a:buNone/>
            </a:pPr>
            <a:r>
              <a:rPr b="1" lang="en-IN" sz="3300">
                <a:solidFill>
                  <a:srgbClr val="273239"/>
                </a:solidFill>
                <a:highlight>
                  <a:srgbClr val="FFFFFF"/>
                </a:highlight>
              </a:rPr>
              <a:t>Network 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432" name="Google Shape;432;g3f72c8a0c45_0_108"/>
          <p:cNvSpPr txBox="1"/>
          <p:nvPr>
            <p:ph idx="1" type="body"/>
          </p:nvPr>
        </p:nvSpPr>
        <p:spPr>
          <a:xfrm>
            <a:off x="196850" y="1346200"/>
            <a:ext cx="11633400" cy="5511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55000"/>
              </a:lnSpc>
              <a:spcBef>
                <a:spcPts val="0"/>
              </a:spcBef>
              <a:spcAft>
                <a:spcPts val="0"/>
              </a:spcAft>
              <a:buClr>
                <a:schemeClr val="dk1"/>
              </a:buClr>
              <a:buSzPts val="275"/>
              <a:buFont typeface="Arial"/>
              <a:buNone/>
            </a:pPr>
            <a:r>
              <a:rPr b="1" lang="en-IN" sz="7200">
                <a:solidFill>
                  <a:srgbClr val="273239"/>
                </a:solidFill>
              </a:rPr>
              <a:t>Advantages of the Network Data Model</a:t>
            </a:r>
            <a:endParaRPr b="1" sz="7200">
              <a:solidFill>
                <a:srgbClr val="273239"/>
              </a:solidFill>
            </a:endParaRPr>
          </a:p>
          <a:p>
            <a:pPr indent="0" lvl="0" marL="0" rtl="0" algn="l">
              <a:lnSpc>
                <a:spcPct val="155000"/>
              </a:lnSpc>
              <a:spcBef>
                <a:spcPts val="0"/>
              </a:spcBef>
              <a:spcAft>
                <a:spcPts val="0"/>
              </a:spcAft>
              <a:buClr>
                <a:schemeClr val="dk1"/>
              </a:buClr>
              <a:buSzPts val="275"/>
              <a:buFont typeface="Arial"/>
              <a:buNone/>
            </a:pPr>
            <a:r>
              <a:rPr lang="en-IN" sz="7200">
                <a:solidFill>
                  <a:srgbClr val="273239"/>
                </a:solidFill>
              </a:rPr>
              <a:t>• Because of its numerous parent ties, it is more adaptable than</a:t>
            </a:r>
            <a:endParaRPr sz="7200">
              <a:solidFill>
                <a:srgbClr val="273239"/>
              </a:solidFill>
            </a:endParaRPr>
          </a:p>
          <a:p>
            <a:pPr indent="0" lvl="0" marL="0" rtl="0" algn="l">
              <a:lnSpc>
                <a:spcPct val="155000"/>
              </a:lnSpc>
              <a:spcBef>
                <a:spcPts val="0"/>
              </a:spcBef>
              <a:spcAft>
                <a:spcPts val="0"/>
              </a:spcAft>
              <a:buClr>
                <a:schemeClr val="dk1"/>
              </a:buClr>
              <a:buSzPts val="275"/>
              <a:buFont typeface="Arial"/>
              <a:buNone/>
            </a:pPr>
            <a:r>
              <a:rPr lang="en-IN" sz="7200">
                <a:solidFill>
                  <a:srgbClr val="273239"/>
                </a:solidFill>
              </a:rPr>
              <a:t>the hierarchical approach.</a:t>
            </a:r>
            <a:endParaRPr sz="7200">
              <a:solidFill>
                <a:srgbClr val="273239"/>
              </a:solidFill>
            </a:endParaRPr>
          </a:p>
          <a:p>
            <a:pPr indent="0" lvl="0" marL="0" rtl="0" algn="l">
              <a:lnSpc>
                <a:spcPct val="155000"/>
              </a:lnSpc>
              <a:spcBef>
                <a:spcPts val="0"/>
              </a:spcBef>
              <a:spcAft>
                <a:spcPts val="0"/>
              </a:spcAft>
              <a:buSzPts val="275"/>
              <a:buNone/>
            </a:pPr>
            <a:r>
              <a:rPr lang="en-IN" sz="7200">
                <a:solidFill>
                  <a:srgbClr val="273239"/>
                </a:solidFill>
              </a:rPr>
              <a:t>• Ideal for managing intricate, many-to-many connections.</a:t>
            </a:r>
            <a:endParaRPr sz="7200">
              <a:solidFill>
                <a:srgbClr val="273239"/>
              </a:solidFill>
            </a:endParaRPr>
          </a:p>
          <a:p>
            <a:pPr indent="0" lvl="0" marL="0" rtl="0" algn="l">
              <a:lnSpc>
                <a:spcPct val="155000"/>
              </a:lnSpc>
              <a:spcBef>
                <a:spcPts val="0"/>
              </a:spcBef>
              <a:spcAft>
                <a:spcPts val="0"/>
              </a:spcAft>
              <a:buClr>
                <a:schemeClr val="dk1"/>
              </a:buClr>
              <a:buSzPts val="275"/>
              <a:buFont typeface="Arial"/>
              <a:buNone/>
            </a:pPr>
            <a:r>
              <a:t/>
            </a:r>
            <a:endParaRPr sz="7200">
              <a:solidFill>
                <a:srgbClr val="273239"/>
              </a:solidFill>
            </a:endParaRPr>
          </a:p>
          <a:p>
            <a:pPr indent="0" lvl="0" marL="0" rtl="0" algn="l">
              <a:lnSpc>
                <a:spcPct val="155000"/>
              </a:lnSpc>
              <a:spcBef>
                <a:spcPts val="0"/>
              </a:spcBef>
              <a:spcAft>
                <a:spcPts val="0"/>
              </a:spcAft>
              <a:buClr>
                <a:schemeClr val="dk1"/>
              </a:buClr>
              <a:buSzPts val="275"/>
              <a:buFont typeface="Arial"/>
              <a:buNone/>
            </a:pPr>
            <a:r>
              <a:rPr b="1" lang="en-IN" sz="7200">
                <a:solidFill>
                  <a:srgbClr val="273239"/>
                </a:solidFill>
              </a:rPr>
              <a:t>Disadvantages of the Network Data Model</a:t>
            </a:r>
            <a:endParaRPr b="1" sz="7200">
              <a:solidFill>
                <a:srgbClr val="273239"/>
              </a:solidFill>
            </a:endParaRPr>
          </a:p>
          <a:p>
            <a:pPr indent="0" lvl="0" marL="0" rtl="0" algn="l">
              <a:lnSpc>
                <a:spcPct val="155000"/>
              </a:lnSpc>
              <a:spcBef>
                <a:spcPts val="0"/>
              </a:spcBef>
              <a:spcAft>
                <a:spcPts val="0"/>
              </a:spcAft>
              <a:buClr>
                <a:schemeClr val="dk1"/>
              </a:buClr>
              <a:buSzPts val="275"/>
              <a:buFont typeface="Arial"/>
              <a:buNone/>
            </a:pPr>
            <a:r>
              <a:rPr lang="en-IN" sz="7200">
                <a:solidFill>
                  <a:srgbClr val="273239"/>
                </a:solidFill>
              </a:rPr>
              <a:t>• Increased complexity in database design and management.</a:t>
            </a:r>
            <a:endParaRPr sz="7200">
              <a:solidFill>
                <a:srgbClr val="273239"/>
              </a:solidFill>
            </a:endParaRPr>
          </a:p>
          <a:p>
            <a:pPr indent="0" lvl="0" marL="0" rtl="0" algn="l">
              <a:lnSpc>
                <a:spcPct val="155000"/>
              </a:lnSpc>
              <a:spcBef>
                <a:spcPts val="0"/>
              </a:spcBef>
              <a:spcAft>
                <a:spcPts val="0"/>
              </a:spcAft>
              <a:buClr>
                <a:schemeClr val="dk1"/>
              </a:buClr>
              <a:buSzPts val="275"/>
              <a:buFont typeface="Arial"/>
              <a:buNone/>
            </a:pPr>
            <a:r>
              <a:rPr lang="en-IN" sz="7200">
                <a:solidFill>
                  <a:srgbClr val="273239"/>
                </a:solidFill>
              </a:rPr>
              <a:t>• requires complex programming in order to manage and work</a:t>
            </a:r>
            <a:endParaRPr sz="7200">
              <a:solidFill>
                <a:srgbClr val="273239"/>
              </a:solidFill>
            </a:endParaRPr>
          </a:p>
          <a:p>
            <a:pPr indent="0" lvl="0" marL="0" rtl="0" algn="l">
              <a:lnSpc>
                <a:spcPct val="155000"/>
              </a:lnSpc>
              <a:spcBef>
                <a:spcPts val="0"/>
              </a:spcBef>
              <a:spcAft>
                <a:spcPts val="0"/>
              </a:spcAft>
              <a:buClr>
                <a:schemeClr val="dk1"/>
              </a:buClr>
              <a:buSzPts val="275"/>
              <a:buFont typeface="Arial"/>
              <a:buNone/>
            </a:pPr>
            <a:r>
              <a:rPr lang="en-IN" sz="7200">
                <a:solidFill>
                  <a:srgbClr val="273239"/>
                </a:solidFill>
              </a:rPr>
              <a:t>with data.</a:t>
            </a:r>
            <a:endParaRPr sz="7200">
              <a:solidFill>
                <a:srgbClr val="273239"/>
              </a:solidFill>
            </a:endParaRPr>
          </a:p>
          <a:p>
            <a:pPr indent="0" lvl="0" marL="0" rtl="0" algn="l">
              <a:lnSpc>
                <a:spcPct val="155000"/>
              </a:lnSpc>
              <a:spcBef>
                <a:spcPts val="0"/>
              </a:spcBef>
              <a:spcAft>
                <a:spcPts val="0"/>
              </a:spcAft>
              <a:buSzPct val="99280"/>
              <a:buNone/>
            </a:pPr>
            <a:r>
              <a:t/>
            </a:r>
            <a:endParaRPr b="1" sz="3817">
              <a:solidFill>
                <a:srgbClr val="273239"/>
              </a:solidFill>
            </a:endParaRPr>
          </a:p>
          <a:p>
            <a:pPr indent="0" lvl="0" marL="0" rtl="0" algn="l">
              <a:lnSpc>
                <a:spcPct val="165000"/>
              </a:lnSpc>
              <a:spcBef>
                <a:spcPts val="0"/>
              </a:spcBef>
              <a:spcAft>
                <a:spcPts val="0"/>
              </a:spcAft>
              <a:buSzPct val="47368"/>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47368"/>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ct val="344497"/>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ct val="280701"/>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ct val="244482"/>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ct val="280701"/>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33" name="Google Shape;433;g3f72c8a0c45_0_10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34" name="Google Shape;434;g3f72c8a0c45_0_10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35" name="Google Shape;435;g3f72c8a0c45_0_10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f960928c2b_0_154"/>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3333"/>
              <a:buNone/>
            </a:pPr>
            <a:r>
              <a:rPr b="1" lang="en-IN" sz="3300">
                <a:solidFill>
                  <a:srgbClr val="273239"/>
                </a:solidFill>
                <a:highlight>
                  <a:srgbClr val="FFFFFF"/>
                </a:highlight>
              </a:rPr>
              <a:t>Relational 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sp>
        <p:nvSpPr>
          <p:cNvPr id="441" name="Google Shape;441;g3f960928c2b_0_154"/>
          <p:cNvSpPr txBox="1"/>
          <p:nvPr>
            <p:ph idx="1" type="body"/>
          </p:nvPr>
        </p:nvSpPr>
        <p:spPr>
          <a:xfrm>
            <a:off x="196850" y="1346200"/>
            <a:ext cx="11633400" cy="5511900"/>
          </a:xfrm>
          <a:prstGeom prst="rect">
            <a:avLst/>
          </a:prstGeom>
          <a:noFill/>
          <a:ln>
            <a:noFill/>
          </a:ln>
        </p:spPr>
        <p:txBody>
          <a:bodyPr anchorCtr="0" anchor="t" bIns="45700" lIns="91425" spcFirstLastPara="1" rIns="91425" wrap="square" tIns="45700">
            <a:normAutofit fontScale="55000" lnSpcReduction="10000"/>
          </a:bodyPr>
          <a:lstStyle/>
          <a:p>
            <a:pPr indent="0" lvl="0" marL="0" rtl="0" algn="l">
              <a:lnSpc>
                <a:spcPct val="155000"/>
              </a:lnSpc>
              <a:spcBef>
                <a:spcPts val="0"/>
              </a:spcBef>
              <a:spcAft>
                <a:spcPts val="0"/>
              </a:spcAft>
              <a:buSzPct val="100699"/>
              <a:buNone/>
            </a:pPr>
            <a:r>
              <a:rPr b="1" lang="en-IN" sz="3250">
                <a:solidFill>
                  <a:srgbClr val="273239"/>
                </a:solidFill>
              </a:rPr>
              <a:t>Relational Model</a:t>
            </a:r>
            <a:r>
              <a:rPr lang="en-IN" sz="3250">
                <a:solidFill>
                  <a:srgbClr val="273239"/>
                </a:solidFill>
              </a:rPr>
              <a:t>: Relational Mode represent the links between tables by representing data as rows and columns in tables. It is frequently utilised in database design and is strongly related to relational database management systems (RDBMS).</a:t>
            </a:r>
            <a:r>
              <a:rPr lang="en-IN" sz="3250">
                <a:solidFill>
                  <a:schemeClr val="dk1"/>
                </a:solidFill>
              </a:rPr>
              <a:t> </a:t>
            </a:r>
            <a:endParaRPr b="1" sz="3250">
              <a:solidFill>
                <a:srgbClr val="1E3A5F"/>
              </a:solidFill>
            </a:endParaRPr>
          </a:p>
          <a:p>
            <a:pPr indent="0" lvl="0" marL="0" rtl="0" algn="l">
              <a:lnSpc>
                <a:spcPct val="165000"/>
              </a:lnSpc>
              <a:spcBef>
                <a:spcPts val="0"/>
              </a:spcBef>
              <a:spcAft>
                <a:spcPts val="0"/>
              </a:spcAft>
              <a:buSzPct val="40909"/>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40909"/>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ct val="297521"/>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ct val="242424"/>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ct val="211144"/>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ct val="242424"/>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42" name="Google Shape;442;g3f960928c2b_0_154"/>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43" name="Google Shape;443;g3f960928c2b_0_154"/>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44" name="Google Shape;444;g3f960928c2b_0_154"/>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45" name="Google Shape;445;g3f960928c2b_0_154"/>
          <p:cNvPicPr preferRelativeResize="0"/>
          <p:nvPr/>
        </p:nvPicPr>
        <p:blipFill rotWithShape="1">
          <a:blip r:embed="rId5">
            <a:alphaModFix/>
          </a:blip>
          <a:srcRect b="0" l="0" r="0" t="0"/>
          <a:stretch/>
        </p:blipFill>
        <p:spPr>
          <a:xfrm>
            <a:off x="196850" y="2733700"/>
            <a:ext cx="10330951" cy="4124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f72c8a0c45_0_11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3333"/>
              <a:buNone/>
            </a:pPr>
            <a:r>
              <a:rPr b="1" lang="en-IN" sz="3300">
                <a:solidFill>
                  <a:srgbClr val="273239"/>
                </a:solidFill>
                <a:highlight>
                  <a:srgbClr val="FFFFFF"/>
                </a:highlight>
              </a:rPr>
              <a:t>Relational Data Model</a:t>
            </a:r>
            <a:r>
              <a:rPr lang="en-IN" sz="3300">
                <a:solidFill>
                  <a:schemeClr val="dk1"/>
                </a:solidFill>
              </a:rPr>
              <a:t> </a:t>
            </a:r>
            <a:endParaRPr b="1" sz="33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pic>
        <p:nvPicPr>
          <p:cNvPr id="451" name="Google Shape;451;g3f72c8a0c45_0_11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52" name="Google Shape;452;g3f72c8a0c45_0_11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53" name="Google Shape;453;g3f72c8a0c45_0_11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454" name="Google Shape;454;g3f72c8a0c45_0_118"/>
          <p:cNvSpPr txBox="1"/>
          <p:nvPr/>
        </p:nvSpPr>
        <p:spPr>
          <a:xfrm>
            <a:off x="462450" y="1575775"/>
            <a:ext cx="101247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Bookman Old Style"/>
                <a:ea typeface="Bookman Old Style"/>
                <a:cs typeface="Bookman Old Style"/>
                <a:sym typeface="Bookman Old Style"/>
              </a:rPr>
              <a:t>Advantages of the Relational Data Model</a:t>
            </a:r>
            <a:endParaRPr b="1"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 High data independence and flexibility.</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 offers robust and user-friendly querying features.</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 removes duplication by use of normalization.</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Bookman Old Style"/>
                <a:ea typeface="Bookman Old Style"/>
                <a:cs typeface="Bookman Old Style"/>
                <a:sym typeface="Bookman Old Style"/>
              </a:rPr>
              <a:t>Disadvantages of the Relational Data Model</a:t>
            </a:r>
            <a:endParaRPr b="1"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 For certain kinds of straightforward data retrieval tasks, they</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may not perform as well as hierarchical models.</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 demands a deeper comprehension of SQL and normalization</a:t>
            </a:r>
            <a:endParaRPr b="0" i="0" sz="1800" u="none" cap="none" strike="noStrik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Bookman Old Style"/>
                <a:ea typeface="Bookman Old Style"/>
                <a:cs typeface="Bookman Old Style"/>
                <a:sym typeface="Bookman Old Style"/>
              </a:rPr>
              <a:t>principles.</a:t>
            </a:r>
            <a:endParaRPr b="0" i="0" sz="1800" u="none" cap="none" strike="noStrike">
              <a:solidFill>
                <a:schemeClr val="dk1"/>
              </a:solidFill>
              <a:latin typeface="Bookman Old Style"/>
              <a:ea typeface="Bookman Old Style"/>
              <a:cs typeface="Bookman Old Style"/>
              <a:sym typeface="Bookman Old Styl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fae0b7fedb_0_6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5484"/>
              <a:buNone/>
            </a:pPr>
            <a:r>
              <a:rPr b="1" lang="en-IN" sz="3100">
                <a:solidFill>
                  <a:schemeClr val="dk1"/>
                </a:solidFill>
              </a:rPr>
              <a:t>ER Data Model</a:t>
            </a:r>
            <a:r>
              <a:rPr lang="en-IN" sz="3100">
                <a:solidFill>
                  <a:schemeClr val="dk1"/>
                </a:solidFill>
              </a:rPr>
              <a:t> </a:t>
            </a:r>
            <a:endParaRPr b="1" sz="31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pic>
        <p:nvPicPr>
          <p:cNvPr id="460" name="Google Shape;460;g3fae0b7fedb_0_6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61" name="Google Shape;461;g3fae0b7fedb_0_6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62" name="Google Shape;462;g3fae0b7fedb_0_68"/>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463" name="Google Shape;463;g3fae0b7fedb_0_68"/>
          <p:cNvSpPr txBox="1"/>
          <p:nvPr/>
        </p:nvSpPr>
        <p:spPr>
          <a:xfrm>
            <a:off x="462450" y="1190550"/>
            <a:ext cx="10124700" cy="24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IN" sz="1800">
                <a:solidFill>
                  <a:schemeClr val="dk1"/>
                </a:solidFill>
                <a:latin typeface="Bookman Old Style"/>
                <a:ea typeface="Bookman Old Style"/>
                <a:cs typeface="Bookman Old Style"/>
                <a:sym typeface="Bookman Old Style"/>
              </a:rPr>
              <a:t>The Entity-Relationship Model (ER Model) is a conceptual model for designing a database. This model represents the logical structure of a database, including entities, their attributes, and relationships between them.</a:t>
            </a:r>
            <a:endParaRPr sz="1800">
              <a:solidFill>
                <a:schemeClr val="dk1"/>
              </a:solidFill>
              <a:latin typeface="Bookman Old Style"/>
              <a:ea typeface="Bookman Old Style"/>
              <a:cs typeface="Bookman Old Style"/>
              <a:sym typeface="Bookman Old Style"/>
            </a:endParaRPr>
          </a:p>
          <a:p>
            <a:pPr indent="-342900" lvl="0" marL="457200" rtl="0" algn="l">
              <a:lnSpc>
                <a:spcPct val="115000"/>
              </a:lnSpc>
              <a:spcBef>
                <a:spcPts val="800"/>
              </a:spcBef>
              <a:spcAft>
                <a:spcPts val="0"/>
              </a:spcAft>
              <a:buClr>
                <a:schemeClr val="dk1"/>
              </a:buClr>
              <a:buSzPts val="1800"/>
              <a:buChar char="●"/>
            </a:pPr>
            <a:r>
              <a:rPr b="1" lang="en-IN" sz="1800">
                <a:solidFill>
                  <a:schemeClr val="dk1"/>
                </a:solidFill>
                <a:latin typeface="Bookman Old Style"/>
                <a:ea typeface="Bookman Old Style"/>
                <a:cs typeface="Bookman Old Style"/>
                <a:sym typeface="Bookman Old Style"/>
              </a:rPr>
              <a:t>Entity: </a:t>
            </a:r>
            <a:r>
              <a:rPr lang="en-IN" sz="1800">
                <a:solidFill>
                  <a:schemeClr val="dk1"/>
                </a:solidFill>
                <a:latin typeface="Bookman Old Style"/>
                <a:ea typeface="Bookman Old Style"/>
                <a:cs typeface="Bookman Old Style"/>
                <a:sym typeface="Bookman Old Style"/>
              </a:rPr>
              <a:t>An object that is stored as data. E.g: </a:t>
            </a:r>
            <a:r>
              <a:rPr i="1" lang="en-IN" sz="1800">
                <a:solidFill>
                  <a:schemeClr val="dk1"/>
                </a:solidFill>
                <a:latin typeface="Bookman Old Style"/>
                <a:ea typeface="Bookman Old Style"/>
                <a:cs typeface="Bookman Old Style"/>
                <a:sym typeface="Bookman Old Style"/>
              </a:rPr>
              <a:t>Student</a:t>
            </a:r>
            <a:r>
              <a:rPr lang="en-IN" sz="1800">
                <a:solidFill>
                  <a:schemeClr val="dk1"/>
                </a:solidFill>
                <a:latin typeface="Bookman Old Style"/>
                <a:ea typeface="Bookman Old Style"/>
                <a:cs typeface="Bookman Old Style"/>
                <a:sym typeface="Bookman Old Style"/>
              </a:rPr>
              <a:t>, </a:t>
            </a:r>
            <a:r>
              <a:rPr i="1" lang="en-IN" sz="1800">
                <a:solidFill>
                  <a:schemeClr val="dk1"/>
                </a:solidFill>
                <a:latin typeface="Bookman Old Style"/>
                <a:ea typeface="Bookman Old Style"/>
                <a:cs typeface="Bookman Old Style"/>
                <a:sym typeface="Bookman Old Style"/>
              </a:rPr>
              <a:t>Course,</a:t>
            </a:r>
            <a:r>
              <a:rPr lang="en-IN" sz="1800">
                <a:solidFill>
                  <a:schemeClr val="dk1"/>
                </a:solidFill>
                <a:latin typeface="Bookman Old Style"/>
                <a:ea typeface="Bookman Old Style"/>
                <a:cs typeface="Bookman Old Style"/>
                <a:sym typeface="Bookman Old Style"/>
              </a:rPr>
              <a:t> or </a:t>
            </a:r>
            <a:r>
              <a:rPr i="1" lang="en-IN" sz="1800">
                <a:solidFill>
                  <a:schemeClr val="dk1"/>
                </a:solidFill>
                <a:latin typeface="Bookman Old Style"/>
                <a:ea typeface="Bookman Old Style"/>
                <a:cs typeface="Bookman Old Style"/>
                <a:sym typeface="Bookman Old Style"/>
              </a:rPr>
              <a:t>Company</a:t>
            </a:r>
            <a:r>
              <a:rPr lang="en-IN" sz="1800">
                <a:solidFill>
                  <a:schemeClr val="dk1"/>
                </a:solidFill>
                <a:latin typeface="Bookman Old Style"/>
                <a:ea typeface="Bookman Old Style"/>
                <a:cs typeface="Bookman Old Style"/>
                <a:sym typeface="Bookman Old Style"/>
              </a:rPr>
              <a:t>.</a:t>
            </a:r>
            <a:endParaRPr sz="1800">
              <a:solidFill>
                <a:schemeClr val="dk1"/>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latin typeface="Bookman Old Style"/>
                <a:ea typeface="Bookman Old Style"/>
                <a:cs typeface="Bookman Old Style"/>
                <a:sym typeface="Bookman Old Style"/>
              </a:rPr>
              <a:t>Attribute: </a:t>
            </a:r>
            <a:r>
              <a:rPr lang="en-IN" sz="1800">
                <a:solidFill>
                  <a:schemeClr val="dk1"/>
                </a:solidFill>
                <a:latin typeface="Bookman Old Style"/>
                <a:ea typeface="Bookman Old Style"/>
                <a:cs typeface="Bookman Old Style"/>
                <a:sym typeface="Bookman Old Style"/>
              </a:rPr>
              <a:t>Properties that describe an entity. E.g: </a:t>
            </a:r>
            <a:r>
              <a:rPr i="1" lang="en-IN" sz="1800">
                <a:solidFill>
                  <a:schemeClr val="dk1"/>
                </a:solidFill>
                <a:latin typeface="Bookman Old Style"/>
                <a:ea typeface="Bookman Old Style"/>
                <a:cs typeface="Bookman Old Style"/>
                <a:sym typeface="Bookman Old Style"/>
              </a:rPr>
              <a:t>StudentID, CourseName, or EmployeeEmail.</a:t>
            </a:r>
            <a:endParaRPr i="1" sz="1800">
              <a:solidFill>
                <a:schemeClr val="dk1"/>
              </a:solidFill>
              <a:latin typeface="Bookman Old Style"/>
              <a:ea typeface="Bookman Old Style"/>
              <a:cs typeface="Bookman Old Style"/>
              <a:sym typeface="Bookman Old Style"/>
            </a:endParaRPr>
          </a:p>
          <a:p>
            <a:pPr indent="-342900" lvl="0" marL="457200" marR="0" rtl="0" algn="l">
              <a:lnSpc>
                <a:spcPct val="100000"/>
              </a:lnSpc>
              <a:spcBef>
                <a:spcPts val="0"/>
              </a:spcBef>
              <a:spcAft>
                <a:spcPts val="0"/>
              </a:spcAft>
              <a:buClr>
                <a:schemeClr val="dk1"/>
              </a:buClr>
              <a:buSzPts val="1800"/>
              <a:buFont typeface="Bookman Old Style"/>
              <a:buChar char="●"/>
            </a:pPr>
            <a:r>
              <a:rPr b="1" lang="en-IN" sz="1800">
                <a:solidFill>
                  <a:schemeClr val="dk1"/>
                </a:solidFill>
                <a:latin typeface="Bookman Old Style"/>
                <a:ea typeface="Bookman Old Style"/>
                <a:cs typeface="Bookman Old Style"/>
                <a:sym typeface="Bookman Old Style"/>
              </a:rPr>
              <a:t>Relationship: </a:t>
            </a:r>
            <a:r>
              <a:rPr lang="en-IN" sz="1800">
                <a:solidFill>
                  <a:schemeClr val="dk1"/>
                </a:solidFill>
                <a:latin typeface="Bookman Old Style"/>
                <a:ea typeface="Bookman Old Style"/>
                <a:cs typeface="Bookman Old Style"/>
                <a:sym typeface="Bookman Old Style"/>
              </a:rPr>
              <a:t>A connection between entities. E.g: </a:t>
            </a:r>
            <a:r>
              <a:rPr i="1" lang="en-IN" sz="1800">
                <a:solidFill>
                  <a:schemeClr val="dk1"/>
                </a:solidFill>
                <a:latin typeface="Bookman Old Style"/>
                <a:ea typeface="Bookman Old Style"/>
                <a:cs typeface="Bookman Old Style"/>
                <a:sym typeface="Bookman Old Style"/>
              </a:rPr>
              <a:t>Student</a:t>
            </a:r>
            <a:r>
              <a:rPr lang="en-IN" sz="1800">
                <a:solidFill>
                  <a:schemeClr val="dk1"/>
                </a:solidFill>
                <a:latin typeface="Bookman Old Style"/>
                <a:ea typeface="Bookman Old Style"/>
                <a:cs typeface="Bookman Old Style"/>
                <a:sym typeface="Bookman Old Style"/>
              </a:rPr>
              <a:t> enrolls in a </a:t>
            </a:r>
            <a:r>
              <a:rPr i="1" lang="en-IN" sz="1800">
                <a:solidFill>
                  <a:schemeClr val="dk1"/>
                </a:solidFill>
                <a:latin typeface="Bookman Old Style"/>
                <a:ea typeface="Bookman Old Style"/>
                <a:cs typeface="Bookman Old Style"/>
                <a:sym typeface="Bookman Old Style"/>
              </a:rPr>
              <a:t>Course</a:t>
            </a:r>
            <a:r>
              <a:rPr lang="en-IN" sz="1800">
                <a:solidFill>
                  <a:schemeClr val="dk1"/>
                </a:solidFill>
                <a:latin typeface="Bookman Old Style"/>
                <a:ea typeface="Bookman Old Style"/>
                <a:cs typeface="Bookman Old Style"/>
                <a:sym typeface="Bookman Old Style"/>
              </a:rPr>
              <a:t> </a:t>
            </a:r>
            <a:endParaRPr b="1" sz="1800">
              <a:solidFill>
                <a:schemeClr val="dk1"/>
              </a:solidFill>
              <a:latin typeface="Bookman Old Style"/>
              <a:ea typeface="Bookman Old Style"/>
              <a:cs typeface="Bookman Old Style"/>
              <a:sym typeface="Bookman Old Style"/>
            </a:endParaRPr>
          </a:p>
        </p:txBody>
      </p:sp>
      <p:pic>
        <p:nvPicPr>
          <p:cNvPr id="464" name="Google Shape;464;g3fae0b7fedb_0_68"/>
          <p:cNvPicPr preferRelativeResize="0"/>
          <p:nvPr/>
        </p:nvPicPr>
        <p:blipFill>
          <a:blip r:embed="rId5">
            <a:alphaModFix/>
          </a:blip>
          <a:stretch>
            <a:fillRect/>
          </a:stretch>
        </p:blipFill>
        <p:spPr>
          <a:xfrm>
            <a:off x="1057625" y="3666750"/>
            <a:ext cx="8594751" cy="3191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fae0b7fedb_0_79"/>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125000"/>
              </a:lnSpc>
              <a:spcBef>
                <a:spcPts val="0"/>
              </a:spcBef>
              <a:spcAft>
                <a:spcPts val="0"/>
              </a:spcAft>
              <a:buSzPct val="35484"/>
              <a:buNone/>
            </a:pPr>
            <a:r>
              <a:rPr b="1" lang="en-IN" sz="3100">
                <a:solidFill>
                  <a:srgbClr val="273239"/>
                </a:solidFill>
                <a:highlight>
                  <a:srgbClr val="FFFFFF"/>
                </a:highlight>
                <a:latin typeface="Arial"/>
                <a:ea typeface="Arial"/>
                <a:cs typeface="Arial"/>
                <a:sym typeface="Arial"/>
              </a:rPr>
              <a:t> </a:t>
            </a:r>
            <a:endParaRPr sz="1700">
              <a:solidFill>
                <a:srgbClr val="1E293B"/>
              </a:solidFill>
              <a:highlight>
                <a:srgbClr val="FFFFFF"/>
              </a:highlight>
              <a:latin typeface="Verdana"/>
              <a:ea typeface="Verdana"/>
              <a:cs typeface="Verdana"/>
              <a:sym typeface="Verdana"/>
            </a:endParaRPr>
          </a:p>
          <a:p>
            <a:pPr indent="0" lvl="0" marL="0" marR="66675" rtl="0" algn="just">
              <a:lnSpc>
                <a:spcPct val="100000"/>
              </a:lnSpc>
              <a:spcBef>
                <a:spcPts val="0"/>
              </a:spcBef>
              <a:spcAft>
                <a:spcPts val="0"/>
              </a:spcAft>
              <a:buSzPct val="35484"/>
              <a:buNone/>
            </a:pPr>
            <a:r>
              <a:rPr b="1" lang="en-IN" sz="3100">
                <a:solidFill>
                  <a:schemeClr val="dk1"/>
                </a:solidFill>
              </a:rPr>
              <a:t>ER Data Model</a:t>
            </a:r>
            <a:r>
              <a:rPr lang="en-IN" sz="3100">
                <a:solidFill>
                  <a:schemeClr val="dk1"/>
                </a:solidFill>
              </a:rPr>
              <a:t> </a:t>
            </a:r>
            <a:endParaRPr b="1" sz="3100">
              <a:solidFill>
                <a:srgbClr val="273239"/>
              </a:solidFill>
              <a:highlight>
                <a:srgbClr val="FFFFFF"/>
              </a:highlight>
            </a:endParaRPr>
          </a:p>
          <a:p>
            <a:pPr indent="0" lvl="0" marL="0" rtl="0" algn="ctr">
              <a:lnSpc>
                <a:spcPct val="90000"/>
              </a:lnSpc>
              <a:spcBef>
                <a:spcPts val="0"/>
              </a:spcBef>
              <a:spcAft>
                <a:spcPts val="0"/>
              </a:spcAft>
              <a:buSzPct val="100000"/>
              <a:buNone/>
            </a:pPr>
            <a:r>
              <a:t/>
            </a:r>
            <a:endParaRPr b="1">
              <a:latin typeface="Cambria"/>
              <a:ea typeface="Cambria"/>
              <a:cs typeface="Cambria"/>
              <a:sym typeface="Cambria"/>
            </a:endParaRPr>
          </a:p>
        </p:txBody>
      </p:sp>
      <p:pic>
        <p:nvPicPr>
          <p:cNvPr id="470" name="Google Shape;470;g3fae0b7fedb_0_79"/>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71" name="Google Shape;471;g3fae0b7fedb_0_79"/>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72" name="Google Shape;472;g3fae0b7fedb_0_79"/>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473" name="Google Shape;473;g3fae0b7fedb_0_79"/>
          <p:cNvSpPr txBox="1"/>
          <p:nvPr/>
        </p:nvSpPr>
        <p:spPr>
          <a:xfrm>
            <a:off x="462450" y="1190550"/>
            <a:ext cx="10124700" cy="521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1800">
                <a:solidFill>
                  <a:schemeClr val="dk1"/>
                </a:solidFill>
                <a:latin typeface="Bookman Old Style"/>
                <a:ea typeface="Bookman Old Style"/>
                <a:cs typeface="Bookman Old Style"/>
                <a:sym typeface="Bookman Old Style"/>
              </a:rPr>
              <a:t>Uses of ER Diagrams in DBMS</a:t>
            </a:r>
            <a:endParaRPr b="1" sz="1800">
              <a:solidFill>
                <a:schemeClr val="dk1"/>
              </a:solidFill>
              <a:latin typeface="Bookman Old Style"/>
              <a:ea typeface="Bookman Old Style"/>
              <a:cs typeface="Bookman Old Style"/>
              <a:sym typeface="Bookman Old Style"/>
            </a:endParaRPr>
          </a:p>
          <a:p>
            <a:pPr indent="-342900" lvl="0" marL="457200" rtl="0" algn="l">
              <a:lnSpc>
                <a:spcPct val="115000"/>
              </a:lnSpc>
              <a:spcBef>
                <a:spcPts val="800"/>
              </a:spcBef>
              <a:spcAft>
                <a:spcPts val="0"/>
              </a:spcAft>
              <a:buClr>
                <a:schemeClr val="dk1"/>
              </a:buClr>
              <a:buSzPts val="1800"/>
              <a:buFont typeface="Bookman Old Style"/>
              <a:buChar char="●"/>
            </a:pPr>
            <a:r>
              <a:rPr lang="en-IN" sz="1800">
                <a:solidFill>
                  <a:schemeClr val="dk1"/>
                </a:solidFill>
                <a:latin typeface="Bookman Old Style"/>
                <a:ea typeface="Bookman Old Style"/>
                <a:cs typeface="Bookman Old Style"/>
                <a:sym typeface="Bookman Old Style"/>
              </a:rPr>
              <a:t>ER diagrams represent the E-R model in a database, making them easy to convert into relations (tables).</a:t>
            </a:r>
            <a:endParaRPr sz="1800">
              <a:solidFill>
                <a:schemeClr val="dk1"/>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chemeClr val="dk1"/>
              </a:buClr>
              <a:buSzPts val="1800"/>
              <a:buFont typeface="Bookman Old Style"/>
              <a:buChar char="●"/>
            </a:pPr>
            <a:r>
              <a:rPr lang="en-IN" sz="1800">
                <a:solidFill>
                  <a:schemeClr val="dk1"/>
                </a:solidFill>
                <a:latin typeface="Bookman Old Style"/>
                <a:ea typeface="Bookman Old Style"/>
                <a:cs typeface="Bookman Old Style"/>
                <a:sym typeface="Bookman Old Style"/>
              </a:rPr>
              <a:t>These diagrams serve the purpose of real-world modeling of objects which makes them intently useful.</a:t>
            </a:r>
            <a:endParaRPr sz="1800">
              <a:solidFill>
                <a:schemeClr val="dk1"/>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chemeClr val="dk1"/>
              </a:buClr>
              <a:buSzPts val="1800"/>
              <a:buFont typeface="Bookman Old Style"/>
              <a:buChar char="●"/>
            </a:pPr>
            <a:r>
              <a:rPr lang="en-IN" sz="1800">
                <a:solidFill>
                  <a:schemeClr val="dk1"/>
                </a:solidFill>
                <a:latin typeface="Bookman Old Style"/>
                <a:ea typeface="Bookman Old Style"/>
                <a:cs typeface="Bookman Old Style"/>
                <a:sym typeface="Bookman Old Style"/>
              </a:rPr>
              <a:t>Unlike technical schemas, ER diagrams require no technical knowledge of the underlying DBMS used.</a:t>
            </a:r>
            <a:endParaRPr sz="1800">
              <a:solidFill>
                <a:schemeClr val="dk1"/>
              </a:solidFill>
              <a:latin typeface="Bookman Old Style"/>
              <a:ea typeface="Bookman Old Style"/>
              <a:cs typeface="Bookman Old Style"/>
              <a:sym typeface="Bookman Old Style"/>
            </a:endParaRPr>
          </a:p>
          <a:p>
            <a:pPr indent="-342900" lvl="0" marL="457200" marR="0" rtl="0" algn="l">
              <a:lnSpc>
                <a:spcPct val="100000"/>
              </a:lnSpc>
              <a:spcBef>
                <a:spcPts val="0"/>
              </a:spcBef>
              <a:spcAft>
                <a:spcPts val="0"/>
              </a:spcAft>
              <a:buClr>
                <a:schemeClr val="dk1"/>
              </a:buClr>
              <a:buSzPts val="1800"/>
              <a:buFont typeface="Bookman Old Style"/>
              <a:buChar char="●"/>
            </a:pPr>
            <a:r>
              <a:rPr lang="en-IN" sz="1800">
                <a:solidFill>
                  <a:schemeClr val="dk1"/>
                </a:solidFill>
                <a:latin typeface="Bookman Old Style"/>
                <a:ea typeface="Bookman Old Style"/>
                <a:cs typeface="Bookman Old Style"/>
                <a:sym typeface="Bookman Old Style"/>
              </a:rPr>
              <a:t>They visually model data and its relationships, making complex systems easier to understand. </a:t>
            </a:r>
            <a:endParaRPr sz="1800">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t/>
            </a:r>
            <a:endParaRPr sz="1800">
              <a:solidFill>
                <a:schemeClr val="dk1"/>
              </a:solidFill>
              <a:latin typeface="Bookman Old Style"/>
              <a:ea typeface="Bookman Old Style"/>
              <a:cs typeface="Bookman Old Style"/>
              <a:sym typeface="Bookman Old Style"/>
            </a:endParaRPr>
          </a:p>
          <a:p>
            <a:pPr indent="0" lvl="0" marL="0" rtl="0" algn="l">
              <a:lnSpc>
                <a:spcPct val="115000"/>
              </a:lnSpc>
              <a:spcBef>
                <a:spcPts val="0"/>
              </a:spcBef>
              <a:spcAft>
                <a:spcPts val="0"/>
              </a:spcAft>
              <a:buClr>
                <a:schemeClr val="dk1"/>
              </a:buClr>
              <a:buSzPts val="1100"/>
              <a:buFont typeface="Arial"/>
              <a:buNone/>
            </a:pPr>
            <a:r>
              <a:rPr b="1" lang="en-IN" sz="1800">
                <a:solidFill>
                  <a:srgbClr val="0D0D0D"/>
                </a:solidFill>
                <a:latin typeface="Bookman Old Style"/>
                <a:ea typeface="Bookman Old Style"/>
                <a:cs typeface="Bookman Old Style"/>
                <a:sym typeface="Bookman Old Style"/>
              </a:rPr>
              <a:t>Advantages of E–R Model</a:t>
            </a:r>
            <a:endParaRPr b="1" sz="1800">
              <a:solidFill>
                <a:srgbClr val="0D0D0D"/>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rgbClr val="0D0D0D"/>
              </a:buClr>
              <a:buSzPts val="1800"/>
              <a:buFont typeface="Bookman Old Style"/>
              <a:buChar char="●"/>
            </a:pPr>
            <a:r>
              <a:rPr lang="en-IN" sz="1800">
                <a:solidFill>
                  <a:srgbClr val="0D0D0D"/>
                </a:solidFill>
                <a:latin typeface="Bookman Old Style"/>
                <a:ea typeface="Bookman Old Style"/>
                <a:cs typeface="Bookman Old Style"/>
                <a:sym typeface="Bookman Old Style"/>
              </a:rPr>
              <a:t>Easy to understand and visualize.</a:t>
            </a:r>
            <a:endParaRPr sz="1800">
              <a:solidFill>
                <a:srgbClr val="0D0D0D"/>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rgbClr val="0D0D0D"/>
              </a:buClr>
              <a:buSzPts val="1800"/>
              <a:buFont typeface="Bookman Old Style"/>
              <a:buChar char="●"/>
            </a:pPr>
            <a:r>
              <a:rPr lang="en-IN" sz="1800">
                <a:solidFill>
                  <a:srgbClr val="0D0D0D"/>
                </a:solidFill>
                <a:latin typeface="Bookman Old Style"/>
                <a:ea typeface="Bookman Old Style"/>
                <a:cs typeface="Bookman Old Style"/>
                <a:sym typeface="Bookman Old Style"/>
              </a:rPr>
              <a:t>Helps in designing databases efficiently.</a:t>
            </a:r>
            <a:endParaRPr sz="1800">
              <a:solidFill>
                <a:srgbClr val="0D0D0D"/>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rgbClr val="0D0D0D"/>
              </a:buClr>
              <a:buSzPts val="1800"/>
              <a:buFont typeface="Bookman Old Style"/>
              <a:buChar char="●"/>
            </a:pPr>
            <a:r>
              <a:rPr lang="en-IN" sz="1800">
                <a:solidFill>
                  <a:srgbClr val="0D0D0D"/>
                </a:solidFill>
                <a:latin typeface="Bookman Old Style"/>
                <a:ea typeface="Bookman Old Style"/>
                <a:cs typeface="Bookman Old Style"/>
                <a:sym typeface="Bookman Old Style"/>
              </a:rPr>
              <a:t>Reduces data redundancy.</a:t>
            </a:r>
            <a:endParaRPr sz="1800">
              <a:solidFill>
                <a:srgbClr val="0D0D0D"/>
              </a:solidFill>
              <a:latin typeface="Bookman Old Style"/>
              <a:ea typeface="Bookman Old Style"/>
              <a:cs typeface="Bookman Old Style"/>
              <a:sym typeface="Bookman Old Style"/>
            </a:endParaRPr>
          </a:p>
          <a:p>
            <a:pPr indent="-342900" lvl="0" marL="457200" rtl="0" algn="l">
              <a:lnSpc>
                <a:spcPct val="115000"/>
              </a:lnSpc>
              <a:spcBef>
                <a:spcPts val="0"/>
              </a:spcBef>
              <a:spcAft>
                <a:spcPts val="0"/>
              </a:spcAft>
              <a:buClr>
                <a:srgbClr val="0D0D0D"/>
              </a:buClr>
              <a:buSzPts val="1800"/>
              <a:buFont typeface="Bookman Old Style"/>
              <a:buChar char="●"/>
            </a:pPr>
            <a:r>
              <a:rPr lang="en-IN" sz="1800">
                <a:solidFill>
                  <a:srgbClr val="0D0D0D"/>
                </a:solidFill>
                <a:latin typeface="Bookman Old Style"/>
                <a:ea typeface="Bookman Old Style"/>
                <a:cs typeface="Bookman Old Style"/>
                <a:sym typeface="Bookman Old Style"/>
              </a:rPr>
              <a:t>Provides a clear blueprint before implementation.</a:t>
            </a:r>
            <a:endParaRPr sz="1800">
              <a:solidFill>
                <a:srgbClr val="0D0D0D"/>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None/>
            </a:pPr>
            <a:r>
              <a:t/>
            </a:r>
            <a:endParaRPr sz="180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f960928c2b_0_168"/>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Autofit/>
          </a:bodyPr>
          <a:lstStyle/>
          <a:p>
            <a:pPr indent="0" lvl="0" marL="0" marR="66675" rtl="0" algn="just">
              <a:lnSpc>
                <a:spcPct val="100000"/>
              </a:lnSpc>
              <a:spcBef>
                <a:spcPts val="0"/>
              </a:spcBef>
              <a:spcAft>
                <a:spcPts val="0"/>
              </a:spcAft>
              <a:buSzPts val="1100"/>
              <a:buNone/>
            </a:pPr>
            <a:r>
              <a:rPr b="1" lang="en-IN">
                <a:solidFill>
                  <a:schemeClr val="dk1"/>
                </a:solidFill>
              </a:rPr>
              <a:t>Comparison of Data Models</a:t>
            </a:r>
            <a:r>
              <a:rPr lang="en-IN">
                <a:solidFill>
                  <a:schemeClr val="dk1"/>
                </a:solidFill>
              </a:rPr>
              <a:t> </a:t>
            </a:r>
            <a:endParaRPr b="1">
              <a:solidFill>
                <a:srgbClr val="273239"/>
              </a:solidFill>
              <a:highlight>
                <a:srgbClr val="FFFFFF"/>
              </a:highlight>
            </a:endParaRPr>
          </a:p>
          <a:p>
            <a:pPr indent="0" lvl="0" marL="0" rtl="0" algn="ctr">
              <a:lnSpc>
                <a:spcPct val="90000"/>
              </a:lnSpc>
              <a:spcBef>
                <a:spcPts val="0"/>
              </a:spcBef>
              <a:spcAft>
                <a:spcPts val="0"/>
              </a:spcAft>
              <a:buSzPts val="2800"/>
              <a:buNone/>
            </a:pPr>
            <a:r>
              <a:t/>
            </a:r>
            <a:endParaRPr b="1"/>
          </a:p>
        </p:txBody>
      </p:sp>
      <p:sp>
        <p:nvSpPr>
          <p:cNvPr id="479" name="Google Shape;479;g3f960928c2b_0_168"/>
          <p:cNvSpPr txBox="1"/>
          <p:nvPr>
            <p:ph idx="1" type="body"/>
          </p:nvPr>
        </p:nvSpPr>
        <p:spPr>
          <a:xfrm>
            <a:off x="196850" y="1346200"/>
            <a:ext cx="11205900" cy="55119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65000"/>
              </a:lnSpc>
              <a:spcBef>
                <a:spcPts val="0"/>
              </a:spcBef>
              <a:spcAft>
                <a:spcPts val="0"/>
              </a:spcAft>
              <a:buSzPct val="26471"/>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26471"/>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ct val="192513"/>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ct val="156863"/>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ct val="136622"/>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ct val="156863"/>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80" name="Google Shape;480;g3f960928c2b_0_168"/>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81" name="Google Shape;481;g3f960928c2b_0_168"/>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82" name="Google Shape;482;g3f960928c2b_0_168"/>
          <p:cNvSpPr/>
          <p:nvPr>
            <p:ph idx="12" type="sldNum"/>
          </p:nvPr>
        </p:nvSpPr>
        <p:spPr>
          <a:xfrm>
            <a:off x="10758922" y="6217920"/>
            <a:ext cx="365700" cy="365700"/>
          </a:xfrm>
          <a:prstGeom prst="ellipse">
            <a:avLst/>
          </a:prstGeom>
          <a:solidFill>
            <a:srgbClr val="1D1D1D">
              <a:alpha val="69412"/>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483" name="Google Shape;483;g3f960928c2b_0_168"/>
          <p:cNvGraphicFramePr/>
          <p:nvPr/>
        </p:nvGraphicFramePr>
        <p:xfrm>
          <a:off x="431000" y="1693725"/>
          <a:ext cx="3000000" cy="3000000"/>
        </p:xfrm>
        <a:graphic>
          <a:graphicData uri="http://schemas.openxmlformats.org/drawingml/2006/table">
            <a:tbl>
              <a:tblPr>
                <a:noFill/>
                <a:tableStyleId>{451EE167-50CC-4844-95FF-6AC46D3FCCAD}</a:tableStyleId>
              </a:tblPr>
              <a:tblGrid>
                <a:gridCol w="2057400"/>
                <a:gridCol w="2057400"/>
                <a:gridCol w="2057400"/>
                <a:gridCol w="2057400"/>
                <a:gridCol w="2057400"/>
              </a:tblGrid>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Basis</a:t>
                      </a:r>
                      <a:endParaRPr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Hierarchical Model</a:t>
                      </a:r>
                      <a:endParaRPr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Network Model</a:t>
                      </a:r>
                      <a:endParaRPr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Relational Model</a:t>
                      </a:r>
                      <a:endParaRPr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E-R Model</a:t>
                      </a:r>
                      <a:endParaRPr sz="1800">
                        <a:solidFill>
                          <a:srgbClr val="0D0D0D"/>
                        </a:solidFill>
                        <a:latin typeface="Bookman Old Style"/>
                        <a:ea typeface="Bookman Old Style"/>
                        <a:cs typeface="Bookman Old Style"/>
                        <a:sym typeface="Bookman Old Style"/>
                      </a:endParaRPr>
                    </a:p>
                  </a:txBody>
                  <a:tcPr marT="91425" marB="91425" marR="91425" marL="91425"/>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Structure</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Tree</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Network/Graph</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Tables</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Diagram</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Data</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Records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Records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Rows and columns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Entities and attributes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Relationship</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Parent–Child</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Linked records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Tables linked by keys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Entities connected by relationships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Relationship Type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Mainly 1:M</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1:1, 1:M, M:N</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1:1, 1:M, M:N</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1:1, 1:M, M:N</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Flexibility</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Low</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Medium</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High</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High</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fae0b7fedb_0_97"/>
          <p:cNvSpPr txBox="1"/>
          <p:nvPr>
            <p:ph type="title"/>
          </p:nvPr>
        </p:nvSpPr>
        <p:spPr>
          <a:xfrm>
            <a:off x="0" y="10805"/>
            <a:ext cx="7524000" cy="964800"/>
          </a:xfrm>
          <a:prstGeom prst="rect">
            <a:avLst/>
          </a:prstGeom>
          <a:solidFill>
            <a:srgbClr val="FFFFFF"/>
          </a:solidFill>
          <a:ln cap="sq" cmpd="sng" w="31750">
            <a:solidFill>
              <a:srgbClr val="404040"/>
            </a:solidFill>
            <a:prstDash val="solid"/>
            <a:miter lim="0"/>
            <a:headEnd len="sm" w="sm" type="none"/>
            <a:tailEnd len="sm" w="sm" type="none"/>
          </a:ln>
        </p:spPr>
        <p:txBody>
          <a:bodyPr anchorCtr="0" anchor="ctr" bIns="182875" lIns="182875" spcFirstLastPara="1" rIns="182875" wrap="square" tIns="182875">
            <a:noAutofit/>
          </a:bodyPr>
          <a:lstStyle/>
          <a:p>
            <a:pPr indent="0" lvl="0" marL="0" marR="66675" rtl="0" algn="just">
              <a:lnSpc>
                <a:spcPct val="100000"/>
              </a:lnSpc>
              <a:spcBef>
                <a:spcPts val="0"/>
              </a:spcBef>
              <a:spcAft>
                <a:spcPts val="0"/>
              </a:spcAft>
              <a:buSzPts val="1100"/>
              <a:buNone/>
            </a:pPr>
            <a:r>
              <a:rPr b="1" lang="en-IN">
                <a:solidFill>
                  <a:schemeClr val="dk1"/>
                </a:solidFill>
              </a:rPr>
              <a:t>Comparison of Data Models</a:t>
            </a:r>
            <a:r>
              <a:rPr lang="en-IN">
                <a:solidFill>
                  <a:schemeClr val="dk1"/>
                </a:solidFill>
              </a:rPr>
              <a:t> </a:t>
            </a:r>
            <a:endParaRPr b="1">
              <a:solidFill>
                <a:srgbClr val="273239"/>
              </a:solidFill>
              <a:highlight>
                <a:srgbClr val="FFFFFF"/>
              </a:highlight>
            </a:endParaRPr>
          </a:p>
          <a:p>
            <a:pPr indent="0" lvl="0" marL="0" rtl="0" algn="ctr">
              <a:lnSpc>
                <a:spcPct val="90000"/>
              </a:lnSpc>
              <a:spcBef>
                <a:spcPts val="0"/>
              </a:spcBef>
              <a:spcAft>
                <a:spcPts val="0"/>
              </a:spcAft>
              <a:buSzPts val="2800"/>
              <a:buNone/>
            </a:pPr>
            <a:r>
              <a:t/>
            </a:r>
            <a:endParaRPr b="1"/>
          </a:p>
        </p:txBody>
      </p:sp>
      <p:sp>
        <p:nvSpPr>
          <p:cNvPr id="489" name="Google Shape;489;g3fae0b7fedb_0_97"/>
          <p:cNvSpPr txBox="1"/>
          <p:nvPr>
            <p:ph idx="1" type="body"/>
          </p:nvPr>
        </p:nvSpPr>
        <p:spPr>
          <a:xfrm>
            <a:off x="196850" y="1346200"/>
            <a:ext cx="11205900" cy="55119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65000"/>
              </a:lnSpc>
              <a:spcBef>
                <a:spcPts val="0"/>
              </a:spcBef>
              <a:spcAft>
                <a:spcPts val="0"/>
              </a:spcAft>
              <a:buSzPct val="26471"/>
              <a:buNone/>
            </a:pPr>
            <a:r>
              <a:t/>
            </a:r>
            <a:endParaRPr sz="8000">
              <a:solidFill>
                <a:srgbClr val="022249"/>
              </a:solidFill>
              <a:latin typeface="Arial"/>
              <a:ea typeface="Arial"/>
              <a:cs typeface="Arial"/>
              <a:sym typeface="Arial"/>
            </a:endParaRPr>
          </a:p>
          <a:p>
            <a:pPr indent="0" lvl="0" marL="0" rtl="0" algn="l">
              <a:lnSpc>
                <a:spcPct val="165000"/>
              </a:lnSpc>
              <a:spcBef>
                <a:spcPts val="0"/>
              </a:spcBef>
              <a:spcAft>
                <a:spcPts val="0"/>
              </a:spcAft>
              <a:buSzPct val="26471"/>
              <a:buNone/>
            </a:pPr>
            <a:r>
              <a:t/>
            </a:r>
            <a:endParaRPr sz="8000">
              <a:solidFill>
                <a:srgbClr val="6B7280"/>
              </a:solidFill>
              <a:latin typeface="Arial"/>
              <a:ea typeface="Arial"/>
              <a:cs typeface="Arial"/>
              <a:sym typeface="Arial"/>
            </a:endParaRPr>
          </a:p>
          <a:p>
            <a:pPr indent="0" lvl="0" marL="0" rtl="0" algn="l">
              <a:lnSpc>
                <a:spcPct val="115000"/>
              </a:lnSpc>
              <a:spcBef>
                <a:spcPts val="0"/>
              </a:spcBef>
              <a:spcAft>
                <a:spcPts val="0"/>
              </a:spcAft>
              <a:buSzPct val="192513"/>
              <a:buNone/>
            </a:pPr>
            <a:r>
              <a:t/>
            </a:r>
            <a:endParaRPr sz="1100">
              <a:solidFill>
                <a:schemeClr val="dk1"/>
              </a:solidFill>
              <a:latin typeface="Arial"/>
              <a:ea typeface="Arial"/>
              <a:cs typeface="Arial"/>
              <a:sym typeface="Arial"/>
            </a:endParaRPr>
          </a:p>
          <a:p>
            <a:pPr indent="0" lvl="0" marL="0" rtl="0" algn="l">
              <a:lnSpc>
                <a:spcPct val="115000"/>
              </a:lnSpc>
              <a:spcBef>
                <a:spcPts val="1900"/>
              </a:spcBef>
              <a:spcAft>
                <a:spcPts val="0"/>
              </a:spcAft>
              <a:buSzPct val="156863"/>
              <a:buNone/>
            </a:pPr>
            <a:r>
              <a:t/>
            </a:r>
            <a:endParaRPr sz="1350">
              <a:solidFill>
                <a:srgbClr val="61738E"/>
              </a:solidFill>
              <a:highlight>
                <a:srgbClr val="FAFBFC"/>
              </a:highlight>
              <a:latin typeface="Arial"/>
              <a:ea typeface="Arial"/>
              <a:cs typeface="Arial"/>
              <a:sym typeface="Arial"/>
            </a:endParaRPr>
          </a:p>
          <a:p>
            <a:pPr indent="0" lvl="0" marL="0" rtl="0" algn="l">
              <a:lnSpc>
                <a:spcPct val="115000"/>
              </a:lnSpc>
              <a:spcBef>
                <a:spcPts val="1900"/>
              </a:spcBef>
              <a:spcAft>
                <a:spcPts val="0"/>
              </a:spcAft>
              <a:buClr>
                <a:schemeClr val="dk1"/>
              </a:buClr>
              <a:buSzPct val="81481"/>
              <a:buFont typeface="Arial"/>
              <a:buNone/>
            </a:pPr>
            <a:r>
              <a:t/>
            </a:r>
            <a:endParaRPr sz="1350">
              <a:solidFill>
                <a:srgbClr val="61738E"/>
              </a:solidFill>
              <a:highlight>
                <a:srgbClr val="FAFBFC"/>
              </a:highlight>
              <a:latin typeface="Arial"/>
              <a:ea typeface="Arial"/>
              <a:cs typeface="Arial"/>
              <a:sym typeface="Arial"/>
            </a:endParaRPr>
          </a:p>
          <a:p>
            <a:pPr indent="0" lvl="0" marL="457200" rtl="0" algn="l">
              <a:lnSpc>
                <a:spcPct val="158000"/>
              </a:lnSpc>
              <a:spcBef>
                <a:spcPts val="1900"/>
              </a:spcBef>
              <a:spcAft>
                <a:spcPts val="0"/>
              </a:spcAft>
              <a:buSzPct val="136622"/>
              <a:buNone/>
            </a:pPr>
            <a:r>
              <a:t/>
            </a:r>
            <a:endParaRPr sz="1550">
              <a:solidFill>
                <a:srgbClr val="374151"/>
              </a:solidFill>
              <a:latin typeface="Verdana"/>
              <a:ea typeface="Verdana"/>
              <a:cs typeface="Verdana"/>
              <a:sym typeface="Verdana"/>
            </a:endParaRPr>
          </a:p>
          <a:p>
            <a:pPr indent="0" lvl="0" marL="0" rtl="0" algn="l">
              <a:lnSpc>
                <a:spcPct val="158000"/>
              </a:lnSpc>
              <a:spcBef>
                <a:spcPts val="1800"/>
              </a:spcBef>
              <a:spcAft>
                <a:spcPts val="0"/>
              </a:spcAft>
              <a:buSzPct val="156863"/>
              <a:buNone/>
            </a:pPr>
            <a:r>
              <a:t/>
            </a:r>
            <a:endParaRPr sz="1350">
              <a:solidFill>
                <a:srgbClr val="273239"/>
              </a:solidFill>
              <a:highlight>
                <a:srgbClr val="FFFFFF"/>
              </a:highlight>
              <a:latin typeface="Nunito"/>
              <a:ea typeface="Nunito"/>
              <a:cs typeface="Nunito"/>
              <a:sym typeface="Nunito"/>
            </a:endParaRPr>
          </a:p>
          <a:p>
            <a:pPr indent="-228600" lvl="0" marL="457200" rtl="0" algn="just">
              <a:lnSpc>
                <a:spcPct val="100000"/>
              </a:lnSpc>
              <a:spcBef>
                <a:spcPts val="1800"/>
              </a:spcBef>
              <a:spcAft>
                <a:spcPts val="0"/>
              </a:spcAft>
              <a:buSzPct val="90000"/>
              <a:buNone/>
            </a:pPr>
            <a:r>
              <a:t/>
            </a:r>
            <a:endParaRPr sz="2000">
              <a:latin typeface="Cambria"/>
              <a:ea typeface="Cambria"/>
              <a:cs typeface="Cambria"/>
              <a:sym typeface="Cambria"/>
            </a:endParaRPr>
          </a:p>
        </p:txBody>
      </p:sp>
      <p:pic>
        <p:nvPicPr>
          <p:cNvPr id="490" name="Google Shape;490;g3fae0b7fedb_0_97"/>
          <p:cNvPicPr preferRelativeResize="0"/>
          <p:nvPr/>
        </p:nvPicPr>
        <p:blipFill rotWithShape="1">
          <a:blip r:embed="rId3">
            <a:alphaModFix/>
          </a:blip>
          <a:srcRect b="0" l="0" r="0" t="0"/>
          <a:stretch/>
        </p:blipFill>
        <p:spPr>
          <a:xfrm>
            <a:off x="8706752" y="5299"/>
            <a:ext cx="3467584" cy="769641"/>
          </a:xfrm>
          <a:prstGeom prst="rect">
            <a:avLst/>
          </a:prstGeom>
          <a:noFill/>
          <a:ln>
            <a:noFill/>
          </a:ln>
        </p:spPr>
      </p:pic>
      <p:pic>
        <p:nvPicPr>
          <p:cNvPr id="491" name="Google Shape;491;g3fae0b7fedb_0_97"/>
          <p:cNvPicPr preferRelativeResize="0"/>
          <p:nvPr/>
        </p:nvPicPr>
        <p:blipFill rotWithShape="1">
          <a:blip r:embed="rId4">
            <a:alphaModFix/>
          </a:blip>
          <a:srcRect b="0" l="0" r="0" t="0"/>
          <a:stretch/>
        </p:blipFill>
        <p:spPr>
          <a:xfrm>
            <a:off x="7719934" y="1"/>
            <a:ext cx="4454402" cy="969062"/>
          </a:xfrm>
          <a:prstGeom prst="rect">
            <a:avLst/>
          </a:prstGeom>
          <a:noFill/>
          <a:ln>
            <a:noFill/>
          </a:ln>
        </p:spPr>
      </p:pic>
      <p:sp>
        <p:nvSpPr>
          <p:cNvPr id="492" name="Google Shape;492;g3fae0b7fedb_0_97"/>
          <p:cNvSpPr/>
          <p:nvPr>
            <p:ph idx="12" type="sldNum"/>
          </p:nvPr>
        </p:nvSpPr>
        <p:spPr>
          <a:xfrm>
            <a:off x="10758922" y="6217920"/>
            <a:ext cx="365700" cy="365700"/>
          </a:xfrm>
          <a:prstGeom prst="ellipse">
            <a:avLst/>
          </a:prstGeom>
          <a:solidFill>
            <a:srgbClr val="1D1D1D">
              <a:alpha val="6941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493" name="Google Shape;493;g3fae0b7fedb_0_97"/>
          <p:cNvGraphicFramePr/>
          <p:nvPr/>
        </p:nvGraphicFramePr>
        <p:xfrm>
          <a:off x="431000" y="1693725"/>
          <a:ext cx="3000000" cy="3000000"/>
        </p:xfrm>
        <a:graphic>
          <a:graphicData uri="http://schemas.openxmlformats.org/drawingml/2006/table">
            <a:tbl>
              <a:tblPr>
                <a:noFill/>
                <a:tableStyleId>{451EE167-50CC-4844-95FF-6AC46D3FCCAD}</a:tableStyleId>
              </a:tblPr>
              <a:tblGrid>
                <a:gridCol w="2057400"/>
                <a:gridCol w="2057400"/>
                <a:gridCol w="2057400"/>
                <a:gridCol w="2057400"/>
                <a:gridCol w="2057400"/>
              </a:tblGrid>
              <a:tr h="381000">
                <a:tc>
                  <a:txBody>
                    <a:bodyPr/>
                    <a:lstStyle/>
                    <a:p>
                      <a:pPr indent="0" lvl="0" marL="0" rtl="0" algn="ctr">
                        <a:lnSpc>
                          <a:spcPct val="115000"/>
                        </a:lnSpc>
                        <a:spcBef>
                          <a:spcPts val="0"/>
                        </a:spcBef>
                        <a:spcAft>
                          <a:spcPts val="0"/>
                        </a:spcAft>
                        <a:buNone/>
                      </a:pPr>
                      <a:r>
                        <a:rPr b="1" lang="en-IN" sz="1800">
                          <a:solidFill>
                            <a:srgbClr val="0D0D0D"/>
                          </a:solidFill>
                          <a:latin typeface="Bookman Old Style"/>
                          <a:ea typeface="Bookman Old Style"/>
                          <a:cs typeface="Bookman Old Style"/>
                          <a:sym typeface="Bookman Old Style"/>
                        </a:rPr>
                        <a:t>Basis</a:t>
                      </a:r>
                      <a:endParaRPr b="1"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b="1" lang="en-IN" sz="1800">
                          <a:solidFill>
                            <a:srgbClr val="0D0D0D"/>
                          </a:solidFill>
                          <a:latin typeface="Bookman Old Style"/>
                          <a:ea typeface="Bookman Old Style"/>
                          <a:cs typeface="Bookman Old Style"/>
                          <a:sym typeface="Bookman Old Style"/>
                        </a:rPr>
                        <a:t>Hierarchical Model</a:t>
                      </a:r>
                      <a:endParaRPr b="1"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b="1" lang="en-IN" sz="1800">
                          <a:solidFill>
                            <a:srgbClr val="0D0D0D"/>
                          </a:solidFill>
                          <a:latin typeface="Bookman Old Style"/>
                          <a:ea typeface="Bookman Old Style"/>
                          <a:cs typeface="Bookman Old Style"/>
                          <a:sym typeface="Bookman Old Style"/>
                        </a:rPr>
                        <a:t>Network Model</a:t>
                      </a:r>
                      <a:endParaRPr b="1"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b="1" lang="en-IN" sz="1800">
                          <a:solidFill>
                            <a:srgbClr val="0D0D0D"/>
                          </a:solidFill>
                          <a:latin typeface="Bookman Old Style"/>
                          <a:ea typeface="Bookman Old Style"/>
                          <a:cs typeface="Bookman Old Style"/>
                          <a:sym typeface="Bookman Old Style"/>
                        </a:rPr>
                        <a:t>Relational Model</a:t>
                      </a:r>
                      <a:endParaRPr b="1" sz="1800">
                        <a:solidFill>
                          <a:srgbClr val="0D0D0D"/>
                        </a:solidFill>
                        <a:latin typeface="Bookman Old Style"/>
                        <a:ea typeface="Bookman Old Style"/>
                        <a:cs typeface="Bookman Old Style"/>
                        <a:sym typeface="Bookman Old Style"/>
                      </a:endParaRPr>
                    </a:p>
                  </a:txBody>
                  <a:tcPr marT="91425" marB="91425" marR="91425" marL="91425"/>
                </a:tc>
                <a:tc>
                  <a:txBody>
                    <a:bodyPr/>
                    <a:lstStyle/>
                    <a:p>
                      <a:pPr indent="0" lvl="0" marL="0" rtl="0" algn="ctr">
                        <a:lnSpc>
                          <a:spcPct val="115000"/>
                        </a:lnSpc>
                        <a:spcBef>
                          <a:spcPts val="0"/>
                        </a:spcBef>
                        <a:spcAft>
                          <a:spcPts val="0"/>
                        </a:spcAft>
                        <a:buNone/>
                      </a:pPr>
                      <a:r>
                        <a:rPr b="1" lang="en-IN" sz="1800">
                          <a:solidFill>
                            <a:srgbClr val="0D0D0D"/>
                          </a:solidFill>
                          <a:latin typeface="Bookman Old Style"/>
                          <a:ea typeface="Bookman Old Style"/>
                          <a:cs typeface="Bookman Old Style"/>
                          <a:sym typeface="Bookman Old Style"/>
                        </a:rPr>
                        <a:t>E-R Model</a:t>
                      </a:r>
                      <a:endParaRPr b="1" sz="1800">
                        <a:solidFill>
                          <a:srgbClr val="0D0D0D"/>
                        </a:solidFill>
                        <a:latin typeface="Bookman Old Style"/>
                        <a:ea typeface="Bookman Old Style"/>
                        <a:cs typeface="Bookman Old Style"/>
                        <a:sym typeface="Bookman Old Style"/>
                      </a:endParaRPr>
                    </a:p>
                  </a:txBody>
                  <a:tcPr marT="91425" marB="91425" marR="91425" marL="91425"/>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Complexity</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Simple</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Complex</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Simple</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Easy to understand</a:t>
                      </a:r>
                      <a:endParaRPr sz="1800">
                        <a:solidFill>
                          <a:srgbClr val="0D0D0D"/>
                        </a:solidFill>
                        <a:latin typeface="Bookman Old Style"/>
                        <a:ea typeface="Bookman Old Style"/>
                        <a:cs typeface="Bookman Old Style"/>
                        <a:sym typeface="Bookman Old Style"/>
                      </a:endParaRPr>
                    </a:p>
                  </a:txBody>
                  <a:tcPr marT="91425" marB="91425" marR="91425" marL="91425">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Data Access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Fixed path</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Links/Pointers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SQL queries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Conceptual design</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Storage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Tree structure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Network structure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Tables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Not directly stored</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Main Use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Hierarchical data</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Complex relationships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Database management</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Database design</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Example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Company → Employees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Students ↔ Courses</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Student table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IN" sz="1800">
                          <a:solidFill>
                            <a:srgbClr val="0D0D0D"/>
                          </a:solidFill>
                          <a:latin typeface="Bookman Old Style"/>
                          <a:ea typeface="Bookman Old Style"/>
                          <a:cs typeface="Bookman Old Style"/>
                          <a:sym typeface="Bookman Old Style"/>
                        </a:rPr>
                        <a:t>Student — Enrolls — Course</a:t>
                      </a:r>
                      <a:endParaRPr sz="1800">
                        <a:solidFill>
                          <a:srgbClr val="0D0D0D"/>
                        </a:solidFill>
                        <a:latin typeface="Bookman Old Style"/>
                        <a:ea typeface="Bookman Old Style"/>
                        <a:cs typeface="Bookman Old Style"/>
                        <a:sym typeface="Bookman Old Style"/>
                      </a:endParaRPr>
                    </a:p>
                  </a:txBody>
                  <a:tcPr marT="91425" marB="91425" marR="91425" marL="91425">
                    <a:lnT cap="flat" cmpd="sng" w="9525">
                      <a:solidFill>
                        <a:srgbClr val="000000"/>
                      </a:solidFill>
                      <a:prstDash val="solid"/>
                      <a:round/>
                      <a:headEnd len="sm" w="sm" type="none"/>
                      <a:tailEnd len="sm" w="sm" type="none"/>
                    </a:lnT>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2020-09-07T10:12:37Z</dcterms:created>
  <dc:creator>Utsav Yagnik</dc:creator>
</cp:coreProperties>
</file>