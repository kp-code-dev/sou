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91" d="100"/>
          <a:sy n="91" d="100"/>
        </p:scale>
        <p:origin x="-102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14400" y="1143000"/>
            <a:ext cx="88696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14304E"/>
                </a:solidFill>
              </a:rPr>
              <a:t>CORE JAVA</a:t>
            </a:r>
          </a:p>
          <a:p>
            <a:r>
              <a:rPr sz="2700" b="1">
                <a:solidFill>
                  <a:srgbClr val="265B8E"/>
                </a:solidFill>
              </a:rPr>
              <a:t>UNIT 1: JAVA INTRODUCTION</a:t>
            </a:r>
          </a:p>
          <a:p>
            <a:r>
              <a:rPr sz="1800">
                <a:solidFill>
                  <a:srgbClr val="646C74"/>
                </a:solidFill>
              </a:rPr>
              <a:t>CAM5001C  |  MCA Semester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886200"/>
            <a:ext cx="68580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>
                <a:solidFill>
                  <a:srgbClr val="23282D"/>
                </a:solidFill>
              </a:rPr>
              <a:t>Java Essentials • JVM • Syntax • OOP • Arrays • Command-Line Arguments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10528"/>
            <a:ext cx="10881360" cy="18288"/>
          </a:xfrm>
          <a:prstGeom prst="rect">
            <a:avLst/>
          </a:prstGeom>
          <a:solidFill>
            <a:srgbClr val="26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64592" y="6199632"/>
            <a:ext cx="438912" cy="438912"/>
          </a:xfrm>
          <a:prstGeom prst="ellipse">
            <a:avLst/>
          </a:prstGeom>
          <a:solidFill>
            <a:srgbClr val="14304E"/>
          </a:solidFill>
          <a:ln>
            <a:solidFill>
              <a:srgbClr val="14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254496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C74"/>
                </a:solidFill>
              </a:rPr>
              <a:t>CAM5001C | Core Java | Unit 1</a:t>
            </a:r>
          </a:p>
        </p:txBody>
      </p:sp>
      <p:sp>
        <p:nvSpPr>
          <p:cNvPr id="11" name="AutoShape 2" descr="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AutoShape 4" descr="log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1822" y="121798"/>
            <a:ext cx="2580178" cy="4640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304E"/>
                </a:solidFill>
              </a:rPr>
              <a:t>Unit 1 – Learning Outcomes</a:t>
            </a:r>
          </a:p>
        </p:txBody>
      </p:sp>
      <p:pic>
        <p:nvPicPr>
          <p:cNvPr id="5" name="Picture 4" descr="universit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" y="2377440"/>
            <a:ext cx="502920" cy="14361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" y="6510528"/>
            <a:ext cx="10881360" cy="18288"/>
          </a:xfrm>
          <a:prstGeom prst="rect">
            <a:avLst/>
          </a:prstGeom>
          <a:solidFill>
            <a:srgbClr val="26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64592" y="6199632"/>
            <a:ext cx="438912" cy="438912"/>
          </a:xfrm>
          <a:prstGeom prst="ellipse">
            <a:avLst/>
          </a:prstGeom>
          <a:solidFill>
            <a:srgbClr val="14304E"/>
          </a:solidFill>
          <a:ln>
            <a:solidFill>
              <a:srgbClr val="14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254496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C74"/>
                </a:solidFill>
              </a:rPr>
              <a:t>CAM5001C | Core Java | Unit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41732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Explain Java essentials, features, JVM and the Java program execution process.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Use variables, primitive data types, identifiers, literals and operators correctly.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Apply decision-making and looping statements to solve basic programming problems.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Explain classes, objects, constructors, static members and the this keyword.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Develop programs using one-dimensional/two-dimensional arrays and command-line arguments.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1822" y="121798"/>
            <a:ext cx="2580178" cy="4640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304E"/>
                </a:solidFill>
              </a:rPr>
              <a:t>Introduction to Java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10528"/>
            <a:ext cx="10881360" cy="18288"/>
          </a:xfrm>
          <a:prstGeom prst="rect">
            <a:avLst/>
          </a:prstGeom>
          <a:solidFill>
            <a:srgbClr val="26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64592" y="6199632"/>
            <a:ext cx="438912" cy="438912"/>
          </a:xfrm>
          <a:prstGeom prst="ellipse">
            <a:avLst/>
          </a:prstGeom>
          <a:solidFill>
            <a:srgbClr val="14304E"/>
          </a:solidFill>
          <a:ln>
            <a:solidFill>
              <a:srgbClr val="14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254496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C74"/>
                </a:solidFill>
              </a:rPr>
              <a:t>CAM5001C | Core Java | Unit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41732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Java is a high-level, class-based, object-oriented programming language.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Developed from the Green Project at Sun Microsystems; publicly released as Java in 1995.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Designed for portability, security, robustness and networked applications.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Java source code is compiled into bytecode that runs on a compatible JVM.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1822" y="121798"/>
            <a:ext cx="2580178" cy="4640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304E"/>
                </a:solidFill>
              </a:rPr>
              <a:t>Principles of Object-Oriented Programming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10528"/>
            <a:ext cx="10881360" cy="18288"/>
          </a:xfrm>
          <a:prstGeom prst="rect">
            <a:avLst/>
          </a:prstGeom>
          <a:solidFill>
            <a:srgbClr val="26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64592" y="6199632"/>
            <a:ext cx="438912" cy="438912"/>
          </a:xfrm>
          <a:prstGeom prst="ellipse">
            <a:avLst/>
          </a:prstGeom>
          <a:solidFill>
            <a:srgbClr val="14304E"/>
          </a:solidFill>
          <a:ln>
            <a:solidFill>
              <a:srgbClr val="14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254496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C74"/>
                </a:solidFill>
              </a:rPr>
              <a:t>CAM5001C | Core Java | Unit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41732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Encapsulation – bundles data and methods into a class and controls access.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Inheritance – allows a new class to reuse and extend an existing class.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Polymorphism – one interface or method name can represent different behaviors.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Abstraction – focuses on essential behavior while hiding implementation details.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1822" y="121798"/>
            <a:ext cx="2580178" cy="4640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304E"/>
                </a:solidFill>
              </a:rPr>
              <a:t>Java Essentials and Features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10528"/>
            <a:ext cx="10881360" cy="18288"/>
          </a:xfrm>
          <a:prstGeom prst="rect">
            <a:avLst/>
          </a:prstGeom>
          <a:solidFill>
            <a:srgbClr val="26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64592" y="6199632"/>
            <a:ext cx="438912" cy="438912"/>
          </a:xfrm>
          <a:prstGeom prst="ellipse">
            <a:avLst/>
          </a:prstGeom>
          <a:solidFill>
            <a:srgbClr val="14304E"/>
          </a:solidFill>
          <a:ln>
            <a:solidFill>
              <a:srgbClr val="14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254496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C74"/>
                </a:solidFill>
              </a:rPr>
              <a:t>CAM5001C | Core Java | Unit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41732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Simple and familiar syntax with automatic memory management.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Object-oriented and strongly typed.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Platform independent through bytecode and JVM.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Robust through type checking, exceptions and memory management.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Secure execution model and rich standard libraries.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Supports multithreading and dynamic class loading.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1822" y="121798"/>
            <a:ext cx="2580178" cy="4640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304E"/>
                </a:solidFill>
              </a:rPr>
              <a:t>JDK, JRE and JVM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10528"/>
            <a:ext cx="10881360" cy="18288"/>
          </a:xfrm>
          <a:prstGeom prst="rect">
            <a:avLst/>
          </a:prstGeom>
          <a:solidFill>
            <a:srgbClr val="26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64592" y="6199632"/>
            <a:ext cx="438912" cy="438912"/>
          </a:xfrm>
          <a:prstGeom prst="ellipse">
            <a:avLst/>
          </a:prstGeom>
          <a:solidFill>
            <a:srgbClr val="14304E"/>
          </a:solidFill>
          <a:ln>
            <a:solidFill>
              <a:srgbClr val="14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254496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C74"/>
                </a:solidFill>
              </a:rPr>
              <a:t>CAM5001C | Core Java | Unit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41732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JDK: development kit containing compiler and other development tools plus runtime components.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JRE: runtime environment concept containing libraries and JVM required to run Java applications.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JVM: executes Java bytecode and provides platform-specific runtime services.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javac compiles .java source files into .class bytecode files.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1822" y="121798"/>
            <a:ext cx="2580178" cy="4640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304E"/>
                </a:solidFill>
              </a:rPr>
              <a:t>Java Program Execution Process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10528"/>
            <a:ext cx="10881360" cy="18288"/>
          </a:xfrm>
          <a:prstGeom prst="rect">
            <a:avLst/>
          </a:prstGeom>
          <a:solidFill>
            <a:srgbClr val="26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64592" y="6199632"/>
            <a:ext cx="438912" cy="438912"/>
          </a:xfrm>
          <a:prstGeom prst="ellipse">
            <a:avLst/>
          </a:prstGeom>
          <a:solidFill>
            <a:srgbClr val="14304E"/>
          </a:solidFill>
          <a:ln>
            <a:solidFill>
              <a:srgbClr val="14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254496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C74"/>
                </a:solidFill>
              </a:rPr>
              <a:t>CAM5001C | Core Java | Unit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48840"/>
            <a:ext cx="1508760" cy="960120"/>
          </a:xfrm>
          <a:prstGeom prst="roundRect">
            <a:avLst/>
          </a:prstGeom>
          <a:solidFill>
            <a:srgbClr val="F2F6FA"/>
          </a:solidFill>
          <a:ln>
            <a:solidFill>
              <a:srgbClr val="265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4304E"/>
                </a:solidFill>
              </a:rPr>
              <a:t>Source Code</a:t>
            </a:r>
          </a:p>
          <a:p>
            <a:pPr algn="ctr"/>
            <a:r>
              <a:rPr sz="1700" b="1">
                <a:solidFill>
                  <a:srgbClr val="14304E"/>
                </a:solidFill>
              </a:rPr>
              <a:t>.java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304288" y="2441448"/>
            <a:ext cx="502920" cy="320040"/>
          </a:xfrm>
          <a:prstGeom prst="rightArrow">
            <a:avLst/>
          </a:prstGeom>
          <a:solidFill>
            <a:srgbClr val="26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834640" y="2148840"/>
            <a:ext cx="1508760" cy="960120"/>
          </a:xfrm>
          <a:prstGeom prst="roundRect">
            <a:avLst/>
          </a:prstGeom>
          <a:solidFill>
            <a:srgbClr val="F2F6FA"/>
          </a:solidFill>
          <a:ln>
            <a:solidFill>
              <a:srgbClr val="265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4304E"/>
                </a:solidFill>
              </a:rPr>
              <a:t>javac</a:t>
            </a:r>
          </a:p>
          <a:p>
            <a:pPr algn="ctr"/>
            <a:r>
              <a:rPr sz="1700" b="1">
                <a:solidFill>
                  <a:srgbClr val="14304E"/>
                </a:solidFill>
              </a:rPr>
              <a:t>Compiler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407408" y="2441448"/>
            <a:ext cx="502920" cy="320040"/>
          </a:xfrm>
          <a:prstGeom prst="rightArrow">
            <a:avLst/>
          </a:prstGeom>
          <a:solidFill>
            <a:srgbClr val="26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983480" y="2148840"/>
            <a:ext cx="1508760" cy="960120"/>
          </a:xfrm>
          <a:prstGeom prst="roundRect">
            <a:avLst/>
          </a:prstGeom>
          <a:solidFill>
            <a:srgbClr val="F2F6FA"/>
          </a:solidFill>
          <a:ln>
            <a:solidFill>
              <a:srgbClr val="265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4304E"/>
                </a:solidFill>
              </a:rPr>
              <a:t>Bytecode</a:t>
            </a:r>
          </a:p>
          <a:p>
            <a:pPr algn="ctr"/>
            <a:r>
              <a:rPr sz="1700" b="1">
                <a:solidFill>
                  <a:srgbClr val="14304E"/>
                </a:solidFill>
              </a:rPr>
              <a:t>.class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556248" y="2441448"/>
            <a:ext cx="502920" cy="320040"/>
          </a:xfrm>
          <a:prstGeom prst="rightArrow">
            <a:avLst/>
          </a:prstGeom>
          <a:solidFill>
            <a:srgbClr val="26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132320" y="2148840"/>
            <a:ext cx="1508760" cy="960120"/>
          </a:xfrm>
          <a:prstGeom prst="roundRect">
            <a:avLst/>
          </a:prstGeom>
          <a:solidFill>
            <a:srgbClr val="F2F6FA"/>
          </a:solidFill>
          <a:ln>
            <a:solidFill>
              <a:srgbClr val="265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4304E"/>
                </a:solidFill>
              </a:rPr>
              <a:t>JVM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705088" y="2441448"/>
            <a:ext cx="502920" cy="320040"/>
          </a:xfrm>
          <a:prstGeom prst="rightArrow">
            <a:avLst/>
          </a:prstGeom>
          <a:solidFill>
            <a:srgbClr val="26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372600" y="2148840"/>
            <a:ext cx="1508760" cy="960120"/>
          </a:xfrm>
          <a:prstGeom prst="roundRect">
            <a:avLst/>
          </a:prstGeom>
          <a:solidFill>
            <a:srgbClr val="F2F6FA"/>
          </a:solidFill>
          <a:ln>
            <a:solidFill>
              <a:srgbClr val="265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4304E"/>
                </a:solidFill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88620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Write Once, Run Anywhere: the same bytecode can run on different platforms with compatible JVMs.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1822" y="121798"/>
            <a:ext cx="2580178" cy="4640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304E"/>
                </a:solidFill>
              </a:rPr>
              <a:t>Structure of a Java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C74"/>
                </a:solidFill>
              </a:rPr>
              <a:t>Class declaration, main() method and output statement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510528"/>
            <a:ext cx="10881360" cy="18288"/>
          </a:xfrm>
          <a:prstGeom prst="rect">
            <a:avLst/>
          </a:prstGeom>
          <a:solidFill>
            <a:srgbClr val="26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64592" y="6199632"/>
            <a:ext cx="438912" cy="438912"/>
          </a:xfrm>
          <a:prstGeom prst="ellipse">
            <a:avLst/>
          </a:prstGeom>
          <a:solidFill>
            <a:srgbClr val="14304E"/>
          </a:solidFill>
          <a:ln>
            <a:solidFill>
              <a:srgbClr val="14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254496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C74"/>
                </a:solidFill>
              </a:rPr>
              <a:t>CAM5001C | Core Java | Unit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1828800"/>
            <a:ext cx="10332720" cy="3291840"/>
          </a:xfrm>
          <a:prstGeom prst="roundRect">
            <a:avLst/>
          </a:prstGeom>
          <a:solidFill>
            <a:srgbClr val="F2F6FA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64592" rtlCol="0" anchor="ctr"/>
          <a:lstStyle/>
          <a:p>
            <a:r>
              <a:rPr sz="1700" dirty="0">
                <a:solidFill>
                  <a:srgbClr val="23282D"/>
                </a:solidFill>
                <a:latin typeface="Consolas"/>
              </a:rPr>
              <a:t>public class Hello </a:t>
            </a:r>
            <a:endParaRPr lang="en-US" sz="1700" dirty="0">
              <a:solidFill>
                <a:srgbClr val="23282D"/>
              </a:solidFill>
              <a:latin typeface="Consolas"/>
            </a:endParaRPr>
          </a:p>
          <a:p>
            <a:r>
              <a:rPr sz="1700" dirty="0" smtClean="0">
                <a:solidFill>
                  <a:srgbClr val="23282D"/>
                </a:solidFill>
                <a:latin typeface="Consolas"/>
              </a:rPr>
              <a:t>{</a:t>
            </a:r>
            <a:r>
              <a:rPr sz="1700" dirty="0">
                <a:solidFill>
                  <a:srgbClr val="23282D"/>
                </a:solidFill>
                <a:latin typeface="Consolas"/>
              </a:rPr>
              <a:t>
    public static void main(String[] </a:t>
            </a:r>
            <a:r>
              <a:rPr sz="1700" dirty="0" err="1">
                <a:solidFill>
                  <a:srgbClr val="23282D"/>
                </a:solidFill>
                <a:latin typeface="Consolas"/>
              </a:rPr>
              <a:t>args</a:t>
            </a:r>
            <a:r>
              <a:rPr sz="1700" dirty="0">
                <a:solidFill>
                  <a:srgbClr val="23282D"/>
                </a:solidFill>
                <a:latin typeface="Consolas"/>
              </a:rPr>
              <a:t>) </a:t>
            </a:r>
            <a:endParaRPr lang="en-US" sz="1700" dirty="0" smtClean="0">
              <a:solidFill>
                <a:srgbClr val="23282D"/>
              </a:solidFill>
              <a:latin typeface="Consolas"/>
            </a:endParaRPr>
          </a:p>
          <a:p>
            <a:r>
              <a:rPr sz="1700" dirty="0" smtClean="0">
                <a:solidFill>
                  <a:srgbClr val="23282D"/>
                </a:solidFill>
                <a:latin typeface="Consolas"/>
              </a:rPr>
              <a:t>{</a:t>
            </a:r>
            <a:r>
              <a:rPr sz="1700" dirty="0">
                <a:solidFill>
                  <a:srgbClr val="23282D"/>
                </a:solidFill>
                <a:latin typeface="Consolas"/>
              </a:rPr>
              <a:t>
        </a:t>
            </a:r>
            <a:r>
              <a:rPr sz="1700" dirty="0" err="1">
                <a:solidFill>
                  <a:srgbClr val="23282D"/>
                </a:solidFill>
                <a:latin typeface="Consolas"/>
              </a:rPr>
              <a:t>System.out.println</a:t>
            </a:r>
            <a:r>
              <a:rPr sz="1700" dirty="0">
                <a:solidFill>
                  <a:srgbClr val="23282D"/>
                </a:solidFill>
                <a:latin typeface="Consolas"/>
              </a:rPr>
              <a:t>("Hello Java");
    }
}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1822" y="121798"/>
            <a:ext cx="2580178" cy="4640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304E"/>
                </a:solidFill>
              </a:rPr>
              <a:t>Variables and Variable Types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10528"/>
            <a:ext cx="10881360" cy="18288"/>
          </a:xfrm>
          <a:prstGeom prst="rect">
            <a:avLst/>
          </a:prstGeom>
          <a:solidFill>
            <a:srgbClr val="26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64592" y="6199632"/>
            <a:ext cx="438912" cy="438912"/>
          </a:xfrm>
          <a:prstGeom prst="ellipse">
            <a:avLst/>
          </a:prstGeom>
          <a:solidFill>
            <a:srgbClr val="14304E"/>
          </a:solidFill>
          <a:ln>
            <a:solidFill>
              <a:srgbClr val="14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254496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C74"/>
                </a:solidFill>
              </a:rPr>
              <a:t>CAM5001C | Core Java | Unit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41732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A variable is a named memory location used to store a value.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Local variable – declared inside a method/block and used within its scope.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Instance variable – belongs to each object; every object has its own copy.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Static/class variable – belongs to the class and is shared by its objects.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Syntax example: int marks = 85;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1822" y="121798"/>
            <a:ext cx="2580178" cy="46409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304E"/>
                </a:solidFill>
              </a:rPr>
              <a:t>Primitive Data Types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10528"/>
            <a:ext cx="10881360" cy="18288"/>
          </a:xfrm>
          <a:prstGeom prst="rect">
            <a:avLst/>
          </a:prstGeom>
          <a:solidFill>
            <a:srgbClr val="26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64592" y="6199632"/>
            <a:ext cx="438912" cy="438912"/>
          </a:xfrm>
          <a:prstGeom prst="ellipse">
            <a:avLst/>
          </a:prstGeom>
          <a:solidFill>
            <a:srgbClr val="14304E"/>
          </a:solidFill>
          <a:ln>
            <a:solidFill>
              <a:srgbClr val="14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254496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C74"/>
                </a:solidFill>
              </a:rPr>
              <a:t>CAM5001C | Core Java | Unit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41732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Integer types: byte, short, int, long.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Floating-point types: float, double.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Character type: char – stores a UTF-16 code unit.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Logical type: boolean – true or false.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Choose a type based on the kind and range/precision of data required.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1822" y="121798"/>
            <a:ext cx="2580178" cy="46409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304E"/>
                </a:solidFill>
              </a:rPr>
              <a:t>Identifiers, Keywords and Literals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10528"/>
            <a:ext cx="10881360" cy="18288"/>
          </a:xfrm>
          <a:prstGeom prst="rect">
            <a:avLst/>
          </a:prstGeom>
          <a:solidFill>
            <a:srgbClr val="26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64592" y="6199632"/>
            <a:ext cx="438912" cy="438912"/>
          </a:xfrm>
          <a:prstGeom prst="ellipse">
            <a:avLst/>
          </a:prstGeom>
          <a:solidFill>
            <a:srgbClr val="14304E"/>
          </a:solidFill>
          <a:ln>
            <a:solidFill>
              <a:srgbClr val="14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254496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C74"/>
                </a:solidFill>
              </a:rPr>
              <a:t>CAM5001C | Core Java | Unit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41732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Identifier: programmer-defined name for a class, variable, method or other element.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Identifiers are case-sensitive, cannot start with a digit and cannot be Java keywords.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Keywords are reserved words such as class, public, static, if and while.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Literals are fixed values written directly in code: 10, 3.14, 'A', "Java", true and null.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1822" y="121798"/>
            <a:ext cx="2580178" cy="46409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304E"/>
                </a:solidFill>
              </a:rPr>
              <a:t>Operators in Java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10528"/>
            <a:ext cx="10881360" cy="18288"/>
          </a:xfrm>
          <a:prstGeom prst="rect">
            <a:avLst/>
          </a:prstGeom>
          <a:solidFill>
            <a:srgbClr val="26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64592" y="6199632"/>
            <a:ext cx="438912" cy="438912"/>
          </a:xfrm>
          <a:prstGeom prst="ellipse">
            <a:avLst/>
          </a:prstGeom>
          <a:solidFill>
            <a:srgbClr val="14304E"/>
          </a:solidFill>
          <a:ln>
            <a:solidFill>
              <a:srgbClr val="14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254496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C74"/>
                </a:solidFill>
              </a:rPr>
              <a:t>CAM5001C | Core Java | Unit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41732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Arithmetic: +  -  *  /  %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Relational: ==  !=  &gt;  &lt;  &gt;=  &lt;=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Logical: &amp;&amp;  ||  !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Assignment: =  +=  -=  *=  /=  %=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Unary: ++  --  +  -  !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Conditional/Ternary: condition ? value1 : value2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1822" y="121798"/>
            <a:ext cx="2580178" cy="46409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304E"/>
                </a:solidFill>
              </a:rPr>
              <a:t>Decision-Making Statements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10528"/>
            <a:ext cx="10881360" cy="18288"/>
          </a:xfrm>
          <a:prstGeom prst="rect">
            <a:avLst/>
          </a:prstGeom>
          <a:solidFill>
            <a:srgbClr val="26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64592" y="6199632"/>
            <a:ext cx="438912" cy="438912"/>
          </a:xfrm>
          <a:prstGeom prst="ellipse">
            <a:avLst/>
          </a:prstGeom>
          <a:solidFill>
            <a:srgbClr val="14304E"/>
          </a:solidFill>
          <a:ln>
            <a:solidFill>
              <a:srgbClr val="14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254496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C74"/>
                </a:solidFill>
              </a:rPr>
              <a:t>CAM5001C | Core Java | Unit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41732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if – executes a block when a condition is true.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if-else – selects between two alternatives.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nested if – places one decision inside another.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else-if ladder – checks multiple conditions in sequence.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switch – selects among discrete case labels based on an expression.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1822" y="121798"/>
            <a:ext cx="2580178" cy="46409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304E"/>
                </a:solidFill>
              </a:rPr>
              <a:t>Looping and Branching Statements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10528"/>
            <a:ext cx="10881360" cy="18288"/>
          </a:xfrm>
          <a:prstGeom prst="rect">
            <a:avLst/>
          </a:prstGeom>
          <a:solidFill>
            <a:srgbClr val="26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64592" y="6199632"/>
            <a:ext cx="438912" cy="438912"/>
          </a:xfrm>
          <a:prstGeom prst="ellipse">
            <a:avLst/>
          </a:prstGeom>
          <a:solidFill>
            <a:srgbClr val="14304E"/>
          </a:solidFill>
          <a:ln>
            <a:solidFill>
              <a:srgbClr val="14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254496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C74"/>
                </a:solidFill>
              </a:rPr>
              <a:t>CAM5001C | Core Java | Unit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41732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for – useful when the number of iterations is known or controlled by a counter.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while – repeats while a condition remains true; condition is checked first.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do-while – executes the body at least once before checking the condition.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break – exits the nearest loop or switch.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continue – skips the remaining statements in the current loop iteration.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1822" y="121798"/>
            <a:ext cx="2580178" cy="46409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304E"/>
                </a:solidFill>
              </a:rPr>
              <a:t>Classes and Objects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10528"/>
            <a:ext cx="10881360" cy="18288"/>
          </a:xfrm>
          <a:prstGeom prst="rect">
            <a:avLst/>
          </a:prstGeom>
          <a:solidFill>
            <a:srgbClr val="26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64592" y="6199632"/>
            <a:ext cx="438912" cy="438912"/>
          </a:xfrm>
          <a:prstGeom prst="ellipse">
            <a:avLst/>
          </a:prstGeom>
          <a:solidFill>
            <a:srgbClr val="14304E"/>
          </a:solidFill>
          <a:ln>
            <a:solidFill>
              <a:srgbClr val="14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254496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C74"/>
                </a:solidFill>
              </a:rPr>
              <a:t>CAM5001C | Core Java | Unit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41732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A class is a blueprint that defines fields (data) and methods (behavior).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An object is an instance of a class created at runtime.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The new keyword commonly creates an object.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The dot operator accesses accessible fields and methods.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Example: Student s = new Student();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1822" y="121798"/>
            <a:ext cx="2580178" cy="46409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304E"/>
                </a:solidFill>
              </a:rPr>
              <a:t>Class and Object – 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10528"/>
            <a:ext cx="10881360" cy="18288"/>
          </a:xfrm>
          <a:prstGeom prst="rect">
            <a:avLst/>
          </a:prstGeom>
          <a:solidFill>
            <a:srgbClr val="26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64592" y="6199632"/>
            <a:ext cx="438912" cy="438912"/>
          </a:xfrm>
          <a:prstGeom prst="ellipse">
            <a:avLst/>
          </a:prstGeom>
          <a:solidFill>
            <a:srgbClr val="14304E"/>
          </a:solidFill>
          <a:ln>
            <a:solidFill>
              <a:srgbClr val="14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254496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C74"/>
                </a:solidFill>
              </a:rPr>
              <a:t>CAM5001C | Core Java | Unit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840829"/>
            <a:ext cx="10332720" cy="4279812"/>
          </a:xfrm>
          <a:prstGeom prst="roundRect">
            <a:avLst/>
          </a:prstGeom>
          <a:solidFill>
            <a:srgbClr val="F2F6FA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64592" rtlCol="0" anchor="ctr"/>
          <a:lstStyle/>
          <a:p>
            <a:r>
              <a:rPr sz="1700" dirty="0">
                <a:solidFill>
                  <a:srgbClr val="23282D"/>
                </a:solidFill>
                <a:latin typeface="Consolas"/>
              </a:rPr>
              <a:t>class Student {
    </a:t>
            </a:r>
            <a:r>
              <a:rPr sz="1700" dirty="0" err="1">
                <a:solidFill>
                  <a:srgbClr val="23282D"/>
                </a:solidFill>
                <a:latin typeface="Consolas"/>
              </a:rPr>
              <a:t>int</a:t>
            </a:r>
            <a:r>
              <a:rPr sz="1700" dirty="0">
                <a:solidFill>
                  <a:srgbClr val="23282D"/>
                </a:solidFill>
                <a:latin typeface="Consolas"/>
              </a:rPr>
              <a:t> id;
    String name;
    void display() {
        </a:t>
            </a:r>
            <a:r>
              <a:rPr sz="1700" dirty="0" err="1">
                <a:solidFill>
                  <a:srgbClr val="23282D"/>
                </a:solidFill>
                <a:latin typeface="Consolas"/>
              </a:rPr>
              <a:t>System.out.println</a:t>
            </a:r>
            <a:r>
              <a:rPr sz="1700" dirty="0">
                <a:solidFill>
                  <a:srgbClr val="23282D"/>
                </a:solidFill>
                <a:latin typeface="Consolas"/>
              </a:rPr>
              <a:t>(id + " " + name);
    }
    public static void main(String[] </a:t>
            </a:r>
            <a:r>
              <a:rPr sz="1700" dirty="0" err="1">
                <a:solidFill>
                  <a:srgbClr val="23282D"/>
                </a:solidFill>
                <a:latin typeface="Consolas"/>
              </a:rPr>
              <a:t>args</a:t>
            </a:r>
            <a:r>
              <a:rPr sz="1700" dirty="0">
                <a:solidFill>
                  <a:srgbClr val="23282D"/>
                </a:solidFill>
                <a:latin typeface="Consolas"/>
              </a:rPr>
              <a:t>) {
        Student s = new Student();
        s.id = 101;
        s.name = "</a:t>
            </a:r>
            <a:r>
              <a:rPr sz="1700" dirty="0" err="1">
                <a:solidFill>
                  <a:srgbClr val="23282D"/>
                </a:solidFill>
                <a:latin typeface="Consolas"/>
              </a:rPr>
              <a:t>Riya</a:t>
            </a:r>
            <a:r>
              <a:rPr sz="1700" dirty="0">
                <a:solidFill>
                  <a:srgbClr val="23282D"/>
                </a:solidFill>
                <a:latin typeface="Consolas"/>
              </a:rPr>
              <a:t>";
        </a:t>
            </a:r>
            <a:r>
              <a:rPr sz="1700" dirty="0" err="1">
                <a:solidFill>
                  <a:srgbClr val="23282D"/>
                </a:solidFill>
                <a:latin typeface="Consolas"/>
              </a:rPr>
              <a:t>s.display</a:t>
            </a:r>
            <a:r>
              <a:rPr sz="1700" dirty="0">
                <a:solidFill>
                  <a:srgbClr val="23282D"/>
                </a:solidFill>
                <a:latin typeface="Consolas"/>
              </a:rPr>
              <a:t>();
    }
}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1822" y="121798"/>
            <a:ext cx="2580178" cy="46409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304E"/>
                </a:solidFill>
              </a:rPr>
              <a:t>Constructors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10528"/>
            <a:ext cx="10881360" cy="18288"/>
          </a:xfrm>
          <a:prstGeom prst="rect">
            <a:avLst/>
          </a:prstGeom>
          <a:solidFill>
            <a:srgbClr val="26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64592" y="6199632"/>
            <a:ext cx="438912" cy="438912"/>
          </a:xfrm>
          <a:prstGeom prst="ellipse">
            <a:avLst/>
          </a:prstGeom>
          <a:solidFill>
            <a:srgbClr val="14304E"/>
          </a:solidFill>
          <a:ln>
            <a:solidFill>
              <a:srgbClr val="14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254496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C74"/>
                </a:solidFill>
              </a:rPr>
              <a:t>CAM5001C | Core Java | Unit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41732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A constructor initializes an object when it is created.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Its name is the same as the class and it has no return type.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A no-argument constructor accepts no parameters.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A parameterized constructor accepts values for initialization.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Constructor overloading defines multiple constructors with different parameter lists.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1822" y="121798"/>
            <a:ext cx="2580178" cy="46409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304E"/>
                </a:solidFill>
              </a:rPr>
              <a:t>static Keyword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10528"/>
            <a:ext cx="10881360" cy="18288"/>
          </a:xfrm>
          <a:prstGeom prst="rect">
            <a:avLst/>
          </a:prstGeom>
          <a:solidFill>
            <a:srgbClr val="26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64592" y="6199632"/>
            <a:ext cx="438912" cy="438912"/>
          </a:xfrm>
          <a:prstGeom prst="ellipse">
            <a:avLst/>
          </a:prstGeom>
          <a:solidFill>
            <a:srgbClr val="14304E"/>
          </a:solidFill>
          <a:ln>
            <a:solidFill>
              <a:srgbClr val="14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254496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C74"/>
                </a:solidFill>
              </a:rPr>
              <a:t>CAM5001C | Core Java | Unit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41732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A static member belongs to the class rather than to each individual object.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A static variable is shared by all objects of the class.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A static method can be called using the class name.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The main() method is static so the JVM can invoke it without first creating an application object.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1822" y="121798"/>
            <a:ext cx="2580178" cy="46409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304E"/>
                </a:solidFill>
              </a:rPr>
              <a:t>this Keyword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10528"/>
            <a:ext cx="10881360" cy="18288"/>
          </a:xfrm>
          <a:prstGeom prst="rect">
            <a:avLst/>
          </a:prstGeom>
          <a:solidFill>
            <a:srgbClr val="26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64592" y="6199632"/>
            <a:ext cx="438912" cy="438912"/>
          </a:xfrm>
          <a:prstGeom prst="ellipse">
            <a:avLst/>
          </a:prstGeom>
          <a:solidFill>
            <a:srgbClr val="14304E"/>
          </a:solidFill>
          <a:ln>
            <a:solidFill>
              <a:srgbClr val="14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254496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C74"/>
                </a:solidFill>
              </a:rPr>
              <a:t>CAM5001C | Core Java | Unit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41732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this refers to the current object.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Used to distinguish instance variables from parameters with the same name.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this(...) can call another constructor in the same class and must be the first constructor statement.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this can also be passed or returned where the current object reference is required.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1822" y="121798"/>
            <a:ext cx="2580178" cy="46409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304E"/>
                </a:solidFill>
              </a:rPr>
              <a:t>One-Dimensional Arrays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10528"/>
            <a:ext cx="10881360" cy="18288"/>
          </a:xfrm>
          <a:prstGeom prst="rect">
            <a:avLst/>
          </a:prstGeom>
          <a:solidFill>
            <a:srgbClr val="26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64592" y="6199632"/>
            <a:ext cx="438912" cy="438912"/>
          </a:xfrm>
          <a:prstGeom prst="ellipse">
            <a:avLst/>
          </a:prstGeom>
          <a:solidFill>
            <a:srgbClr val="14304E"/>
          </a:solidFill>
          <a:ln>
            <a:solidFill>
              <a:srgbClr val="14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254496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C74"/>
                </a:solidFill>
              </a:rPr>
              <a:t>CAM5001C | Core Java | Unit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41732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An array stores a fixed number of values of the same type.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Array indexing starts from 0.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Declaration: int[] marks;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Creation: marks = new int[5];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Initialization: int[] marks = {70, 80, 90};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Use array.length to obtain the number of elements.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1822" y="121798"/>
            <a:ext cx="2580178" cy="46409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304E"/>
                </a:solidFill>
              </a:rPr>
              <a:t>1D Array – Example Program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10528"/>
            <a:ext cx="10881360" cy="18288"/>
          </a:xfrm>
          <a:prstGeom prst="rect">
            <a:avLst/>
          </a:prstGeom>
          <a:solidFill>
            <a:srgbClr val="26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64592" y="6199632"/>
            <a:ext cx="438912" cy="438912"/>
          </a:xfrm>
          <a:prstGeom prst="ellipse">
            <a:avLst/>
          </a:prstGeom>
          <a:solidFill>
            <a:srgbClr val="14304E"/>
          </a:solidFill>
          <a:ln>
            <a:solidFill>
              <a:srgbClr val="14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254496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C74"/>
                </a:solidFill>
              </a:rPr>
              <a:t>CAM5001C | Core Java | Unit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828800"/>
            <a:ext cx="10332720" cy="3291840"/>
          </a:xfrm>
          <a:prstGeom prst="roundRect">
            <a:avLst/>
          </a:prstGeom>
          <a:solidFill>
            <a:srgbClr val="F2F6FA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64592" rtlCol="0" anchor="ctr"/>
          <a:lstStyle/>
          <a:p>
            <a:r>
              <a:rPr sz="1700" dirty="0">
                <a:solidFill>
                  <a:srgbClr val="23282D"/>
                </a:solidFill>
                <a:latin typeface="Consolas"/>
              </a:rPr>
              <a:t>class </a:t>
            </a:r>
            <a:r>
              <a:rPr sz="1700" dirty="0" err="1">
                <a:solidFill>
                  <a:srgbClr val="23282D"/>
                </a:solidFill>
                <a:latin typeface="Consolas"/>
              </a:rPr>
              <a:t>ArrayDemo</a:t>
            </a:r>
            <a:r>
              <a:rPr sz="1700" dirty="0">
                <a:solidFill>
                  <a:srgbClr val="23282D"/>
                </a:solidFill>
                <a:latin typeface="Consolas"/>
              </a:rPr>
              <a:t> {
    public static void main(String[] </a:t>
            </a:r>
            <a:r>
              <a:rPr sz="1700" dirty="0" err="1">
                <a:solidFill>
                  <a:srgbClr val="23282D"/>
                </a:solidFill>
                <a:latin typeface="Consolas"/>
              </a:rPr>
              <a:t>args</a:t>
            </a:r>
            <a:r>
              <a:rPr sz="1700" dirty="0">
                <a:solidFill>
                  <a:srgbClr val="23282D"/>
                </a:solidFill>
                <a:latin typeface="Consolas"/>
              </a:rPr>
              <a:t>) {
        </a:t>
            </a:r>
            <a:r>
              <a:rPr sz="1700" dirty="0" err="1">
                <a:solidFill>
                  <a:srgbClr val="23282D"/>
                </a:solidFill>
                <a:latin typeface="Consolas"/>
              </a:rPr>
              <a:t>int</a:t>
            </a:r>
            <a:r>
              <a:rPr sz="1700" dirty="0">
                <a:solidFill>
                  <a:srgbClr val="23282D"/>
                </a:solidFill>
                <a:latin typeface="Consolas"/>
              </a:rPr>
              <a:t>[] marks = {70, 80, 90};
        </a:t>
            </a:r>
            <a:r>
              <a:rPr sz="1700" dirty="0" err="1">
                <a:solidFill>
                  <a:srgbClr val="23282D"/>
                </a:solidFill>
                <a:latin typeface="Consolas"/>
              </a:rPr>
              <a:t>int</a:t>
            </a:r>
            <a:r>
              <a:rPr sz="1700" dirty="0">
                <a:solidFill>
                  <a:srgbClr val="23282D"/>
                </a:solidFill>
                <a:latin typeface="Consolas"/>
              </a:rPr>
              <a:t> sum = 0;
        for (</a:t>
            </a:r>
            <a:r>
              <a:rPr sz="1700" dirty="0" err="1">
                <a:solidFill>
                  <a:srgbClr val="23282D"/>
                </a:solidFill>
                <a:latin typeface="Consolas"/>
              </a:rPr>
              <a:t>int</a:t>
            </a:r>
            <a:r>
              <a:rPr sz="1700" dirty="0">
                <a:solidFill>
                  <a:srgbClr val="23282D"/>
                </a:solidFill>
                <a:latin typeface="Consolas"/>
              </a:rPr>
              <a:t> x : marks)
            sum += x;
        </a:t>
            </a:r>
            <a:r>
              <a:rPr sz="1700" dirty="0" err="1">
                <a:solidFill>
                  <a:srgbClr val="23282D"/>
                </a:solidFill>
                <a:latin typeface="Consolas"/>
              </a:rPr>
              <a:t>System.out.println</a:t>
            </a:r>
            <a:r>
              <a:rPr sz="1700" dirty="0">
                <a:solidFill>
                  <a:srgbClr val="23282D"/>
                </a:solidFill>
                <a:latin typeface="Consolas"/>
              </a:rPr>
              <a:t>("Sum = " + sum);
    }
}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1822" y="121798"/>
            <a:ext cx="2580178" cy="46409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304E"/>
                </a:solidFill>
              </a:rPr>
              <a:t>Two-Dimensional Arrays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10528"/>
            <a:ext cx="10881360" cy="18288"/>
          </a:xfrm>
          <a:prstGeom prst="rect">
            <a:avLst/>
          </a:prstGeom>
          <a:solidFill>
            <a:srgbClr val="26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64592" y="6199632"/>
            <a:ext cx="438912" cy="438912"/>
          </a:xfrm>
          <a:prstGeom prst="ellipse">
            <a:avLst/>
          </a:prstGeom>
          <a:solidFill>
            <a:srgbClr val="14304E"/>
          </a:solidFill>
          <a:ln>
            <a:solidFill>
              <a:srgbClr val="14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254496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C74"/>
                </a:solidFill>
              </a:rPr>
              <a:t>CAM5001C | Core Java | Unit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41732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A two-dimensional array is an array of arrays, commonly used for tables and matrices.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Declaration: int[][] matrix;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Creation: matrix = new int[2][3];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Initialization: int[][] a = {{1,2},{3,4}};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Nested loops are commonly used to process rows and columns.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1822" y="121798"/>
            <a:ext cx="2580178" cy="46409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304E"/>
                </a:solidFill>
              </a:rPr>
              <a:t>2D Array – Example Program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10528"/>
            <a:ext cx="10881360" cy="18288"/>
          </a:xfrm>
          <a:prstGeom prst="rect">
            <a:avLst/>
          </a:prstGeom>
          <a:solidFill>
            <a:srgbClr val="26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64592" y="6199632"/>
            <a:ext cx="438912" cy="438912"/>
          </a:xfrm>
          <a:prstGeom prst="ellipse">
            <a:avLst/>
          </a:prstGeom>
          <a:solidFill>
            <a:srgbClr val="14304E"/>
          </a:solidFill>
          <a:ln>
            <a:solidFill>
              <a:srgbClr val="14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254496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C74"/>
                </a:solidFill>
              </a:rPr>
              <a:t>CAM5001C | Core Java | Unit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828800"/>
            <a:ext cx="10332720" cy="3291840"/>
          </a:xfrm>
          <a:prstGeom prst="roundRect">
            <a:avLst/>
          </a:prstGeom>
          <a:solidFill>
            <a:srgbClr val="F2F6FA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64592" rtlCol="0" anchor="ctr"/>
          <a:lstStyle/>
          <a:p>
            <a:pPr algn="ctr"/>
            <a:r>
              <a:rPr sz="1700">
                <a:solidFill>
                  <a:srgbClr val="23282D"/>
                </a:solidFill>
                <a:latin typeface="Consolas"/>
              </a:rPr>
              <a:t>class MatrixDemo {
    public static void main(String[] args) {
        int[][] a = {{1,2},{3,4}};
        for(int i=0; i&lt;a.length; i++) {
            for(int j=0; j&lt;a[i].length; j++)
                System.out.print(a[i][j] + " ");
            System.out.println();
        }
    }
}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1822" y="121798"/>
            <a:ext cx="2580178" cy="46409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304E"/>
                </a:solidFill>
              </a:rPr>
              <a:t>Command-Line Arguments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10528"/>
            <a:ext cx="10881360" cy="18288"/>
          </a:xfrm>
          <a:prstGeom prst="rect">
            <a:avLst/>
          </a:prstGeom>
          <a:solidFill>
            <a:srgbClr val="26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64592" y="6199632"/>
            <a:ext cx="438912" cy="438912"/>
          </a:xfrm>
          <a:prstGeom prst="ellipse">
            <a:avLst/>
          </a:prstGeom>
          <a:solidFill>
            <a:srgbClr val="14304E"/>
          </a:solidFill>
          <a:ln>
            <a:solidFill>
              <a:srgbClr val="14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254496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C74"/>
                </a:solidFill>
              </a:rPr>
              <a:t>CAM5001C | Core Java | Unit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41732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Command-line arguments are values supplied when a Java application starts.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They are received as strings through String[] args in main().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Example execution: java Add 10 20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Convert numeric text when required, e.g., Integer.parseInt(args[0]).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1822" y="121798"/>
            <a:ext cx="2580178" cy="46409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304E"/>
                </a:solidFill>
              </a:rPr>
              <a:t>Command-Line Arguments – Program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10528"/>
            <a:ext cx="10881360" cy="18288"/>
          </a:xfrm>
          <a:prstGeom prst="rect">
            <a:avLst/>
          </a:prstGeom>
          <a:solidFill>
            <a:srgbClr val="26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64592" y="6199632"/>
            <a:ext cx="438912" cy="438912"/>
          </a:xfrm>
          <a:prstGeom prst="ellipse">
            <a:avLst/>
          </a:prstGeom>
          <a:solidFill>
            <a:srgbClr val="14304E"/>
          </a:solidFill>
          <a:ln>
            <a:solidFill>
              <a:srgbClr val="14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254496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C74"/>
                </a:solidFill>
              </a:rPr>
              <a:t>CAM5001C | Core Java | Unit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828800"/>
            <a:ext cx="10332720" cy="3291840"/>
          </a:xfrm>
          <a:prstGeom prst="roundRect">
            <a:avLst/>
          </a:prstGeom>
          <a:solidFill>
            <a:srgbClr val="F2F6FA"/>
          </a:solidFill>
          <a:ln>
            <a:solidFill>
              <a:srgbClr val="CD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64592" rtlCol="0" anchor="ctr"/>
          <a:lstStyle/>
          <a:p>
            <a:r>
              <a:rPr sz="1700" dirty="0">
                <a:solidFill>
                  <a:srgbClr val="23282D"/>
                </a:solidFill>
                <a:latin typeface="Consolas"/>
              </a:rPr>
              <a:t>class Add {
    public static void main(String[] </a:t>
            </a:r>
            <a:r>
              <a:rPr sz="1700" dirty="0" err="1">
                <a:solidFill>
                  <a:srgbClr val="23282D"/>
                </a:solidFill>
                <a:latin typeface="Consolas"/>
              </a:rPr>
              <a:t>args</a:t>
            </a:r>
            <a:r>
              <a:rPr sz="1700" dirty="0">
                <a:solidFill>
                  <a:srgbClr val="23282D"/>
                </a:solidFill>
                <a:latin typeface="Consolas"/>
              </a:rPr>
              <a:t>) {
        </a:t>
            </a:r>
            <a:r>
              <a:rPr sz="1700" dirty="0" err="1">
                <a:solidFill>
                  <a:srgbClr val="23282D"/>
                </a:solidFill>
                <a:latin typeface="Consolas"/>
              </a:rPr>
              <a:t>int</a:t>
            </a:r>
            <a:r>
              <a:rPr sz="1700" dirty="0">
                <a:solidFill>
                  <a:srgbClr val="23282D"/>
                </a:solidFill>
                <a:latin typeface="Consolas"/>
              </a:rPr>
              <a:t> a = </a:t>
            </a:r>
            <a:r>
              <a:rPr sz="1700" dirty="0" err="1">
                <a:solidFill>
                  <a:srgbClr val="23282D"/>
                </a:solidFill>
                <a:latin typeface="Consolas"/>
              </a:rPr>
              <a:t>Integer.parseInt</a:t>
            </a:r>
            <a:r>
              <a:rPr sz="1700" dirty="0">
                <a:solidFill>
                  <a:srgbClr val="23282D"/>
                </a:solidFill>
                <a:latin typeface="Consolas"/>
              </a:rPr>
              <a:t>(</a:t>
            </a:r>
            <a:r>
              <a:rPr sz="1700" dirty="0" err="1">
                <a:solidFill>
                  <a:srgbClr val="23282D"/>
                </a:solidFill>
                <a:latin typeface="Consolas"/>
              </a:rPr>
              <a:t>args</a:t>
            </a:r>
            <a:r>
              <a:rPr sz="1700" dirty="0">
                <a:solidFill>
                  <a:srgbClr val="23282D"/>
                </a:solidFill>
                <a:latin typeface="Consolas"/>
              </a:rPr>
              <a:t>[0]);
        </a:t>
            </a:r>
            <a:r>
              <a:rPr sz="1700" dirty="0" err="1">
                <a:solidFill>
                  <a:srgbClr val="23282D"/>
                </a:solidFill>
                <a:latin typeface="Consolas"/>
              </a:rPr>
              <a:t>int</a:t>
            </a:r>
            <a:r>
              <a:rPr sz="1700" dirty="0">
                <a:solidFill>
                  <a:srgbClr val="23282D"/>
                </a:solidFill>
                <a:latin typeface="Consolas"/>
              </a:rPr>
              <a:t> b = </a:t>
            </a:r>
            <a:r>
              <a:rPr sz="1700" dirty="0" err="1">
                <a:solidFill>
                  <a:srgbClr val="23282D"/>
                </a:solidFill>
                <a:latin typeface="Consolas"/>
              </a:rPr>
              <a:t>Integer.parseInt</a:t>
            </a:r>
            <a:r>
              <a:rPr sz="1700" dirty="0">
                <a:solidFill>
                  <a:srgbClr val="23282D"/>
                </a:solidFill>
                <a:latin typeface="Consolas"/>
              </a:rPr>
              <a:t>(</a:t>
            </a:r>
            <a:r>
              <a:rPr sz="1700" dirty="0" err="1">
                <a:solidFill>
                  <a:srgbClr val="23282D"/>
                </a:solidFill>
                <a:latin typeface="Consolas"/>
              </a:rPr>
              <a:t>args</a:t>
            </a:r>
            <a:r>
              <a:rPr sz="1700" dirty="0">
                <a:solidFill>
                  <a:srgbClr val="23282D"/>
                </a:solidFill>
                <a:latin typeface="Consolas"/>
              </a:rPr>
              <a:t>[1]);
        </a:t>
            </a:r>
            <a:r>
              <a:rPr sz="1700" dirty="0" err="1">
                <a:solidFill>
                  <a:srgbClr val="23282D"/>
                </a:solidFill>
                <a:latin typeface="Consolas"/>
              </a:rPr>
              <a:t>System.out.println</a:t>
            </a:r>
            <a:r>
              <a:rPr sz="1700" dirty="0">
                <a:solidFill>
                  <a:srgbClr val="23282D"/>
                </a:solidFill>
                <a:latin typeface="Consolas"/>
              </a:rPr>
              <a:t>("Sum = " + (a + b));
    }
}
// Run: java Add 10 20
// Output: Sum = 30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1822" y="121798"/>
            <a:ext cx="2580178" cy="46409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304E"/>
                </a:solidFill>
              </a:rPr>
              <a:t>Unit 1 – Quick Revision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10528"/>
            <a:ext cx="10881360" cy="18288"/>
          </a:xfrm>
          <a:prstGeom prst="rect">
            <a:avLst/>
          </a:prstGeom>
          <a:solidFill>
            <a:srgbClr val="26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64592" y="6199632"/>
            <a:ext cx="438912" cy="438912"/>
          </a:xfrm>
          <a:prstGeom prst="ellipse">
            <a:avLst/>
          </a:prstGeom>
          <a:solidFill>
            <a:srgbClr val="14304E"/>
          </a:solidFill>
          <a:ln>
            <a:solidFill>
              <a:srgbClr val="14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254496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C74"/>
                </a:solidFill>
              </a:rPr>
              <a:t>CAM5001C | Core Java | Unit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41732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Java source → compiler → bytecode → JVM → output.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Core OOP: Encapsulation, Inheritance, Polymorphism and Abstraction.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Variables and primitive data types represent program data.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Operators and control-flow statements build program logic.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Classes create objects; constructors initialize them.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static is class-level; this refers to the current object.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Arrays organize homogeneous data; command-line arguments provide startup input.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1822" y="121798"/>
            <a:ext cx="2580178" cy="46409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304E"/>
                </a:solidFill>
              </a:rPr>
              <a:t>Practice / Viva Questions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10528"/>
            <a:ext cx="10881360" cy="18288"/>
          </a:xfrm>
          <a:prstGeom prst="rect">
            <a:avLst/>
          </a:prstGeom>
          <a:solidFill>
            <a:srgbClr val="26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64592" y="6199632"/>
            <a:ext cx="438912" cy="438912"/>
          </a:xfrm>
          <a:prstGeom prst="ellipse">
            <a:avLst/>
          </a:prstGeom>
          <a:solidFill>
            <a:srgbClr val="14304E"/>
          </a:solidFill>
          <a:ln>
            <a:solidFill>
              <a:srgbClr val="14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254496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C74"/>
                </a:solidFill>
              </a:rPr>
              <a:t>CAM5001C | Core Java | Unit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41732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What is Java bytecode and why is it platform independent?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Differentiate JDK, JRE and JVM.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Name the eight primitive data types.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Differentiate instance and static variables.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Explain class, object and constructor with an example.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What are the uses of static and this?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Differentiate one-dimensional and two-dimensional arrays.</a:t>
            </a:r>
          </a:p>
          <a:p>
            <a:pPr>
              <a:spcAft>
                <a:spcPts val="1100"/>
              </a:spcAft>
              <a:defRPr sz="2000">
                <a:solidFill>
                  <a:srgbClr val="23282D"/>
                </a:solidFill>
              </a:defRPr>
            </a:pPr>
            <a:r>
              <a:t>How are command-line arguments passed and converted to integers?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1822" y="121798"/>
            <a:ext cx="2580178" cy="46409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40080" y="6510528"/>
            <a:ext cx="10881360" cy="18288"/>
          </a:xfrm>
          <a:prstGeom prst="rect">
            <a:avLst/>
          </a:prstGeom>
          <a:solidFill>
            <a:srgbClr val="265B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64592" y="6199632"/>
            <a:ext cx="438912" cy="438912"/>
          </a:xfrm>
          <a:prstGeom prst="ellipse">
            <a:avLst/>
          </a:prstGeom>
          <a:solidFill>
            <a:srgbClr val="14304E"/>
          </a:solidFill>
          <a:ln>
            <a:solidFill>
              <a:srgbClr val="14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254496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C74"/>
                </a:solidFill>
              </a:rPr>
              <a:t>CAM5001C | Core Java | Unit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011680"/>
            <a:ext cx="9784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4304E"/>
                </a:solidFill>
              </a:rPr>
              <a:t>THANK YOU</a:t>
            </a:r>
          </a:p>
          <a:p>
            <a:pPr algn="ctr"/>
            <a:r>
              <a:rPr sz="2200">
                <a:solidFill>
                  <a:srgbClr val="265B8E"/>
                </a:solidFill>
              </a:rPr>
              <a:t>Core Java • CAM5001C • Unit 1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1822" y="121798"/>
            <a:ext cx="2580178" cy="4640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1496</Words>
  <Application>Microsoft Office PowerPoint</Application>
  <PresentationFormat>Custom</PresentationFormat>
  <Paragraphs>206</Paragraphs>
  <Slides>28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Admin</cp:lastModifiedBy>
  <cp:revision>6</cp:revision>
  <dcterms:created xsi:type="dcterms:W3CDTF">2013-01-27T09:14:16Z</dcterms:created>
  <dcterms:modified xsi:type="dcterms:W3CDTF">2026-08-19T09:34:22Z</dcterms:modified>
  <cp:category/>
</cp:coreProperties>
</file>