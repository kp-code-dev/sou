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0" roundtripDataSignature="AMtx7mg47VYJjBYYABrojHzTDXPsI2aj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4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4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914400" y="2194560"/>
            <a:ext cx="10058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18304B"/>
                </a:solidFill>
                <a:latin typeface="Calibri"/>
                <a:ea typeface="Calibri"/>
                <a:cs typeface="Calibri"/>
                <a:sym typeface="Calibri"/>
              </a:rPr>
              <a:t>CORE JAVA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2E5C8A"/>
                </a:solidFill>
                <a:latin typeface="Calibri"/>
                <a:ea typeface="Calibri"/>
                <a:cs typeface="Calibri"/>
                <a:sym typeface="Calibri"/>
              </a:rPr>
              <a:t>UNIT 2: INHERITANCE AND INTERFACE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6C74"/>
                </a:solidFill>
                <a:latin typeface="Calibri"/>
                <a:ea typeface="Calibri"/>
                <a:cs typeface="Calibri"/>
                <a:sym typeface="Calibri"/>
              </a:rPr>
              <a:t>CAM5001C | MCA Semester 1</a:t>
            </a:r>
            <a:endParaRPr/>
          </a:p>
        </p:txBody>
      </p:sp>
      <p:pic>
        <p:nvPicPr>
          <p:cNvPr descr="SOU LOGO.png"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715" y="3"/>
            <a:ext cx="4251961" cy="76479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/>
          <p:nvPr/>
        </p:nvSpPr>
        <p:spPr>
          <a:xfrm>
            <a:off x="685800" y="6510528"/>
            <a:ext cx="10789920" cy="18288"/>
          </a:xfrm>
          <a:prstGeom prst="rect">
            <a:avLst/>
          </a:prstGeom>
          <a:solidFill>
            <a:srgbClr val="2E5C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164592" y="6181344"/>
            <a:ext cx="457200" cy="457200"/>
          </a:xfrm>
          <a:prstGeom prst="ellipse">
            <a:avLst/>
          </a:prstGeom>
          <a:solidFill>
            <a:srgbClr val="18304B"/>
          </a:solidFill>
          <a:ln cap="flat" cmpd="sng" w="9525">
            <a:solidFill>
              <a:srgbClr val="1830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731520" y="625449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6C74"/>
                </a:solidFill>
                <a:latin typeface="Calibri"/>
                <a:ea typeface="Calibri"/>
                <a:cs typeface="Calibri"/>
                <a:sym typeface="Calibri"/>
              </a:rPr>
              <a:t>CAM5001C | Core Java | Unit 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OU LOGO.png" id="93" name="Google Shape;9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715" y="3"/>
            <a:ext cx="4251961" cy="764798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"/>
          <p:cNvSpPr/>
          <p:nvPr/>
        </p:nvSpPr>
        <p:spPr>
          <a:xfrm>
            <a:off x="685800" y="6510528"/>
            <a:ext cx="10789920" cy="18288"/>
          </a:xfrm>
          <a:prstGeom prst="rect">
            <a:avLst/>
          </a:prstGeom>
          <a:solidFill>
            <a:srgbClr val="2E5C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164592" y="6181344"/>
            <a:ext cx="457200" cy="457200"/>
          </a:xfrm>
          <a:prstGeom prst="ellipse">
            <a:avLst/>
          </a:prstGeom>
          <a:solidFill>
            <a:srgbClr val="18304B"/>
          </a:solidFill>
          <a:ln cap="flat" cmpd="sng" w="9525">
            <a:solidFill>
              <a:srgbClr val="1830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731520" y="625449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6C74"/>
                </a:solidFill>
                <a:latin typeface="Calibri"/>
                <a:ea typeface="Calibri"/>
                <a:cs typeface="Calibri"/>
                <a:sym typeface="Calibri"/>
              </a:rPr>
              <a:t>CAM5001C | Core Java | Unit 2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713232" y="9144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8304B"/>
                </a:solidFill>
                <a:latin typeface="Calibri"/>
                <a:ea typeface="Calibri"/>
                <a:cs typeface="Calibri"/>
                <a:sym typeface="Calibri"/>
              </a:rPr>
              <a:t>Unit 2 – Learning Outcomes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822960" y="1783080"/>
            <a:ext cx="10515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Apply inheritance and polymorphism to build reusable object-oriented Java programs.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Use super, final, abstract classes and interfaces appropriately.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Organize Java programs using packages and access specifiers.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Perform text processing using String and StringBuffer.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Use wrapper classes, Object class and Math utilities in Java applications.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OU LOGO.png" id="103" name="Google Shape;10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715" y="3"/>
            <a:ext cx="4251961" cy="76479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3"/>
          <p:cNvSpPr/>
          <p:nvPr/>
        </p:nvSpPr>
        <p:spPr>
          <a:xfrm>
            <a:off x="685800" y="6510528"/>
            <a:ext cx="10789920" cy="18288"/>
          </a:xfrm>
          <a:prstGeom prst="rect">
            <a:avLst/>
          </a:prstGeom>
          <a:solidFill>
            <a:srgbClr val="2E5C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164592" y="6181344"/>
            <a:ext cx="457200" cy="457200"/>
          </a:xfrm>
          <a:prstGeom prst="ellipse">
            <a:avLst/>
          </a:prstGeom>
          <a:solidFill>
            <a:srgbClr val="18304B"/>
          </a:solidFill>
          <a:ln cap="flat" cmpd="sng" w="9525">
            <a:solidFill>
              <a:srgbClr val="1830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06" name="Google Shape;106;p3"/>
          <p:cNvSpPr txBox="1"/>
          <p:nvPr/>
        </p:nvSpPr>
        <p:spPr>
          <a:xfrm>
            <a:off x="731520" y="625449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6C74"/>
                </a:solidFill>
                <a:latin typeface="Calibri"/>
                <a:ea typeface="Calibri"/>
                <a:cs typeface="Calibri"/>
                <a:sym typeface="Calibri"/>
              </a:rPr>
              <a:t>CAM5001C | Core Java | Unit 2</a:t>
            </a:r>
            <a:endParaRPr/>
          </a:p>
        </p:txBody>
      </p:sp>
      <p:sp>
        <p:nvSpPr>
          <p:cNvPr id="107" name="Google Shape;107;p3"/>
          <p:cNvSpPr txBox="1"/>
          <p:nvPr/>
        </p:nvSpPr>
        <p:spPr>
          <a:xfrm>
            <a:off x="713232" y="9144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8304B"/>
                </a:solidFill>
                <a:latin typeface="Calibri"/>
                <a:ea typeface="Calibri"/>
                <a:cs typeface="Calibri"/>
                <a:sym typeface="Calibri"/>
              </a:rPr>
              <a:t>Introduction to Inheritance</a:t>
            </a:r>
            <a:endParaRPr/>
          </a:p>
        </p:txBody>
      </p:sp>
      <p:sp>
        <p:nvSpPr>
          <p:cNvPr id="108" name="Google Shape;108;p3"/>
          <p:cNvSpPr txBox="1"/>
          <p:nvPr/>
        </p:nvSpPr>
        <p:spPr>
          <a:xfrm>
            <a:off x="822960" y="1783080"/>
            <a:ext cx="10515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Inheritance allows a subclass to acquire accessible data and behavior from a superclass.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Superclass is also called parent/base class; subclass is also called child/derived class.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Java uses the extends keyword for class inheritance.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Inheritance supports code reuse, specialization and hierarchical design.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Constructors are not inherited, but subclass constructors can invoke superclass constructors.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OU LOGO.png" id="113" name="Google Shape;11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715" y="3"/>
            <a:ext cx="4251961" cy="76479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"/>
          <p:cNvSpPr/>
          <p:nvPr/>
        </p:nvSpPr>
        <p:spPr>
          <a:xfrm>
            <a:off x="685800" y="6510528"/>
            <a:ext cx="10789920" cy="18288"/>
          </a:xfrm>
          <a:prstGeom prst="rect">
            <a:avLst/>
          </a:prstGeom>
          <a:solidFill>
            <a:srgbClr val="2E5C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164592" y="6181344"/>
            <a:ext cx="457200" cy="457200"/>
          </a:xfrm>
          <a:prstGeom prst="ellipse">
            <a:avLst/>
          </a:prstGeom>
          <a:solidFill>
            <a:srgbClr val="18304B"/>
          </a:solidFill>
          <a:ln cap="flat" cmpd="sng" w="9525">
            <a:solidFill>
              <a:srgbClr val="1830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16" name="Google Shape;116;p4"/>
          <p:cNvSpPr txBox="1"/>
          <p:nvPr/>
        </p:nvSpPr>
        <p:spPr>
          <a:xfrm>
            <a:off x="731520" y="625449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6C74"/>
                </a:solidFill>
                <a:latin typeface="Calibri"/>
                <a:ea typeface="Calibri"/>
                <a:cs typeface="Calibri"/>
                <a:sym typeface="Calibri"/>
              </a:rPr>
              <a:t>CAM5001C | Core Java | Unit 2</a:t>
            </a:r>
            <a:endParaRPr/>
          </a:p>
        </p:txBody>
      </p:sp>
      <p:sp>
        <p:nvSpPr>
          <p:cNvPr id="117" name="Google Shape;117;p4"/>
          <p:cNvSpPr txBox="1"/>
          <p:nvPr/>
        </p:nvSpPr>
        <p:spPr>
          <a:xfrm>
            <a:off x="713232" y="9144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8304B"/>
                </a:solidFill>
                <a:latin typeface="Calibri"/>
                <a:ea typeface="Calibri"/>
                <a:cs typeface="Calibri"/>
                <a:sym typeface="Calibri"/>
              </a:rPr>
              <a:t>Inheritance – Simple Example</a:t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868680" y="1874519"/>
            <a:ext cx="10287000" cy="361188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CDD7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class Animal {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void eat() { System.out.println("Eating"); }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class Dog extends Animal {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void bark() { System.out.println("Barking"); }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public static void main(String[] args) {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    Dog d = new Dog();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    d.eat();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    d.bark();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OU LOGO.png" id="123" name="Google Shape;12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715" y="3"/>
            <a:ext cx="4251961" cy="764798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5"/>
          <p:cNvSpPr/>
          <p:nvPr/>
        </p:nvSpPr>
        <p:spPr>
          <a:xfrm>
            <a:off x="685800" y="6510528"/>
            <a:ext cx="10789920" cy="18288"/>
          </a:xfrm>
          <a:prstGeom prst="rect">
            <a:avLst/>
          </a:prstGeom>
          <a:solidFill>
            <a:srgbClr val="2E5C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164592" y="6181344"/>
            <a:ext cx="457200" cy="457200"/>
          </a:xfrm>
          <a:prstGeom prst="ellipse">
            <a:avLst/>
          </a:prstGeom>
          <a:solidFill>
            <a:srgbClr val="18304B"/>
          </a:solidFill>
          <a:ln cap="flat" cmpd="sng" w="9525">
            <a:solidFill>
              <a:srgbClr val="1830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26" name="Google Shape;126;p5"/>
          <p:cNvSpPr txBox="1"/>
          <p:nvPr/>
        </p:nvSpPr>
        <p:spPr>
          <a:xfrm>
            <a:off x="731520" y="625449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6C74"/>
                </a:solidFill>
                <a:latin typeface="Calibri"/>
                <a:ea typeface="Calibri"/>
                <a:cs typeface="Calibri"/>
                <a:sym typeface="Calibri"/>
              </a:rPr>
              <a:t>CAM5001C | Core Java | Unit 2</a:t>
            </a:r>
            <a:endParaRPr/>
          </a:p>
        </p:txBody>
      </p:sp>
      <p:sp>
        <p:nvSpPr>
          <p:cNvPr id="127" name="Google Shape;127;p5"/>
          <p:cNvSpPr txBox="1"/>
          <p:nvPr/>
        </p:nvSpPr>
        <p:spPr>
          <a:xfrm>
            <a:off x="713232" y="9144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8304B"/>
                </a:solidFill>
                <a:latin typeface="Calibri"/>
                <a:ea typeface="Calibri"/>
                <a:cs typeface="Calibri"/>
                <a:sym typeface="Calibri"/>
              </a:rPr>
              <a:t>Types of Inheritance</a:t>
            </a:r>
            <a:endParaRPr/>
          </a:p>
        </p:txBody>
      </p:sp>
      <p:sp>
        <p:nvSpPr>
          <p:cNvPr id="128" name="Google Shape;128;p5"/>
          <p:cNvSpPr txBox="1"/>
          <p:nvPr/>
        </p:nvSpPr>
        <p:spPr>
          <a:xfrm>
            <a:off x="822960" y="1783080"/>
            <a:ext cx="10515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Single Inheritance: one child inherits from one parent.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Multilevel Inheritance: inheritance forms a chain, e.g., A → B → C.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Hierarchical Inheritance: multiple subclasses inherit from one superclass.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Java does not support multiple inheritance of classes directly.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Multiple contracts/behaviors can be achieved using interfaces.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OU LOGO.png" id="133" name="Google Shape;13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715" y="3"/>
            <a:ext cx="4251961" cy="76479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6"/>
          <p:cNvSpPr/>
          <p:nvPr/>
        </p:nvSpPr>
        <p:spPr>
          <a:xfrm>
            <a:off x="685800" y="6510528"/>
            <a:ext cx="10789920" cy="18288"/>
          </a:xfrm>
          <a:prstGeom prst="rect">
            <a:avLst/>
          </a:prstGeom>
          <a:solidFill>
            <a:srgbClr val="2E5C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164592" y="6181344"/>
            <a:ext cx="457200" cy="457200"/>
          </a:xfrm>
          <a:prstGeom prst="ellipse">
            <a:avLst/>
          </a:prstGeom>
          <a:solidFill>
            <a:srgbClr val="18304B"/>
          </a:solidFill>
          <a:ln cap="flat" cmpd="sng" w="9525">
            <a:solidFill>
              <a:srgbClr val="1830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36" name="Google Shape;136;p6"/>
          <p:cNvSpPr txBox="1"/>
          <p:nvPr/>
        </p:nvSpPr>
        <p:spPr>
          <a:xfrm>
            <a:off x="731520" y="625449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6C74"/>
                </a:solidFill>
                <a:latin typeface="Calibri"/>
                <a:ea typeface="Calibri"/>
                <a:cs typeface="Calibri"/>
                <a:sym typeface="Calibri"/>
              </a:rPr>
              <a:t>CAM5001C | Core Java | Unit 2</a:t>
            </a:r>
            <a:endParaRPr/>
          </a:p>
        </p:txBody>
      </p:sp>
      <p:sp>
        <p:nvSpPr>
          <p:cNvPr id="137" name="Google Shape;137;p6"/>
          <p:cNvSpPr txBox="1"/>
          <p:nvPr/>
        </p:nvSpPr>
        <p:spPr>
          <a:xfrm>
            <a:off x="713232" y="9144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8304B"/>
                </a:solidFill>
                <a:latin typeface="Calibri"/>
                <a:ea typeface="Calibri"/>
                <a:cs typeface="Calibri"/>
                <a:sym typeface="Calibri"/>
              </a:rPr>
              <a:t>super Keyword</a:t>
            </a:r>
            <a:endParaRPr/>
          </a:p>
        </p:txBody>
      </p:sp>
      <p:sp>
        <p:nvSpPr>
          <p:cNvPr id="138" name="Google Shape;138;p6"/>
          <p:cNvSpPr txBox="1"/>
          <p:nvPr/>
        </p:nvSpPr>
        <p:spPr>
          <a:xfrm>
            <a:off x="822960" y="1783080"/>
            <a:ext cx="10515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super refers to the immediate superclass part of the current object.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super.variable accesses a hidden superclass field.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super.method() calls a superclass version of an overridden method.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super(...) invokes a superclass constructor.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When explicitly used, super(...) must be the first statement in a constructor.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OU LOGO.png" id="143" name="Google Shape;14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715" y="3"/>
            <a:ext cx="4251961" cy="764798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7"/>
          <p:cNvSpPr/>
          <p:nvPr/>
        </p:nvSpPr>
        <p:spPr>
          <a:xfrm>
            <a:off x="685800" y="6510528"/>
            <a:ext cx="10789920" cy="18288"/>
          </a:xfrm>
          <a:prstGeom prst="rect">
            <a:avLst/>
          </a:prstGeom>
          <a:solidFill>
            <a:srgbClr val="2E5C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164592" y="6181344"/>
            <a:ext cx="457200" cy="457200"/>
          </a:xfrm>
          <a:prstGeom prst="ellipse">
            <a:avLst/>
          </a:prstGeom>
          <a:solidFill>
            <a:srgbClr val="18304B"/>
          </a:solidFill>
          <a:ln cap="flat" cmpd="sng" w="9525">
            <a:solidFill>
              <a:srgbClr val="1830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46" name="Google Shape;146;p7"/>
          <p:cNvSpPr txBox="1"/>
          <p:nvPr/>
        </p:nvSpPr>
        <p:spPr>
          <a:xfrm>
            <a:off x="731520" y="625449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6C74"/>
                </a:solidFill>
                <a:latin typeface="Calibri"/>
                <a:ea typeface="Calibri"/>
                <a:cs typeface="Calibri"/>
                <a:sym typeface="Calibri"/>
              </a:rPr>
              <a:t>CAM5001C | Core Java | Unit 2</a:t>
            </a:r>
            <a:endParaRPr/>
          </a:p>
        </p:txBody>
      </p:sp>
      <p:sp>
        <p:nvSpPr>
          <p:cNvPr id="147" name="Google Shape;147;p7"/>
          <p:cNvSpPr txBox="1"/>
          <p:nvPr/>
        </p:nvSpPr>
        <p:spPr>
          <a:xfrm>
            <a:off x="713232" y="9144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8304B"/>
                </a:solidFill>
                <a:latin typeface="Calibri"/>
                <a:ea typeface="Calibri"/>
                <a:cs typeface="Calibri"/>
                <a:sym typeface="Calibri"/>
              </a:rPr>
              <a:t>super – Example Program</a:t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868680" y="1874519"/>
            <a:ext cx="10287000" cy="361188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CDD7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class Parent {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Parent(int x) {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System.out.println("Parent: " + x);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class Child extends Parent {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Child() {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    super(10);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System.out.println("Child");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public static void main(String[] args) {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    new Child();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OU LOGO.png" id="153" name="Google Shape;15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715" y="3"/>
            <a:ext cx="4251961" cy="764798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8"/>
          <p:cNvSpPr/>
          <p:nvPr/>
        </p:nvSpPr>
        <p:spPr>
          <a:xfrm>
            <a:off x="685800" y="6510528"/>
            <a:ext cx="10789920" cy="18288"/>
          </a:xfrm>
          <a:prstGeom prst="rect">
            <a:avLst/>
          </a:prstGeom>
          <a:solidFill>
            <a:srgbClr val="2E5C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164592" y="6181344"/>
            <a:ext cx="457200" cy="457200"/>
          </a:xfrm>
          <a:prstGeom prst="ellipse">
            <a:avLst/>
          </a:prstGeom>
          <a:solidFill>
            <a:srgbClr val="18304B"/>
          </a:solidFill>
          <a:ln cap="flat" cmpd="sng" w="9525">
            <a:solidFill>
              <a:srgbClr val="1830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56" name="Google Shape;156;p8"/>
          <p:cNvSpPr txBox="1"/>
          <p:nvPr/>
        </p:nvSpPr>
        <p:spPr>
          <a:xfrm>
            <a:off x="731520" y="625449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6C74"/>
                </a:solidFill>
                <a:latin typeface="Calibri"/>
                <a:ea typeface="Calibri"/>
                <a:cs typeface="Calibri"/>
                <a:sym typeface="Calibri"/>
              </a:rPr>
              <a:t>CAM5001C | Core Java | Unit 2</a:t>
            </a:r>
            <a:endParaRPr/>
          </a:p>
        </p:txBody>
      </p:sp>
      <p:sp>
        <p:nvSpPr>
          <p:cNvPr id="157" name="Google Shape;157;p8"/>
          <p:cNvSpPr txBox="1"/>
          <p:nvPr/>
        </p:nvSpPr>
        <p:spPr>
          <a:xfrm>
            <a:off x="713232" y="9144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8304B"/>
                </a:solidFill>
                <a:latin typeface="Calibri"/>
                <a:ea typeface="Calibri"/>
                <a:cs typeface="Calibri"/>
                <a:sym typeface="Calibri"/>
              </a:rPr>
              <a:t>Method Overloading</a:t>
            </a:r>
            <a:endParaRPr/>
          </a:p>
        </p:txBody>
      </p:sp>
      <p:sp>
        <p:nvSpPr>
          <p:cNvPr id="158" name="Google Shape;158;p8"/>
          <p:cNvSpPr txBox="1"/>
          <p:nvPr/>
        </p:nvSpPr>
        <p:spPr>
          <a:xfrm>
            <a:off x="822960" y="1783080"/>
            <a:ext cx="10515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Same method name with different parameter lists.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Difference may be in number, type or order of parameters.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Return type alone cannot overload a method.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Resolved mainly at compile time; therefore associated with compile-time polymorphism.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OU LOGO.png" id="163" name="Google Shape;16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92815" y="3"/>
            <a:ext cx="4251961" cy="764798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9"/>
          <p:cNvSpPr/>
          <p:nvPr/>
        </p:nvSpPr>
        <p:spPr>
          <a:xfrm>
            <a:off x="685800" y="6510528"/>
            <a:ext cx="10789920" cy="18288"/>
          </a:xfrm>
          <a:prstGeom prst="rect">
            <a:avLst/>
          </a:prstGeom>
          <a:solidFill>
            <a:srgbClr val="2E5C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164592" y="6181344"/>
            <a:ext cx="457200" cy="457200"/>
          </a:xfrm>
          <a:prstGeom prst="ellipse">
            <a:avLst/>
          </a:prstGeom>
          <a:solidFill>
            <a:srgbClr val="18304B"/>
          </a:solidFill>
          <a:ln cap="flat" cmpd="sng" w="9525">
            <a:solidFill>
              <a:srgbClr val="1830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66" name="Google Shape;166;p9"/>
          <p:cNvSpPr txBox="1"/>
          <p:nvPr/>
        </p:nvSpPr>
        <p:spPr>
          <a:xfrm>
            <a:off x="731520" y="625449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6C74"/>
                </a:solidFill>
                <a:latin typeface="Calibri"/>
                <a:ea typeface="Calibri"/>
                <a:cs typeface="Calibri"/>
                <a:sym typeface="Calibri"/>
              </a:rPr>
              <a:t>CAM5001C | Core Java | Unit 2</a:t>
            </a:r>
            <a:endParaRPr/>
          </a:p>
        </p:txBody>
      </p:sp>
      <p:sp>
        <p:nvSpPr>
          <p:cNvPr id="167" name="Google Shape;167;p9"/>
          <p:cNvSpPr txBox="1"/>
          <p:nvPr/>
        </p:nvSpPr>
        <p:spPr>
          <a:xfrm>
            <a:off x="713232" y="9144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8304B"/>
                </a:solidFill>
                <a:latin typeface="Calibri"/>
                <a:ea typeface="Calibri"/>
                <a:cs typeface="Calibri"/>
                <a:sym typeface="Calibri"/>
              </a:rPr>
              <a:t>Method Overriding</a:t>
            </a:r>
            <a:endParaRPr/>
          </a:p>
        </p:txBody>
      </p:sp>
      <p:sp>
        <p:nvSpPr>
          <p:cNvPr id="168" name="Google Shape;168;p9"/>
          <p:cNvSpPr txBox="1"/>
          <p:nvPr/>
        </p:nvSpPr>
        <p:spPr>
          <a:xfrm>
            <a:off x="822960" y="1783080"/>
            <a:ext cx="10515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A subclass provides a new implementation of an inherited instance method.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Method signature must follow overriding rules.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Supports runtime polymorphism and dynamic method dispatch.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@Override annotation is recommended because it helps the compiler detect mistakes.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OU LOGO.png" id="173" name="Google Shape;17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715" y="3"/>
            <a:ext cx="4251961" cy="76479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0"/>
          <p:cNvSpPr/>
          <p:nvPr/>
        </p:nvSpPr>
        <p:spPr>
          <a:xfrm>
            <a:off x="685800" y="6510528"/>
            <a:ext cx="10789920" cy="18288"/>
          </a:xfrm>
          <a:prstGeom prst="rect">
            <a:avLst/>
          </a:prstGeom>
          <a:solidFill>
            <a:srgbClr val="2E5C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164592" y="6181344"/>
            <a:ext cx="457200" cy="457200"/>
          </a:xfrm>
          <a:prstGeom prst="ellipse">
            <a:avLst/>
          </a:prstGeom>
          <a:solidFill>
            <a:srgbClr val="18304B"/>
          </a:solidFill>
          <a:ln cap="flat" cmpd="sng" w="9525">
            <a:solidFill>
              <a:srgbClr val="1830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176" name="Google Shape;176;p10"/>
          <p:cNvSpPr txBox="1"/>
          <p:nvPr/>
        </p:nvSpPr>
        <p:spPr>
          <a:xfrm>
            <a:off x="731520" y="625449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6C74"/>
                </a:solidFill>
                <a:latin typeface="Calibri"/>
                <a:ea typeface="Calibri"/>
                <a:cs typeface="Calibri"/>
                <a:sym typeface="Calibri"/>
              </a:rPr>
              <a:t>CAM5001C | Core Java | Unit 2</a:t>
            </a:r>
            <a:endParaRPr/>
          </a:p>
        </p:txBody>
      </p:sp>
      <p:sp>
        <p:nvSpPr>
          <p:cNvPr id="177" name="Google Shape;177;p10"/>
          <p:cNvSpPr txBox="1"/>
          <p:nvPr/>
        </p:nvSpPr>
        <p:spPr>
          <a:xfrm>
            <a:off x="713232" y="9144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8304B"/>
                </a:solidFill>
                <a:latin typeface="Calibri"/>
                <a:ea typeface="Calibri"/>
                <a:cs typeface="Calibri"/>
                <a:sym typeface="Calibri"/>
              </a:rPr>
              <a:t>Overloading vs Overriding</a:t>
            </a:r>
            <a:endParaRPr/>
          </a:p>
        </p:txBody>
      </p:sp>
      <p:sp>
        <p:nvSpPr>
          <p:cNvPr id="178" name="Google Shape;178;p10"/>
          <p:cNvSpPr txBox="1"/>
          <p:nvPr/>
        </p:nvSpPr>
        <p:spPr>
          <a:xfrm>
            <a:off x="822960" y="1783080"/>
            <a:ext cx="10515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Overloading: same class or inheritance context; same name, different parameter list.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Overriding: parent-child relationship; compatible same method signature.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Overloading → compile-time method selection.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Overriding → runtime method selection for polymorphic instance calls.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OU LOGO.png" id="183" name="Google Shape;18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715" y="3"/>
            <a:ext cx="4251961" cy="764798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1"/>
          <p:cNvSpPr/>
          <p:nvPr/>
        </p:nvSpPr>
        <p:spPr>
          <a:xfrm>
            <a:off x="685800" y="6510528"/>
            <a:ext cx="10789920" cy="18288"/>
          </a:xfrm>
          <a:prstGeom prst="rect">
            <a:avLst/>
          </a:prstGeom>
          <a:solidFill>
            <a:srgbClr val="2E5C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164592" y="6181344"/>
            <a:ext cx="457200" cy="457200"/>
          </a:xfrm>
          <a:prstGeom prst="ellipse">
            <a:avLst/>
          </a:prstGeom>
          <a:solidFill>
            <a:srgbClr val="18304B"/>
          </a:solidFill>
          <a:ln cap="flat" cmpd="sng" w="9525">
            <a:solidFill>
              <a:srgbClr val="1830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186" name="Google Shape;186;p11"/>
          <p:cNvSpPr txBox="1"/>
          <p:nvPr/>
        </p:nvSpPr>
        <p:spPr>
          <a:xfrm>
            <a:off x="731520" y="625449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6C74"/>
                </a:solidFill>
                <a:latin typeface="Calibri"/>
                <a:ea typeface="Calibri"/>
                <a:cs typeface="Calibri"/>
                <a:sym typeface="Calibri"/>
              </a:rPr>
              <a:t>CAM5001C | Core Java | Unit 2</a:t>
            </a:r>
            <a:endParaRPr/>
          </a:p>
        </p:txBody>
      </p:sp>
      <p:sp>
        <p:nvSpPr>
          <p:cNvPr id="187" name="Google Shape;187;p11"/>
          <p:cNvSpPr txBox="1"/>
          <p:nvPr/>
        </p:nvSpPr>
        <p:spPr>
          <a:xfrm>
            <a:off x="713232" y="9144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8304B"/>
                </a:solidFill>
                <a:latin typeface="Calibri"/>
                <a:ea typeface="Calibri"/>
                <a:cs typeface="Calibri"/>
                <a:sym typeface="Calibri"/>
              </a:rPr>
              <a:t>Polymorphism and Dynamic Method Dispatch</a:t>
            </a:r>
            <a:endParaRPr/>
          </a:p>
        </p:txBody>
      </p:sp>
      <p:sp>
        <p:nvSpPr>
          <p:cNvPr id="188" name="Google Shape;188;p11"/>
          <p:cNvSpPr txBox="1"/>
          <p:nvPr/>
        </p:nvSpPr>
        <p:spPr>
          <a:xfrm>
            <a:off x="822960" y="1783080"/>
            <a:ext cx="10515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Polymorphism means one reference/interface can represent different object behaviors.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A superclass reference can refer to a subclass object.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For overridden instance methods, the actual object's implementation is selected at runtime.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This supports flexible and extensible software design.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OU LOGO.png" id="193" name="Google Shape;19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715" y="3"/>
            <a:ext cx="4251961" cy="764798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2"/>
          <p:cNvSpPr/>
          <p:nvPr/>
        </p:nvSpPr>
        <p:spPr>
          <a:xfrm>
            <a:off x="685800" y="6510528"/>
            <a:ext cx="10789920" cy="18288"/>
          </a:xfrm>
          <a:prstGeom prst="rect">
            <a:avLst/>
          </a:prstGeom>
          <a:solidFill>
            <a:srgbClr val="2E5C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2"/>
          <p:cNvSpPr/>
          <p:nvPr/>
        </p:nvSpPr>
        <p:spPr>
          <a:xfrm>
            <a:off x="164592" y="6181344"/>
            <a:ext cx="457200" cy="457200"/>
          </a:xfrm>
          <a:prstGeom prst="ellipse">
            <a:avLst/>
          </a:prstGeom>
          <a:solidFill>
            <a:srgbClr val="18304B"/>
          </a:solidFill>
          <a:ln cap="flat" cmpd="sng" w="9525">
            <a:solidFill>
              <a:srgbClr val="1830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196" name="Google Shape;196;p12"/>
          <p:cNvSpPr txBox="1"/>
          <p:nvPr/>
        </p:nvSpPr>
        <p:spPr>
          <a:xfrm>
            <a:off x="731520" y="625449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6C74"/>
                </a:solidFill>
                <a:latin typeface="Calibri"/>
                <a:ea typeface="Calibri"/>
                <a:cs typeface="Calibri"/>
                <a:sym typeface="Calibri"/>
              </a:rPr>
              <a:t>CAM5001C | Core Java | Unit 2</a:t>
            </a:r>
            <a:endParaRPr/>
          </a:p>
        </p:txBody>
      </p:sp>
      <p:sp>
        <p:nvSpPr>
          <p:cNvPr id="197" name="Google Shape;197;p12"/>
          <p:cNvSpPr txBox="1"/>
          <p:nvPr/>
        </p:nvSpPr>
        <p:spPr>
          <a:xfrm>
            <a:off x="713232" y="9144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8304B"/>
                </a:solidFill>
                <a:latin typeface="Calibri"/>
                <a:ea typeface="Calibri"/>
                <a:cs typeface="Calibri"/>
                <a:sym typeface="Calibri"/>
              </a:rPr>
              <a:t>Runtime Polymorphism – Example</a:t>
            </a:r>
            <a:endParaRPr/>
          </a:p>
        </p:txBody>
      </p:sp>
      <p:sp>
        <p:nvSpPr>
          <p:cNvPr id="198" name="Google Shape;198;p12"/>
          <p:cNvSpPr/>
          <p:nvPr/>
        </p:nvSpPr>
        <p:spPr>
          <a:xfrm>
            <a:off x="868680" y="1874519"/>
            <a:ext cx="10287000" cy="361188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CDD7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class Animal {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void sound() { System.out.println("Animal Sound"); }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class Dog extends Animal {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void sound() { System.out.println("Bark"); }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class Test {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public static void main(String[] args) {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    Animal a = new Dog();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    a.sound();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OU LOGO.png" id="203" name="Google Shape;20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715" y="3"/>
            <a:ext cx="4251961" cy="764798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3"/>
          <p:cNvSpPr/>
          <p:nvPr/>
        </p:nvSpPr>
        <p:spPr>
          <a:xfrm>
            <a:off x="685800" y="6510528"/>
            <a:ext cx="10789920" cy="18288"/>
          </a:xfrm>
          <a:prstGeom prst="rect">
            <a:avLst/>
          </a:prstGeom>
          <a:solidFill>
            <a:srgbClr val="2E5C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3"/>
          <p:cNvSpPr/>
          <p:nvPr/>
        </p:nvSpPr>
        <p:spPr>
          <a:xfrm>
            <a:off x="164592" y="6181344"/>
            <a:ext cx="457200" cy="457200"/>
          </a:xfrm>
          <a:prstGeom prst="ellipse">
            <a:avLst/>
          </a:prstGeom>
          <a:solidFill>
            <a:srgbClr val="18304B"/>
          </a:solidFill>
          <a:ln cap="flat" cmpd="sng" w="9525">
            <a:solidFill>
              <a:srgbClr val="1830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</p:txBody>
      </p:sp>
      <p:sp>
        <p:nvSpPr>
          <p:cNvPr id="206" name="Google Shape;206;p13"/>
          <p:cNvSpPr txBox="1"/>
          <p:nvPr/>
        </p:nvSpPr>
        <p:spPr>
          <a:xfrm>
            <a:off x="731520" y="625449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6C74"/>
                </a:solidFill>
                <a:latin typeface="Calibri"/>
                <a:ea typeface="Calibri"/>
                <a:cs typeface="Calibri"/>
                <a:sym typeface="Calibri"/>
              </a:rPr>
              <a:t>CAM5001C | Core Java | Unit 2</a:t>
            </a:r>
            <a:endParaRPr/>
          </a:p>
        </p:txBody>
      </p:sp>
      <p:sp>
        <p:nvSpPr>
          <p:cNvPr id="207" name="Google Shape;207;p13"/>
          <p:cNvSpPr txBox="1"/>
          <p:nvPr/>
        </p:nvSpPr>
        <p:spPr>
          <a:xfrm>
            <a:off x="713232" y="9144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8304B"/>
                </a:solidFill>
                <a:latin typeface="Calibri"/>
                <a:ea typeface="Calibri"/>
                <a:cs typeface="Calibri"/>
                <a:sym typeface="Calibri"/>
              </a:rPr>
              <a:t>final Keyword</a:t>
            </a:r>
            <a:endParaRPr/>
          </a:p>
        </p:txBody>
      </p:sp>
      <p:sp>
        <p:nvSpPr>
          <p:cNvPr id="208" name="Google Shape;208;p13"/>
          <p:cNvSpPr txBox="1"/>
          <p:nvPr/>
        </p:nvSpPr>
        <p:spPr>
          <a:xfrm>
            <a:off x="822960" y="1783080"/>
            <a:ext cx="10515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final variable: can be assigned only once.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final method: cannot be overridden by subclasses.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final class: cannot be extended.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final is different from finally (exception handling) and finalize (legacy method concept).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OU LOGO.png" id="213" name="Google Shape;21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715" y="-44822"/>
            <a:ext cx="4251961" cy="764798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4"/>
          <p:cNvSpPr/>
          <p:nvPr/>
        </p:nvSpPr>
        <p:spPr>
          <a:xfrm>
            <a:off x="685800" y="6510528"/>
            <a:ext cx="10789920" cy="18288"/>
          </a:xfrm>
          <a:prstGeom prst="rect">
            <a:avLst/>
          </a:prstGeom>
          <a:solidFill>
            <a:srgbClr val="2E5C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4"/>
          <p:cNvSpPr/>
          <p:nvPr/>
        </p:nvSpPr>
        <p:spPr>
          <a:xfrm>
            <a:off x="164592" y="6181344"/>
            <a:ext cx="457200" cy="457200"/>
          </a:xfrm>
          <a:prstGeom prst="ellipse">
            <a:avLst/>
          </a:prstGeom>
          <a:solidFill>
            <a:srgbClr val="18304B"/>
          </a:solidFill>
          <a:ln cap="flat" cmpd="sng" w="9525">
            <a:solidFill>
              <a:srgbClr val="1830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216" name="Google Shape;216;p14"/>
          <p:cNvSpPr txBox="1"/>
          <p:nvPr/>
        </p:nvSpPr>
        <p:spPr>
          <a:xfrm>
            <a:off x="731520" y="625449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6C74"/>
                </a:solidFill>
                <a:latin typeface="Calibri"/>
                <a:ea typeface="Calibri"/>
                <a:cs typeface="Calibri"/>
                <a:sym typeface="Calibri"/>
              </a:rPr>
              <a:t>CAM5001C | Core Java | Unit 2</a:t>
            </a:r>
            <a:endParaRPr/>
          </a:p>
        </p:txBody>
      </p:sp>
      <p:sp>
        <p:nvSpPr>
          <p:cNvPr id="217" name="Google Shape;217;p14"/>
          <p:cNvSpPr txBox="1"/>
          <p:nvPr/>
        </p:nvSpPr>
        <p:spPr>
          <a:xfrm>
            <a:off x="713232" y="9144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8304B"/>
                </a:solidFill>
                <a:latin typeface="Calibri"/>
                <a:ea typeface="Calibri"/>
                <a:cs typeface="Calibri"/>
                <a:sym typeface="Calibri"/>
              </a:rPr>
              <a:t>Abstract Class and Abstract Method</a:t>
            </a:r>
            <a:endParaRPr/>
          </a:p>
        </p:txBody>
      </p:sp>
      <p:sp>
        <p:nvSpPr>
          <p:cNvPr id="218" name="Google Shape;218;p14"/>
          <p:cNvSpPr txBox="1"/>
          <p:nvPr/>
        </p:nvSpPr>
        <p:spPr>
          <a:xfrm>
            <a:off x="822960" y="1783080"/>
            <a:ext cx="10515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An abstract class is declared using abstract and cannot be instantiated directly.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An abstract method has no implementation body.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A concrete subclass must implement inherited abstract methods unless it is also abstract.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Abstract classes can contain fields, constructors, concrete methods and abstract methods.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OU LOGO.png" id="223" name="Google Shape;22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715" y="3"/>
            <a:ext cx="4251961" cy="764798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5"/>
          <p:cNvSpPr/>
          <p:nvPr/>
        </p:nvSpPr>
        <p:spPr>
          <a:xfrm>
            <a:off x="685800" y="6510528"/>
            <a:ext cx="10789920" cy="18288"/>
          </a:xfrm>
          <a:prstGeom prst="rect">
            <a:avLst/>
          </a:prstGeom>
          <a:solidFill>
            <a:srgbClr val="2E5C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5"/>
          <p:cNvSpPr/>
          <p:nvPr/>
        </p:nvSpPr>
        <p:spPr>
          <a:xfrm>
            <a:off x="164592" y="6181344"/>
            <a:ext cx="457200" cy="457200"/>
          </a:xfrm>
          <a:prstGeom prst="ellipse">
            <a:avLst/>
          </a:prstGeom>
          <a:solidFill>
            <a:srgbClr val="18304B"/>
          </a:solidFill>
          <a:ln cap="flat" cmpd="sng" w="9525">
            <a:solidFill>
              <a:srgbClr val="1830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226" name="Google Shape;226;p15"/>
          <p:cNvSpPr txBox="1"/>
          <p:nvPr/>
        </p:nvSpPr>
        <p:spPr>
          <a:xfrm>
            <a:off x="731520" y="625449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6C74"/>
                </a:solidFill>
                <a:latin typeface="Calibri"/>
                <a:ea typeface="Calibri"/>
                <a:cs typeface="Calibri"/>
                <a:sym typeface="Calibri"/>
              </a:rPr>
              <a:t>CAM5001C | Core Java | Unit 2</a:t>
            </a:r>
            <a:endParaRPr/>
          </a:p>
        </p:txBody>
      </p:sp>
      <p:sp>
        <p:nvSpPr>
          <p:cNvPr id="227" name="Google Shape;227;p15"/>
          <p:cNvSpPr txBox="1"/>
          <p:nvPr/>
        </p:nvSpPr>
        <p:spPr>
          <a:xfrm>
            <a:off x="713232" y="9144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8304B"/>
                </a:solidFill>
                <a:latin typeface="Calibri"/>
                <a:ea typeface="Calibri"/>
                <a:cs typeface="Calibri"/>
                <a:sym typeface="Calibri"/>
              </a:rPr>
              <a:t>Abstract Class – Example</a:t>
            </a:r>
            <a:endParaRPr/>
          </a:p>
        </p:txBody>
      </p:sp>
      <p:sp>
        <p:nvSpPr>
          <p:cNvPr id="228" name="Google Shape;228;p15"/>
          <p:cNvSpPr/>
          <p:nvPr/>
        </p:nvSpPr>
        <p:spPr>
          <a:xfrm>
            <a:off x="868680" y="1874519"/>
            <a:ext cx="10287000" cy="361188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CDD7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abstract class Shape {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abstract void draw();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class Circle extends Shape {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void draw() {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System.out.println("Drawing Circle");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public static void main(String[] args) {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    Shape s = new Circle();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    s.draw();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OU LOGO.png" id="233" name="Google Shape;23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715" y="-44822"/>
            <a:ext cx="4251961" cy="764798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6"/>
          <p:cNvSpPr/>
          <p:nvPr/>
        </p:nvSpPr>
        <p:spPr>
          <a:xfrm>
            <a:off x="685800" y="6510528"/>
            <a:ext cx="10789920" cy="18288"/>
          </a:xfrm>
          <a:prstGeom prst="rect">
            <a:avLst/>
          </a:prstGeom>
          <a:solidFill>
            <a:srgbClr val="2E5C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6"/>
          <p:cNvSpPr/>
          <p:nvPr/>
        </p:nvSpPr>
        <p:spPr>
          <a:xfrm>
            <a:off x="164592" y="6181344"/>
            <a:ext cx="457200" cy="457200"/>
          </a:xfrm>
          <a:prstGeom prst="ellipse">
            <a:avLst/>
          </a:prstGeom>
          <a:solidFill>
            <a:srgbClr val="18304B"/>
          </a:solidFill>
          <a:ln cap="flat" cmpd="sng" w="9525">
            <a:solidFill>
              <a:srgbClr val="1830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236" name="Google Shape;236;p16"/>
          <p:cNvSpPr txBox="1"/>
          <p:nvPr/>
        </p:nvSpPr>
        <p:spPr>
          <a:xfrm>
            <a:off x="731520" y="625449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6C74"/>
                </a:solidFill>
                <a:latin typeface="Calibri"/>
                <a:ea typeface="Calibri"/>
                <a:cs typeface="Calibri"/>
                <a:sym typeface="Calibri"/>
              </a:rPr>
              <a:t>CAM5001C | Core Java | Unit 2</a:t>
            </a:r>
            <a:endParaRPr/>
          </a:p>
        </p:txBody>
      </p:sp>
      <p:sp>
        <p:nvSpPr>
          <p:cNvPr id="237" name="Google Shape;237;p16"/>
          <p:cNvSpPr txBox="1"/>
          <p:nvPr/>
        </p:nvSpPr>
        <p:spPr>
          <a:xfrm>
            <a:off x="713232" y="9144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8304B"/>
                </a:solidFill>
                <a:latin typeface="Calibri"/>
                <a:ea typeface="Calibri"/>
                <a:cs typeface="Calibri"/>
                <a:sym typeface="Calibri"/>
              </a:rPr>
              <a:t>Interfaces</a:t>
            </a:r>
            <a:endParaRPr/>
          </a:p>
        </p:txBody>
      </p:sp>
      <p:sp>
        <p:nvSpPr>
          <p:cNvPr id="238" name="Google Shape;238;p16"/>
          <p:cNvSpPr txBox="1"/>
          <p:nvPr/>
        </p:nvSpPr>
        <p:spPr>
          <a:xfrm>
            <a:off x="822960" y="1783080"/>
            <a:ext cx="10515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An interface defines a contract that implementing classes follow.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A class uses implements to implement an interface.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A class can implement multiple interfaces.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Interface fields are implicitly public static final.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Modern Java interfaces may also contain default, static and private methods under applicable rules.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OU LOGO.png" id="243" name="Google Shape;2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715" y="3"/>
            <a:ext cx="4251961" cy="764798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7"/>
          <p:cNvSpPr/>
          <p:nvPr/>
        </p:nvSpPr>
        <p:spPr>
          <a:xfrm>
            <a:off x="685800" y="6510528"/>
            <a:ext cx="10789920" cy="18288"/>
          </a:xfrm>
          <a:prstGeom prst="rect">
            <a:avLst/>
          </a:prstGeom>
          <a:solidFill>
            <a:srgbClr val="2E5C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7"/>
          <p:cNvSpPr/>
          <p:nvPr/>
        </p:nvSpPr>
        <p:spPr>
          <a:xfrm>
            <a:off x="164592" y="6181344"/>
            <a:ext cx="457200" cy="457200"/>
          </a:xfrm>
          <a:prstGeom prst="ellipse">
            <a:avLst/>
          </a:prstGeom>
          <a:solidFill>
            <a:srgbClr val="18304B"/>
          </a:solidFill>
          <a:ln cap="flat" cmpd="sng" w="9525">
            <a:solidFill>
              <a:srgbClr val="1830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/>
          </a:p>
        </p:txBody>
      </p:sp>
      <p:sp>
        <p:nvSpPr>
          <p:cNvPr id="246" name="Google Shape;246;p17"/>
          <p:cNvSpPr txBox="1"/>
          <p:nvPr/>
        </p:nvSpPr>
        <p:spPr>
          <a:xfrm>
            <a:off x="731520" y="625449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6C74"/>
                </a:solidFill>
                <a:latin typeface="Calibri"/>
                <a:ea typeface="Calibri"/>
                <a:cs typeface="Calibri"/>
                <a:sym typeface="Calibri"/>
              </a:rPr>
              <a:t>CAM5001C | Core Java | Unit 2</a:t>
            </a:r>
            <a:endParaRPr/>
          </a:p>
        </p:txBody>
      </p:sp>
      <p:sp>
        <p:nvSpPr>
          <p:cNvPr id="247" name="Google Shape;247;p17"/>
          <p:cNvSpPr txBox="1"/>
          <p:nvPr/>
        </p:nvSpPr>
        <p:spPr>
          <a:xfrm>
            <a:off x="713232" y="9144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8304B"/>
                </a:solidFill>
                <a:latin typeface="Calibri"/>
                <a:ea typeface="Calibri"/>
                <a:cs typeface="Calibri"/>
                <a:sym typeface="Calibri"/>
              </a:rPr>
              <a:t>Interface – Example Program</a:t>
            </a:r>
            <a:endParaRPr/>
          </a:p>
        </p:txBody>
      </p:sp>
      <p:sp>
        <p:nvSpPr>
          <p:cNvPr id="248" name="Google Shape;248;p17"/>
          <p:cNvSpPr/>
          <p:nvPr/>
        </p:nvSpPr>
        <p:spPr>
          <a:xfrm>
            <a:off x="868680" y="1874519"/>
            <a:ext cx="10287000" cy="361188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CDD7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interface Printable {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void print();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class Report implements Printable {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public void print() {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System.out.println("Printing Report");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public static void main(String[] args) {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    new Report().print();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OU LOGO.png" id="253" name="Google Shape;25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715" y="3"/>
            <a:ext cx="4251961" cy="764798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8"/>
          <p:cNvSpPr/>
          <p:nvPr/>
        </p:nvSpPr>
        <p:spPr>
          <a:xfrm>
            <a:off x="685800" y="6510528"/>
            <a:ext cx="10789920" cy="18288"/>
          </a:xfrm>
          <a:prstGeom prst="rect">
            <a:avLst/>
          </a:prstGeom>
          <a:solidFill>
            <a:srgbClr val="2E5C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8"/>
          <p:cNvSpPr/>
          <p:nvPr/>
        </p:nvSpPr>
        <p:spPr>
          <a:xfrm>
            <a:off x="164592" y="6181344"/>
            <a:ext cx="457200" cy="457200"/>
          </a:xfrm>
          <a:prstGeom prst="ellipse">
            <a:avLst/>
          </a:prstGeom>
          <a:solidFill>
            <a:srgbClr val="18304B"/>
          </a:solidFill>
          <a:ln cap="flat" cmpd="sng" w="9525">
            <a:solidFill>
              <a:srgbClr val="1830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256" name="Google Shape;256;p18"/>
          <p:cNvSpPr txBox="1"/>
          <p:nvPr/>
        </p:nvSpPr>
        <p:spPr>
          <a:xfrm>
            <a:off x="731520" y="625449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6C74"/>
                </a:solidFill>
                <a:latin typeface="Calibri"/>
                <a:ea typeface="Calibri"/>
                <a:cs typeface="Calibri"/>
                <a:sym typeface="Calibri"/>
              </a:rPr>
              <a:t>CAM5001C | Core Java | Unit 2</a:t>
            </a:r>
            <a:endParaRPr/>
          </a:p>
        </p:txBody>
      </p:sp>
      <p:sp>
        <p:nvSpPr>
          <p:cNvPr id="257" name="Google Shape;257;p18"/>
          <p:cNvSpPr txBox="1"/>
          <p:nvPr/>
        </p:nvSpPr>
        <p:spPr>
          <a:xfrm>
            <a:off x="713232" y="9144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8304B"/>
                </a:solidFill>
                <a:latin typeface="Calibri"/>
                <a:ea typeface="Calibri"/>
                <a:cs typeface="Calibri"/>
                <a:sym typeface="Calibri"/>
              </a:rPr>
              <a:t>Multiple Inheritance through Interfaces</a:t>
            </a:r>
            <a:endParaRPr/>
          </a:p>
        </p:txBody>
      </p:sp>
      <p:sp>
        <p:nvSpPr>
          <p:cNvPr id="258" name="Google Shape;258;p18"/>
          <p:cNvSpPr txBox="1"/>
          <p:nvPr/>
        </p:nvSpPr>
        <p:spPr>
          <a:xfrm>
            <a:off x="822960" y="1783080"/>
            <a:ext cx="10515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An interface can extend one or more interfaces.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A class may implement multiple interfaces.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This allows one class to satisfy multiple contracts without multiple class inheritance.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Default-method conflicts may require explicit resolution in the implementing class.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OU LOGO.png" id="263" name="Google Shape;26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715" y="3"/>
            <a:ext cx="4251961" cy="764798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9"/>
          <p:cNvSpPr/>
          <p:nvPr/>
        </p:nvSpPr>
        <p:spPr>
          <a:xfrm>
            <a:off x="685800" y="6510528"/>
            <a:ext cx="10789920" cy="18288"/>
          </a:xfrm>
          <a:prstGeom prst="rect">
            <a:avLst/>
          </a:prstGeom>
          <a:solidFill>
            <a:srgbClr val="2E5C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164592" y="6181344"/>
            <a:ext cx="457200" cy="457200"/>
          </a:xfrm>
          <a:prstGeom prst="ellipse">
            <a:avLst/>
          </a:prstGeom>
          <a:solidFill>
            <a:srgbClr val="18304B"/>
          </a:solidFill>
          <a:ln cap="flat" cmpd="sng" w="9525">
            <a:solidFill>
              <a:srgbClr val="1830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/>
          </a:p>
        </p:txBody>
      </p:sp>
      <p:sp>
        <p:nvSpPr>
          <p:cNvPr id="266" name="Google Shape;266;p19"/>
          <p:cNvSpPr txBox="1"/>
          <p:nvPr/>
        </p:nvSpPr>
        <p:spPr>
          <a:xfrm>
            <a:off x="731520" y="625449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6C74"/>
                </a:solidFill>
                <a:latin typeface="Calibri"/>
                <a:ea typeface="Calibri"/>
                <a:cs typeface="Calibri"/>
                <a:sym typeface="Calibri"/>
              </a:rPr>
              <a:t>CAM5001C | Core Java | Unit 2</a:t>
            </a:r>
            <a:endParaRPr/>
          </a:p>
        </p:txBody>
      </p:sp>
      <p:sp>
        <p:nvSpPr>
          <p:cNvPr id="267" name="Google Shape;267;p19"/>
          <p:cNvSpPr txBox="1"/>
          <p:nvPr/>
        </p:nvSpPr>
        <p:spPr>
          <a:xfrm>
            <a:off x="713232" y="9144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8304B"/>
                </a:solidFill>
                <a:latin typeface="Calibri"/>
                <a:ea typeface="Calibri"/>
                <a:cs typeface="Calibri"/>
                <a:sym typeface="Calibri"/>
              </a:rPr>
              <a:t>Object Class</a:t>
            </a:r>
            <a:endParaRPr/>
          </a:p>
        </p:txBody>
      </p:sp>
      <p:sp>
        <p:nvSpPr>
          <p:cNvPr id="268" name="Google Shape;268;p19"/>
          <p:cNvSpPr txBox="1"/>
          <p:nvPr/>
        </p:nvSpPr>
        <p:spPr>
          <a:xfrm>
            <a:off x="822960" y="1783080"/>
            <a:ext cx="10515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java.lang.Object is the root superclass of ordinary Java class hierarchies.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Important methods include toString(), equals(), hashCode() and getClass().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Override toString() for a meaningful text representation.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When logical equality is customized with equals(), hashCode() should remain consistent with it.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OU LOGO.png" id="273" name="Google Shape;27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715" y="3"/>
            <a:ext cx="4251961" cy="764798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0"/>
          <p:cNvSpPr/>
          <p:nvPr/>
        </p:nvSpPr>
        <p:spPr>
          <a:xfrm>
            <a:off x="685800" y="6510528"/>
            <a:ext cx="10789920" cy="18288"/>
          </a:xfrm>
          <a:prstGeom prst="rect">
            <a:avLst/>
          </a:prstGeom>
          <a:solidFill>
            <a:srgbClr val="2E5C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0"/>
          <p:cNvSpPr/>
          <p:nvPr/>
        </p:nvSpPr>
        <p:spPr>
          <a:xfrm>
            <a:off x="164592" y="6181344"/>
            <a:ext cx="457200" cy="457200"/>
          </a:xfrm>
          <a:prstGeom prst="ellipse">
            <a:avLst/>
          </a:prstGeom>
          <a:solidFill>
            <a:srgbClr val="18304B"/>
          </a:solidFill>
          <a:ln cap="flat" cmpd="sng" w="9525">
            <a:solidFill>
              <a:srgbClr val="1830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276" name="Google Shape;276;p20"/>
          <p:cNvSpPr txBox="1"/>
          <p:nvPr/>
        </p:nvSpPr>
        <p:spPr>
          <a:xfrm>
            <a:off x="731520" y="625449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6C74"/>
                </a:solidFill>
                <a:latin typeface="Calibri"/>
                <a:ea typeface="Calibri"/>
                <a:cs typeface="Calibri"/>
                <a:sym typeface="Calibri"/>
              </a:rPr>
              <a:t>CAM5001C | Core Java | Unit 2</a:t>
            </a:r>
            <a:endParaRPr/>
          </a:p>
        </p:txBody>
      </p:sp>
      <p:sp>
        <p:nvSpPr>
          <p:cNvPr id="277" name="Google Shape;277;p20"/>
          <p:cNvSpPr txBox="1"/>
          <p:nvPr/>
        </p:nvSpPr>
        <p:spPr>
          <a:xfrm>
            <a:off x="713232" y="9144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8304B"/>
                </a:solidFill>
                <a:latin typeface="Calibri"/>
                <a:ea typeface="Calibri"/>
                <a:cs typeface="Calibri"/>
                <a:sym typeface="Calibri"/>
              </a:rPr>
              <a:t>Packages in Java</a:t>
            </a:r>
            <a:endParaRPr/>
          </a:p>
        </p:txBody>
      </p:sp>
      <p:sp>
        <p:nvSpPr>
          <p:cNvPr id="278" name="Google Shape;278;p20"/>
          <p:cNvSpPr txBox="1"/>
          <p:nvPr/>
        </p:nvSpPr>
        <p:spPr>
          <a:xfrm>
            <a:off x="822960" y="1783080"/>
            <a:ext cx="10515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A package groups related classes and interfaces.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Packages help organize code and reduce naming conflicts.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Use package to declare a package and import to conveniently use accessible external types.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Examples: java.lang, java.util and user-defined packages.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OU LOGO.png" id="283" name="Google Shape;28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715" y="3"/>
            <a:ext cx="4251961" cy="764798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1"/>
          <p:cNvSpPr/>
          <p:nvPr/>
        </p:nvSpPr>
        <p:spPr>
          <a:xfrm>
            <a:off x="685800" y="6510528"/>
            <a:ext cx="10789920" cy="18288"/>
          </a:xfrm>
          <a:prstGeom prst="rect">
            <a:avLst/>
          </a:prstGeom>
          <a:solidFill>
            <a:srgbClr val="2E5C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164592" y="6181344"/>
            <a:ext cx="457200" cy="457200"/>
          </a:xfrm>
          <a:prstGeom prst="ellipse">
            <a:avLst/>
          </a:prstGeom>
          <a:solidFill>
            <a:srgbClr val="18304B"/>
          </a:solidFill>
          <a:ln cap="flat" cmpd="sng" w="9525">
            <a:solidFill>
              <a:srgbClr val="1830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/>
          </a:p>
        </p:txBody>
      </p:sp>
      <p:sp>
        <p:nvSpPr>
          <p:cNvPr id="286" name="Google Shape;286;p21"/>
          <p:cNvSpPr txBox="1"/>
          <p:nvPr/>
        </p:nvSpPr>
        <p:spPr>
          <a:xfrm>
            <a:off x="731520" y="625449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6C74"/>
                </a:solidFill>
                <a:latin typeface="Calibri"/>
                <a:ea typeface="Calibri"/>
                <a:cs typeface="Calibri"/>
                <a:sym typeface="Calibri"/>
              </a:rPr>
              <a:t>CAM5001C | Core Java | Unit 2</a:t>
            </a:r>
            <a:endParaRPr/>
          </a:p>
        </p:txBody>
      </p:sp>
      <p:sp>
        <p:nvSpPr>
          <p:cNvPr id="287" name="Google Shape;287;p21"/>
          <p:cNvSpPr txBox="1"/>
          <p:nvPr/>
        </p:nvSpPr>
        <p:spPr>
          <a:xfrm>
            <a:off x="713232" y="9144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8304B"/>
                </a:solidFill>
                <a:latin typeface="Calibri"/>
                <a:ea typeface="Calibri"/>
                <a:cs typeface="Calibri"/>
                <a:sym typeface="Calibri"/>
              </a:rPr>
              <a:t>Access Specifiers</a:t>
            </a:r>
            <a:endParaRPr/>
          </a:p>
        </p:txBody>
      </p:sp>
      <p:sp>
        <p:nvSpPr>
          <p:cNvPr id="288" name="Google Shape;288;p21"/>
          <p:cNvSpPr txBox="1"/>
          <p:nvPr/>
        </p:nvSpPr>
        <p:spPr>
          <a:xfrm>
            <a:off x="822960" y="1783080"/>
            <a:ext cx="10515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public – accessible wherever permitted by package/module rules.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protected – accessible in the same package and through inheritance under Java rules.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No modifier (package-private) – accessible within the same package.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private – accessible only within the declaring class.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OU LOGO.png" id="293" name="Google Shape;29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37690" y="3"/>
            <a:ext cx="4251961" cy="764798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2"/>
          <p:cNvSpPr/>
          <p:nvPr/>
        </p:nvSpPr>
        <p:spPr>
          <a:xfrm>
            <a:off x="685800" y="6510528"/>
            <a:ext cx="10789920" cy="18288"/>
          </a:xfrm>
          <a:prstGeom prst="rect">
            <a:avLst/>
          </a:prstGeom>
          <a:solidFill>
            <a:srgbClr val="2E5C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2"/>
          <p:cNvSpPr/>
          <p:nvPr/>
        </p:nvSpPr>
        <p:spPr>
          <a:xfrm>
            <a:off x="164592" y="6181344"/>
            <a:ext cx="457200" cy="457200"/>
          </a:xfrm>
          <a:prstGeom prst="ellipse">
            <a:avLst/>
          </a:prstGeom>
          <a:solidFill>
            <a:srgbClr val="18304B"/>
          </a:solidFill>
          <a:ln cap="flat" cmpd="sng" w="9525">
            <a:solidFill>
              <a:srgbClr val="1830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</p:txBody>
      </p:sp>
      <p:sp>
        <p:nvSpPr>
          <p:cNvPr id="296" name="Google Shape;296;p22"/>
          <p:cNvSpPr txBox="1"/>
          <p:nvPr/>
        </p:nvSpPr>
        <p:spPr>
          <a:xfrm>
            <a:off x="731520" y="625449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6C74"/>
                </a:solidFill>
                <a:latin typeface="Calibri"/>
                <a:ea typeface="Calibri"/>
                <a:cs typeface="Calibri"/>
                <a:sym typeface="Calibri"/>
              </a:rPr>
              <a:t>CAM5001C | Core Java | Unit 2</a:t>
            </a:r>
            <a:endParaRPr/>
          </a:p>
        </p:txBody>
      </p:sp>
      <p:sp>
        <p:nvSpPr>
          <p:cNvPr id="297" name="Google Shape;297;p22"/>
          <p:cNvSpPr txBox="1"/>
          <p:nvPr/>
        </p:nvSpPr>
        <p:spPr>
          <a:xfrm>
            <a:off x="713232" y="9144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8304B"/>
                </a:solidFill>
                <a:latin typeface="Calibri"/>
                <a:ea typeface="Calibri"/>
                <a:cs typeface="Calibri"/>
                <a:sym typeface="Calibri"/>
              </a:rPr>
              <a:t>java.lang Package</a:t>
            </a:r>
            <a:endParaRPr/>
          </a:p>
        </p:txBody>
      </p:sp>
      <p:sp>
        <p:nvSpPr>
          <p:cNvPr id="298" name="Google Shape;298;p22"/>
          <p:cNvSpPr txBox="1"/>
          <p:nvPr/>
        </p:nvSpPr>
        <p:spPr>
          <a:xfrm>
            <a:off x="822960" y="1783080"/>
            <a:ext cx="10515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Automatically available without an explicit import.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Contains fundamental classes such as Object, String, Math, System and wrapper classes.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Provides essential language-level functionality used in most Java programs.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OU LOGO.png" id="303" name="Google Shape;30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715" y="3"/>
            <a:ext cx="4251961" cy="764798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3"/>
          <p:cNvSpPr/>
          <p:nvPr/>
        </p:nvSpPr>
        <p:spPr>
          <a:xfrm>
            <a:off x="685800" y="6510528"/>
            <a:ext cx="10789920" cy="18288"/>
          </a:xfrm>
          <a:prstGeom prst="rect">
            <a:avLst/>
          </a:prstGeom>
          <a:solidFill>
            <a:srgbClr val="2E5C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3"/>
          <p:cNvSpPr/>
          <p:nvPr/>
        </p:nvSpPr>
        <p:spPr>
          <a:xfrm>
            <a:off x="164592" y="6181344"/>
            <a:ext cx="457200" cy="457200"/>
          </a:xfrm>
          <a:prstGeom prst="ellipse">
            <a:avLst/>
          </a:prstGeom>
          <a:solidFill>
            <a:srgbClr val="18304B"/>
          </a:solidFill>
          <a:ln cap="flat" cmpd="sng" w="9525">
            <a:solidFill>
              <a:srgbClr val="1830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/>
          </a:p>
        </p:txBody>
      </p:sp>
      <p:sp>
        <p:nvSpPr>
          <p:cNvPr id="306" name="Google Shape;306;p23"/>
          <p:cNvSpPr txBox="1"/>
          <p:nvPr/>
        </p:nvSpPr>
        <p:spPr>
          <a:xfrm>
            <a:off x="731520" y="625449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6C74"/>
                </a:solidFill>
                <a:latin typeface="Calibri"/>
                <a:ea typeface="Calibri"/>
                <a:cs typeface="Calibri"/>
                <a:sym typeface="Calibri"/>
              </a:rPr>
              <a:t>CAM5001C | Core Java | Unit 2</a:t>
            </a:r>
            <a:endParaRPr/>
          </a:p>
        </p:txBody>
      </p:sp>
      <p:sp>
        <p:nvSpPr>
          <p:cNvPr id="307" name="Google Shape;307;p23"/>
          <p:cNvSpPr txBox="1"/>
          <p:nvPr/>
        </p:nvSpPr>
        <p:spPr>
          <a:xfrm>
            <a:off x="713232" y="9144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8304B"/>
                </a:solidFill>
                <a:latin typeface="Calibri"/>
                <a:ea typeface="Calibri"/>
                <a:cs typeface="Calibri"/>
                <a:sym typeface="Calibri"/>
              </a:rPr>
              <a:t>String Class</a:t>
            </a:r>
            <a:endParaRPr/>
          </a:p>
        </p:txBody>
      </p:sp>
      <p:sp>
        <p:nvSpPr>
          <p:cNvPr id="308" name="Google Shape;308;p23"/>
          <p:cNvSpPr txBox="1"/>
          <p:nvPr/>
        </p:nvSpPr>
        <p:spPr>
          <a:xfrm>
            <a:off x="822960" y="1783080"/>
            <a:ext cx="10515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String represents an immutable sequence of characters.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String literals are commonly created using double quotes.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Because String is immutable, operations that appear to modify it produce a new result.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Common methods: length(), charAt(), substring(), equals(), contains(), replace(), trim().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OU LOGO.png" id="313" name="Google Shape;31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9065" y="3"/>
            <a:ext cx="4251961" cy="764798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4"/>
          <p:cNvSpPr/>
          <p:nvPr/>
        </p:nvSpPr>
        <p:spPr>
          <a:xfrm>
            <a:off x="685800" y="6510528"/>
            <a:ext cx="10789920" cy="18288"/>
          </a:xfrm>
          <a:prstGeom prst="rect">
            <a:avLst/>
          </a:prstGeom>
          <a:solidFill>
            <a:srgbClr val="2E5C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4"/>
          <p:cNvSpPr/>
          <p:nvPr/>
        </p:nvSpPr>
        <p:spPr>
          <a:xfrm>
            <a:off x="164592" y="6181344"/>
            <a:ext cx="457200" cy="457200"/>
          </a:xfrm>
          <a:prstGeom prst="ellipse">
            <a:avLst/>
          </a:prstGeom>
          <a:solidFill>
            <a:srgbClr val="18304B"/>
          </a:solidFill>
          <a:ln cap="flat" cmpd="sng" w="9525">
            <a:solidFill>
              <a:srgbClr val="1830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/>
          </a:p>
        </p:txBody>
      </p:sp>
      <p:sp>
        <p:nvSpPr>
          <p:cNvPr id="316" name="Google Shape;316;p24"/>
          <p:cNvSpPr txBox="1"/>
          <p:nvPr/>
        </p:nvSpPr>
        <p:spPr>
          <a:xfrm>
            <a:off x="731520" y="625449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6C74"/>
                </a:solidFill>
                <a:latin typeface="Calibri"/>
                <a:ea typeface="Calibri"/>
                <a:cs typeface="Calibri"/>
                <a:sym typeface="Calibri"/>
              </a:rPr>
              <a:t>CAM5001C | Core Java | Unit 2</a:t>
            </a:r>
            <a:endParaRPr/>
          </a:p>
        </p:txBody>
      </p:sp>
      <p:sp>
        <p:nvSpPr>
          <p:cNvPr id="317" name="Google Shape;317;p24"/>
          <p:cNvSpPr txBox="1"/>
          <p:nvPr/>
        </p:nvSpPr>
        <p:spPr>
          <a:xfrm>
            <a:off x="713232" y="9144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8304B"/>
                </a:solidFill>
                <a:latin typeface="Calibri"/>
                <a:ea typeface="Calibri"/>
                <a:cs typeface="Calibri"/>
                <a:sym typeface="Calibri"/>
              </a:rPr>
              <a:t>String – Example Program</a:t>
            </a:r>
            <a:endParaRPr/>
          </a:p>
        </p:txBody>
      </p:sp>
      <p:sp>
        <p:nvSpPr>
          <p:cNvPr id="318" name="Google Shape;318;p24"/>
          <p:cNvSpPr/>
          <p:nvPr/>
        </p:nvSpPr>
        <p:spPr>
          <a:xfrm>
            <a:off x="868680" y="1874519"/>
            <a:ext cx="10287000" cy="361188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CDD7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class StringDemo {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public static void main(String[] args) {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    String s = "Java Programming";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System.out.println(s.length());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System.out.println(s.substring(5));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System.out.println(s.toUpperCase());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System.out.println(s.contains("Java"));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OU LOGO.png" id="323" name="Google Shape;32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715" y="3"/>
            <a:ext cx="4251961" cy="764798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5"/>
          <p:cNvSpPr/>
          <p:nvPr/>
        </p:nvSpPr>
        <p:spPr>
          <a:xfrm>
            <a:off x="685800" y="6510528"/>
            <a:ext cx="10789920" cy="18288"/>
          </a:xfrm>
          <a:prstGeom prst="rect">
            <a:avLst/>
          </a:prstGeom>
          <a:solidFill>
            <a:srgbClr val="2E5C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5"/>
          <p:cNvSpPr/>
          <p:nvPr/>
        </p:nvSpPr>
        <p:spPr>
          <a:xfrm>
            <a:off x="164592" y="6181344"/>
            <a:ext cx="457200" cy="457200"/>
          </a:xfrm>
          <a:prstGeom prst="ellipse">
            <a:avLst/>
          </a:prstGeom>
          <a:solidFill>
            <a:srgbClr val="18304B"/>
          </a:solidFill>
          <a:ln cap="flat" cmpd="sng" w="9525">
            <a:solidFill>
              <a:srgbClr val="1830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/>
          </a:p>
        </p:txBody>
      </p:sp>
      <p:sp>
        <p:nvSpPr>
          <p:cNvPr id="326" name="Google Shape;326;p25"/>
          <p:cNvSpPr txBox="1"/>
          <p:nvPr/>
        </p:nvSpPr>
        <p:spPr>
          <a:xfrm>
            <a:off x="731520" y="625449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6C74"/>
                </a:solidFill>
                <a:latin typeface="Calibri"/>
                <a:ea typeface="Calibri"/>
                <a:cs typeface="Calibri"/>
                <a:sym typeface="Calibri"/>
              </a:rPr>
              <a:t>CAM5001C | Core Java | Unit 2</a:t>
            </a:r>
            <a:endParaRPr/>
          </a:p>
        </p:txBody>
      </p:sp>
      <p:sp>
        <p:nvSpPr>
          <p:cNvPr id="327" name="Google Shape;327;p25"/>
          <p:cNvSpPr txBox="1"/>
          <p:nvPr/>
        </p:nvSpPr>
        <p:spPr>
          <a:xfrm>
            <a:off x="713232" y="9144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8304B"/>
                </a:solidFill>
                <a:latin typeface="Calibri"/>
                <a:ea typeface="Calibri"/>
                <a:cs typeface="Calibri"/>
                <a:sym typeface="Calibri"/>
              </a:rPr>
              <a:t>String Comparison</a:t>
            </a:r>
            <a:endParaRPr/>
          </a:p>
        </p:txBody>
      </p:sp>
      <p:sp>
        <p:nvSpPr>
          <p:cNvPr id="328" name="Google Shape;328;p25"/>
          <p:cNvSpPr txBox="1"/>
          <p:nvPr/>
        </p:nvSpPr>
        <p:spPr>
          <a:xfrm>
            <a:off x="822960" y="1783080"/>
            <a:ext cx="10515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equals() compares String content.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equalsIgnoreCase() compares content while ignoring letter case.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compareTo() performs lexicographic comparison.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== compares object references for reference types, so it should not be used as a substitute for String content comparison.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OU LOGO.png" id="333" name="Google Shape;33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715" y="3"/>
            <a:ext cx="4251961" cy="764798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6"/>
          <p:cNvSpPr/>
          <p:nvPr/>
        </p:nvSpPr>
        <p:spPr>
          <a:xfrm>
            <a:off x="685800" y="6510528"/>
            <a:ext cx="10789920" cy="18288"/>
          </a:xfrm>
          <a:prstGeom prst="rect">
            <a:avLst/>
          </a:prstGeom>
          <a:solidFill>
            <a:srgbClr val="2E5C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6"/>
          <p:cNvSpPr/>
          <p:nvPr/>
        </p:nvSpPr>
        <p:spPr>
          <a:xfrm>
            <a:off x="164592" y="6181344"/>
            <a:ext cx="457200" cy="457200"/>
          </a:xfrm>
          <a:prstGeom prst="ellipse">
            <a:avLst/>
          </a:prstGeom>
          <a:solidFill>
            <a:srgbClr val="18304B"/>
          </a:solidFill>
          <a:ln cap="flat" cmpd="sng" w="9525">
            <a:solidFill>
              <a:srgbClr val="1830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/>
          </a:p>
        </p:txBody>
      </p:sp>
      <p:sp>
        <p:nvSpPr>
          <p:cNvPr id="336" name="Google Shape;336;p26"/>
          <p:cNvSpPr txBox="1"/>
          <p:nvPr/>
        </p:nvSpPr>
        <p:spPr>
          <a:xfrm>
            <a:off x="731520" y="625449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6C74"/>
                </a:solidFill>
                <a:latin typeface="Calibri"/>
                <a:ea typeface="Calibri"/>
                <a:cs typeface="Calibri"/>
                <a:sym typeface="Calibri"/>
              </a:rPr>
              <a:t>CAM5001C | Core Java | Unit 2</a:t>
            </a:r>
            <a:endParaRPr/>
          </a:p>
        </p:txBody>
      </p:sp>
      <p:sp>
        <p:nvSpPr>
          <p:cNvPr id="337" name="Google Shape;337;p26"/>
          <p:cNvSpPr txBox="1"/>
          <p:nvPr/>
        </p:nvSpPr>
        <p:spPr>
          <a:xfrm>
            <a:off x="713232" y="9144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8304B"/>
                </a:solidFill>
                <a:latin typeface="Calibri"/>
                <a:ea typeface="Calibri"/>
                <a:cs typeface="Calibri"/>
                <a:sym typeface="Calibri"/>
              </a:rPr>
              <a:t>StringBuffer Class</a:t>
            </a:r>
            <a:endParaRPr/>
          </a:p>
        </p:txBody>
      </p:sp>
      <p:sp>
        <p:nvSpPr>
          <p:cNvPr id="338" name="Google Shape;338;p26"/>
          <p:cNvSpPr txBox="1"/>
          <p:nvPr/>
        </p:nvSpPr>
        <p:spPr>
          <a:xfrm>
            <a:off x="822960" y="1783080"/>
            <a:ext cx="10515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StringBuffer represents a mutable sequence of characters.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It is synchronized, unlike StringBuilder, and is useful when mutable synchronized text operations are required.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Common methods: append(), insert(), replace(), delete(), reverse() and capacity().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OU LOGO.png" id="343" name="Google Shape;34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9065" y="3"/>
            <a:ext cx="4251961" cy="764798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7"/>
          <p:cNvSpPr/>
          <p:nvPr/>
        </p:nvSpPr>
        <p:spPr>
          <a:xfrm>
            <a:off x="685800" y="6510528"/>
            <a:ext cx="10789920" cy="18288"/>
          </a:xfrm>
          <a:prstGeom prst="rect">
            <a:avLst/>
          </a:prstGeom>
          <a:solidFill>
            <a:srgbClr val="2E5C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7"/>
          <p:cNvSpPr/>
          <p:nvPr/>
        </p:nvSpPr>
        <p:spPr>
          <a:xfrm>
            <a:off x="164592" y="6181344"/>
            <a:ext cx="457200" cy="457200"/>
          </a:xfrm>
          <a:prstGeom prst="ellipse">
            <a:avLst/>
          </a:prstGeom>
          <a:solidFill>
            <a:srgbClr val="18304B"/>
          </a:solidFill>
          <a:ln cap="flat" cmpd="sng" w="9525">
            <a:solidFill>
              <a:srgbClr val="1830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/>
          </a:p>
        </p:txBody>
      </p:sp>
      <p:sp>
        <p:nvSpPr>
          <p:cNvPr id="346" name="Google Shape;346;p27"/>
          <p:cNvSpPr txBox="1"/>
          <p:nvPr/>
        </p:nvSpPr>
        <p:spPr>
          <a:xfrm>
            <a:off x="731520" y="625449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6C74"/>
                </a:solidFill>
                <a:latin typeface="Calibri"/>
                <a:ea typeface="Calibri"/>
                <a:cs typeface="Calibri"/>
                <a:sym typeface="Calibri"/>
              </a:rPr>
              <a:t>CAM5001C | Core Java | Unit 2</a:t>
            </a:r>
            <a:endParaRPr/>
          </a:p>
        </p:txBody>
      </p:sp>
      <p:sp>
        <p:nvSpPr>
          <p:cNvPr id="347" name="Google Shape;347;p27"/>
          <p:cNvSpPr txBox="1"/>
          <p:nvPr/>
        </p:nvSpPr>
        <p:spPr>
          <a:xfrm>
            <a:off x="713232" y="9144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8304B"/>
                </a:solidFill>
                <a:latin typeface="Calibri"/>
                <a:ea typeface="Calibri"/>
                <a:cs typeface="Calibri"/>
                <a:sym typeface="Calibri"/>
              </a:rPr>
              <a:t>StringBuffer – Example</a:t>
            </a:r>
            <a:endParaRPr/>
          </a:p>
        </p:txBody>
      </p:sp>
      <p:sp>
        <p:nvSpPr>
          <p:cNvPr id="348" name="Google Shape;348;p27"/>
          <p:cNvSpPr/>
          <p:nvPr/>
        </p:nvSpPr>
        <p:spPr>
          <a:xfrm>
            <a:off x="868680" y="1874519"/>
            <a:ext cx="10287000" cy="361188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CDD7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class BufferDemo {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public static void main(String[] args) {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    StringBuffer sb = new StringBuffer("Java");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    sb.append(" Programming");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System.out.println(sb);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System.out.println(sb.reverse());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OU LOGO.png" id="353" name="Google Shape;35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715" y="3"/>
            <a:ext cx="4251961" cy="764798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8"/>
          <p:cNvSpPr/>
          <p:nvPr/>
        </p:nvSpPr>
        <p:spPr>
          <a:xfrm>
            <a:off x="685800" y="6510528"/>
            <a:ext cx="10789920" cy="18288"/>
          </a:xfrm>
          <a:prstGeom prst="rect">
            <a:avLst/>
          </a:prstGeom>
          <a:solidFill>
            <a:srgbClr val="2E5C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8"/>
          <p:cNvSpPr/>
          <p:nvPr/>
        </p:nvSpPr>
        <p:spPr>
          <a:xfrm>
            <a:off x="164592" y="6181344"/>
            <a:ext cx="457200" cy="457200"/>
          </a:xfrm>
          <a:prstGeom prst="ellipse">
            <a:avLst/>
          </a:prstGeom>
          <a:solidFill>
            <a:srgbClr val="18304B"/>
          </a:solidFill>
          <a:ln cap="flat" cmpd="sng" w="9525">
            <a:solidFill>
              <a:srgbClr val="1830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/>
          </a:p>
        </p:txBody>
      </p:sp>
      <p:sp>
        <p:nvSpPr>
          <p:cNvPr id="356" name="Google Shape;356;p28"/>
          <p:cNvSpPr txBox="1"/>
          <p:nvPr/>
        </p:nvSpPr>
        <p:spPr>
          <a:xfrm>
            <a:off x="731520" y="625449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6C74"/>
                </a:solidFill>
                <a:latin typeface="Calibri"/>
                <a:ea typeface="Calibri"/>
                <a:cs typeface="Calibri"/>
                <a:sym typeface="Calibri"/>
              </a:rPr>
              <a:t>CAM5001C | Core Java | Unit 2</a:t>
            </a:r>
            <a:endParaRPr/>
          </a:p>
        </p:txBody>
      </p:sp>
      <p:sp>
        <p:nvSpPr>
          <p:cNvPr id="357" name="Google Shape;357;p28"/>
          <p:cNvSpPr txBox="1"/>
          <p:nvPr/>
        </p:nvSpPr>
        <p:spPr>
          <a:xfrm>
            <a:off x="713232" y="9144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8304B"/>
                </a:solidFill>
                <a:latin typeface="Calibri"/>
                <a:ea typeface="Calibri"/>
                <a:cs typeface="Calibri"/>
                <a:sym typeface="Calibri"/>
              </a:rPr>
              <a:t>Wrapper Classes</a:t>
            </a:r>
            <a:endParaRPr/>
          </a:p>
        </p:txBody>
      </p:sp>
      <p:sp>
        <p:nvSpPr>
          <p:cNvPr id="358" name="Google Shape;358;p28"/>
          <p:cNvSpPr txBox="1"/>
          <p:nvPr/>
        </p:nvSpPr>
        <p:spPr>
          <a:xfrm>
            <a:off x="822960" y="1783080"/>
            <a:ext cx="10515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Wrapper classes represent primitive values as objects.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byte→Byte, short→Short, int→Integer, long→Long.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float→Float, double→Double, char→Character, boolean→Boolean.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Autoboxing converts primitive to wrapper automatically.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Unboxing converts wrapper to primitive automatically.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OU LOGO.png" id="363" name="Google Shape;36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715" y="3"/>
            <a:ext cx="4251961" cy="764798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29"/>
          <p:cNvSpPr/>
          <p:nvPr/>
        </p:nvSpPr>
        <p:spPr>
          <a:xfrm>
            <a:off x="685800" y="6510528"/>
            <a:ext cx="10789920" cy="18288"/>
          </a:xfrm>
          <a:prstGeom prst="rect">
            <a:avLst/>
          </a:prstGeom>
          <a:solidFill>
            <a:srgbClr val="2E5C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9"/>
          <p:cNvSpPr/>
          <p:nvPr/>
        </p:nvSpPr>
        <p:spPr>
          <a:xfrm>
            <a:off x="164592" y="6181344"/>
            <a:ext cx="457200" cy="457200"/>
          </a:xfrm>
          <a:prstGeom prst="ellipse">
            <a:avLst/>
          </a:prstGeom>
          <a:solidFill>
            <a:srgbClr val="18304B"/>
          </a:solidFill>
          <a:ln cap="flat" cmpd="sng" w="9525">
            <a:solidFill>
              <a:srgbClr val="1830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endParaRPr/>
          </a:p>
        </p:txBody>
      </p:sp>
      <p:sp>
        <p:nvSpPr>
          <p:cNvPr id="366" name="Google Shape;366;p29"/>
          <p:cNvSpPr txBox="1"/>
          <p:nvPr/>
        </p:nvSpPr>
        <p:spPr>
          <a:xfrm>
            <a:off x="731520" y="625449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6C74"/>
                </a:solidFill>
                <a:latin typeface="Calibri"/>
                <a:ea typeface="Calibri"/>
                <a:cs typeface="Calibri"/>
                <a:sym typeface="Calibri"/>
              </a:rPr>
              <a:t>CAM5001C | Core Java | Unit 2</a:t>
            </a:r>
            <a:endParaRPr/>
          </a:p>
        </p:txBody>
      </p:sp>
      <p:sp>
        <p:nvSpPr>
          <p:cNvPr id="367" name="Google Shape;367;p29"/>
          <p:cNvSpPr txBox="1"/>
          <p:nvPr/>
        </p:nvSpPr>
        <p:spPr>
          <a:xfrm>
            <a:off x="713232" y="9144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8304B"/>
                </a:solidFill>
                <a:latin typeface="Calibri"/>
                <a:ea typeface="Calibri"/>
                <a:cs typeface="Calibri"/>
                <a:sym typeface="Calibri"/>
              </a:rPr>
              <a:t>Wrapper Class – Example</a:t>
            </a:r>
            <a:endParaRPr/>
          </a:p>
        </p:txBody>
      </p:sp>
      <p:sp>
        <p:nvSpPr>
          <p:cNvPr id="368" name="Google Shape;368;p29"/>
          <p:cNvSpPr/>
          <p:nvPr/>
        </p:nvSpPr>
        <p:spPr>
          <a:xfrm>
            <a:off x="868680" y="1874519"/>
            <a:ext cx="10287000" cy="361188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CDD7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class WrapperDemo {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public static void main(String[] args) {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    Integer n = 100;       // autoboxing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    int x = n;             // unboxing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    String s = "250";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    int value = Integer.parseInt(s);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System.out.println(x + value);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OU LOGO.png" id="373" name="Google Shape;37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109728"/>
            <a:ext cx="4251960" cy="764798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0"/>
          <p:cNvSpPr/>
          <p:nvPr/>
        </p:nvSpPr>
        <p:spPr>
          <a:xfrm>
            <a:off x="685800" y="6510528"/>
            <a:ext cx="10789920" cy="18288"/>
          </a:xfrm>
          <a:prstGeom prst="rect">
            <a:avLst/>
          </a:prstGeom>
          <a:solidFill>
            <a:srgbClr val="2E5C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0"/>
          <p:cNvSpPr/>
          <p:nvPr/>
        </p:nvSpPr>
        <p:spPr>
          <a:xfrm>
            <a:off x="164592" y="6181344"/>
            <a:ext cx="457200" cy="457200"/>
          </a:xfrm>
          <a:prstGeom prst="ellipse">
            <a:avLst/>
          </a:prstGeom>
          <a:solidFill>
            <a:srgbClr val="18304B"/>
          </a:solidFill>
          <a:ln cap="flat" cmpd="sng" w="9525">
            <a:solidFill>
              <a:srgbClr val="1830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</p:txBody>
      </p:sp>
      <p:sp>
        <p:nvSpPr>
          <p:cNvPr id="376" name="Google Shape;376;p30"/>
          <p:cNvSpPr txBox="1"/>
          <p:nvPr/>
        </p:nvSpPr>
        <p:spPr>
          <a:xfrm>
            <a:off x="731520" y="625449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6C74"/>
                </a:solidFill>
                <a:latin typeface="Calibri"/>
                <a:ea typeface="Calibri"/>
                <a:cs typeface="Calibri"/>
                <a:sym typeface="Calibri"/>
              </a:rPr>
              <a:t>CAM5001C | Core Java | Unit 2</a:t>
            </a:r>
            <a:endParaRPr/>
          </a:p>
        </p:txBody>
      </p:sp>
      <p:sp>
        <p:nvSpPr>
          <p:cNvPr id="377" name="Google Shape;377;p30"/>
          <p:cNvSpPr txBox="1"/>
          <p:nvPr/>
        </p:nvSpPr>
        <p:spPr>
          <a:xfrm>
            <a:off x="713232" y="9144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8304B"/>
                </a:solidFill>
                <a:latin typeface="Calibri"/>
                <a:ea typeface="Calibri"/>
                <a:cs typeface="Calibri"/>
                <a:sym typeface="Calibri"/>
              </a:rPr>
              <a:t>Math Class</a:t>
            </a:r>
            <a:endParaRPr/>
          </a:p>
        </p:txBody>
      </p:sp>
      <p:sp>
        <p:nvSpPr>
          <p:cNvPr id="378" name="Google Shape;378;p30"/>
          <p:cNvSpPr txBox="1"/>
          <p:nvPr/>
        </p:nvSpPr>
        <p:spPr>
          <a:xfrm>
            <a:off x="822960" y="1783080"/>
            <a:ext cx="10515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java.lang.Math provides static methods and constants for common mathematical operations.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Common methods: abs(), max(), min(), sqrt(), pow(), round(), ceil(), floor(), random().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Useful constants include Math.PI and Math.E.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No Math object is required to call its static methods.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OU LOGO.png" id="383" name="Google Shape;38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715" y="3"/>
            <a:ext cx="4251961" cy="764798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1"/>
          <p:cNvSpPr/>
          <p:nvPr/>
        </p:nvSpPr>
        <p:spPr>
          <a:xfrm>
            <a:off x="685800" y="6510528"/>
            <a:ext cx="10789920" cy="18288"/>
          </a:xfrm>
          <a:prstGeom prst="rect">
            <a:avLst/>
          </a:prstGeom>
          <a:solidFill>
            <a:srgbClr val="2E5C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1"/>
          <p:cNvSpPr/>
          <p:nvPr/>
        </p:nvSpPr>
        <p:spPr>
          <a:xfrm>
            <a:off x="164592" y="6181344"/>
            <a:ext cx="457200" cy="457200"/>
          </a:xfrm>
          <a:prstGeom prst="ellipse">
            <a:avLst/>
          </a:prstGeom>
          <a:solidFill>
            <a:srgbClr val="18304B"/>
          </a:solidFill>
          <a:ln cap="flat" cmpd="sng" w="9525">
            <a:solidFill>
              <a:srgbClr val="1830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/>
          </a:p>
        </p:txBody>
      </p:sp>
      <p:sp>
        <p:nvSpPr>
          <p:cNvPr id="386" name="Google Shape;386;p31"/>
          <p:cNvSpPr txBox="1"/>
          <p:nvPr/>
        </p:nvSpPr>
        <p:spPr>
          <a:xfrm>
            <a:off x="731520" y="625449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6C74"/>
                </a:solidFill>
                <a:latin typeface="Calibri"/>
                <a:ea typeface="Calibri"/>
                <a:cs typeface="Calibri"/>
                <a:sym typeface="Calibri"/>
              </a:rPr>
              <a:t>CAM5001C | Core Java | Unit 2</a:t>
            </a:r>
            <a:endParaRPr/>
          </a:p>
        </p:txBody>
      </p:sp>
      <p:sp>
        <p:nvSpPr>
          <p:cNvPr id="387" name="Google Shape;387;p31"/>
          <p:cNvSpPr txBox="1"/>
          <p:nvPr/>
        </p:nvSpPr>
        <p:spPr>
          <a:xfrm>
            <a:off x="713232" y="9144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8304B"/>
                </a:solidFill>
                <a:latin typeface="Calibri"/>
                <a:ea typeface="Calibri"/>
                <a:cs typeface="Calibri"/>
                <a:sym typeface="Calibri"/>
              </a:rPr>
              <a:t>Math Class – Example</a:t>
            </a:r>
            <a:endParaRPr/>
          </a:p>
        </p:txBody>
      </p:sp>
      <p:sp>
        <p:nvSpPr>
          <p:cNvPr id="388" name="Google Shape;388;p31"/>
          <p:cNvSpPr/>
          <p:nvPr/>
        </p:nvSpPr>
        <p:spPr>
          <a:xfrm>
            <a:off x="868680" y="1874519"/>
            <a:ext cx="10287000" cy="361188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CDD7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class MathDemo {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public static void main(String[] args) {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System.out.println(Math.sqrt(81));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System.out.println(Math.max(10, 20));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System.out.println(Math.pow(2, 3));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System.out.println(Math.PI);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600">
                <a:solidFill>
                  <a:srgbClr val="23282D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OU LOGO.png" id="393" name="Google Shape;39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715" y="3"/>
            <a:ext cx="4251961" cy="764798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2"/>
          <p:cNvSpPr/>
          <p:nvPr/>
        </p:nvSpPr>
        <p:spPr>
          <a:xfrm>
            <a:off x="685800" y="6510528"/>
            <a:ext cx="10789920" cy="18288"/>
          </a:xfrm>
          <a:prstGeom prst="rect">
            <a:avLst/>
          </a:prstGeom>
          <a:solidFill>
            <a:srgbClr val="2E5C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2"/>
          <p:cNvSpPr/>
          <p:nvPr/>
        </p:nvSpPr>
        <p:spPr>
          <a:xfrm>
            <a:off x="164592" y="6181344"/>
            <a:ext cx="457200" cy="457200"/>
          </a:xfrm>
          <a:prstGeom prst="ellipse">
            <a:avLst/>
          </a:prstGeom>
          <a:solidFill>
            <a:srgbClr val="18304B"/>
          </a:solidFill>
          <a:ln cap="flat" cmpd="sng" w="9525">
            <a:solidFill>
              <a:srgbClr val="1830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/>
          </a:p>
        </p:txBody>
      </p:sp>
      <p:sp>
        <p:nvSpPr>
          <p:cNvPr id="396" name="Google Shape;396;p32"/>
          <p:cNvSpPr txBox="1"/>
          <p:nvPr/>
        </p:nvSpPr>
        <p:spPr>
          <a:xfrm>
            <a:off x="731520" y="625449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6C74"/>
                </a:solidFill>
                <a:latin typeface="Calibri"/>
                <a:ea typeface="Calibri"/>
                <a:cs typeface="Calibri"/>
                <a:sym typeface="Calibri"/>
              </a:rPr>
              <a:t>CAM5001C | Core Java | Unit 2</a:t>
            </a:r>
            <a:endParaRPr/>
          </a:p>
        </p:txBody>
      </p:sp>
      <p:sp>
        <p:nvSpPr>
          <p:cNvPr id="397" name="Google Shape;397;p32"/>
          <p:cNvSpPr txBox="1"/>
          <p:nvPr/>
        </p:nvSpPr>
        <p:spPr>
          <a:xfrm>
            <a:off x="713232" y="9144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8304B"/>
                </a:solidFill>
                <a:latin typeface="Calibri"/>
                <a:ea typeface="Calibri"/>
                <a:cs typeface="Calibri"/>
                <a:sym typeface="Calibri"/>
              </a:rPr>
              <a:t>Unit 2 – Quick Revision</a:t>
            </a:r>
            <a:endParaRPr/>
          </a:p>
        </p:txBody>
      </p:sp>
      <p:sp>
        <p:nvSpPr>
          <p:cNvPr id="398" name="Google Shape;398;p32"/>
          <p:cNvSpPr txBox="1"/>
          <p:nvPr/>
        </p:nvSpPr>
        <p:spPr>
          <a:xfrm>
            <a:off x="822960" y="1783080"/>
            <a:ext cx="10515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Inheritance promotes reuse using superclass-subclass relationships.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super accesses immediate superclass members and constructors.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Overloading supports compile-time polymorphism; overriding supports runtime polymorphism.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final restricts modification/inheritance; abstract classes and interfaces support abstraction.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Packages organize code and access specifiers control visibility.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String is immutable; StringBuffer is mutable and synchronized.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Wrapper classes bridge primitives and objects; Math provides utility operations.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OU LOGO.png" id="403" name="Google Shape;40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715" y="3"/>
            <a:ext cx="4251961" cy="764798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3"/>
          <p:cNvSpPr/>
          <p:nvPr/>
        </p:nvSpPr>
        <p:spPr>
          <a:xfrm>
            <a:off x="685800" y="6510528"/>
            <a:ext cx="10789920" cy="18288"/>
          </a:xfrm>
          <a:prstGeom prst="rect">
            <a:avLst/>
          </a:prstGeom>
          <a:solidFill>
            <a:srgbClr val="2E5C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3"/>
          <p:cNvSpPr/>
          <p:nvPr/>
        </p:nvSpPr>
        <p:spPr>
          <a:xfrm>
            <a:off x="164592" y="6181344"/>
            <a:ext cx="457200" cy="457200"/>
          </a:xfrm>
          <a:prstGeom prst="ellipse">
            <a:avLst/>
          </a:prstGeom>
          <a:solidFill>
            <a:srgbClr val="18304B"/>
          </a:solidFill>
          <a:ln cap="flat" cmpd="sng" w="9525">
            <a:solidFill>
              <a:srgbClr val="1830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/>
          </a:p>
        </p:txBody>
      </p:sp>
      <p:sp>
        <p:nvSpPr>
          <p:cNvPr id="406" name="Google Shape;406;p33"/>
          <p:cNvSpPr txBox="1"/>
          <p:nvPr/>
        </p:nvSpPr>
        <p:spPr>
          <a:xfrm>
            <a:off x="731520" y="625449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6C74"/>
                </a:solidFill>
                <a:latin typeface="Calibri"/>
                <a:ea typeface="Calibri"/>
                <a:cs typeface="Calibri"/>
                <a:sym typeface="Calibri"/>
              </a:rPr>
              <a:t>CAM5001C | Core Java | Unit 2</a:t>
            </a:r>
            <a:endParaRPr/>
          </a:p>
        </p:txBody>
      </p:sp>
      <p:sp>
        <p:nvSpPr>
          <p:cNvPr id="407" name="Google Shape;407;p33"/>
          <p:cNvSpPr txBox="1"/>
          <p:nvPr/>
        </p:nvSpPr>
        <p:spPr>
          <a:xfrm>
            <a:off x="713232" y="9144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8304B"/>
                </a:solidFill>
                <a:latin typeface="Calibri"/>
                <a:ea typeface="Calibri"/>
                <a:cs typeface="Calibri"/>
                <a:sym typeface="Calibri"/>
              </a:rPr>
              <a:t>Practice / Viva Questions</a:t>
            </a:r>
            <a:endParaRPr/>
          </a:p>
        </p:txBody>
      </p:sp>
      <p:sp>
        <p:nvSpPr>
          <p:cNvPr id="408" name="Google Shape;408;p33"/>
          <p:cNvSpPr txBox="1"/>
          <p:nvPr/>
        </p:nvSpPr>
        <p:spPr>
          <a:xfrm>
            <a:off x="822960" y="1783080"/>
            <a:ext cx="10515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Explain types of inheritance with diagrams.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Differentiate method overloading and method overriding.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Explain super and final keywords with examples.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Differentiate abstract class and interface.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Explain packages and access specifiers.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Why is String immutable? Differentiate String and StringBuffer.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What are wrapper classes, autoboxing and unboxing?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3282D"/>
                </a:solidFill>
                <a:latin typeface="Calibri"/>
                <a:ea typeface="Calibri"/>
                <a:cs typeface="Calibri"/>
                <a:sym typeface="Calibri"/>
              </a:rPr>
              <a:t>Explain any five methods of Math class.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OU LOGO.png" id="413" name="Google Shape;41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0240" y="594360"/>
            <a:ext cx="8321040" cy="1496702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34"/>
          <p:cNvSpPr txBox="1"/>
          <p:nvPr/>
        </p:nvSpPr>
        <p:spPr>
          <a:xfrm>
            <a:off x="1371600" y="2743200"/>
            <a:ext cx="94183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18304B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2E5C8A"/>
                </a:solidFill>
                <a:latin typeface="Calibri"/>
                <a:ea typeface="Calibri"/>
                <a:cs typeface="Calibri"/>
                <a:sym typeface="Calibri"/>
              </a:rPr>
              <a:t>Core Java • CAM5001C • Unit 2</a:t>
            </a:r>
            <a:endParaRPr/>
          </a:p>
        </p:txBody>
      </p:sp>
      <p:sp>
        <p:nvSpPr>
          <p:cNvPr id="415" name="Google Shape;415;p34"/>
          <p:cNvSpPr/>
          <p:nvPr/>
        </p:nvSpPr>
        <p:spPr>
          <a:xfrm>
            <a:off x="685800" y="6510528"/>
            <a:ext cx="10789920" cy="18288"/>
          </a:xfrm>
          <a:prstGeom prst="rect">
            <a:avLst/>
          </a:prstGeom>
          <a:solidFill>
            <a:srgbClr val="2E5C8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4"/>
          <p:cNvSpPr/>
          <p:nvPr/>
        </p:nvSpPr>
        <p:spPr>
          <a:xfrm>
            <a:off x="164592" y="6181344"/>
            <a:ext cx="457200" cy="457200"/>
          </a:xfrm>
          <a:prstGeom prst="ellipse">
            <a:avLst/>
          </a:prstGeom>
          <a:solidFill>
            <a:srgbClr val="18304B"/>
          </a:solidFill>
          <a:ln cap="flat" cmpd="sng" w="9525">
            <a:solidFill>
              <a:srgbClr val="1830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endParaRPr/>
          </a:p>
        </p:txBody>
      </p:sp>
      <p:sp>
        <p:nvSpPr>
          <p:cNvPr id="417" name="Google Shape;417;p34"/>
          <p:cNvSpPr txBox="1"/>
          <p:nvPr/>
        </p:nvSpPr>
        <p:spPr>
          <a:xfrm>
            <a:off x="731520" y="625449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6C74"/>
                </a:solidFill>
                <a:latin typeface="Calibri"/>
                <a:ea typeface="Calibri"/>
                <a:cs typeface="Calibri"/>
                <a:sym typeface="Calibri"/>
              </a:rPr>
              <a:t>CAM5001C | Core Java | Unit 2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